
<file path=[Content_Types].xml><?xml version="1.0" encoding="utf-8"?>
<Types xmlns="http://schemas.openxmlformats.org/package/2006/content-types">
  <Default Extension="glb" ContentType="model/gltf.binary"/>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26"/>
  </p:notesMasterIdLst>
  <p:sldIdLst>
    <p:sldId id="256" r:id="rId4"/>
    <p:sldId id="257" r:id="rId5"/>
    <p:sldId id="260" r:id="rId6"/>
    <p:sldId id="272" r:id="rId7"/>
    <p:sldId id="278" r:id="rId8"/>
    <p:sldId id="279" r:id="rId9"/>
    <p:sldId id="258" r:id="rId10"/>
    <p:sldId id="274" r:id="rId11"/>
    <p:sldId id="259" r:id="rId12"/>
    <p:sldId id="275" r:id="rId13"/>
    <p:sldId id="261" r:id="rId14"/>
    <p:sldId id="276" r:id="rId15"/>
    <p:sldId id="262" r:id="rId16"/>
    <p:sldId id="263" r:id="rId17"/>
    <p:sldId id="268" r:id="rId18"/>
    <p:sldId id="264" r:id="rId19"/>
    <p:sldId id="266" r:id="rId20"/>
    <p:sldId id="267" r:id="rId21"/>
    <p:sldId id="269" r:id="rId22"/>
    <p:sldId id="270" r:id="rId23"/>
    <p:sldId id="271" r:id="rId24"/>
    <p:sldId id="277" r:id="rId25"/>
  </p:sldIdLst>
  <p:sldSz cx="10080625" cy="5670550"/>
  <p:notesSz cx="7772400" cy="100584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80602"/>
    <a:srgbClr val="FFFFFF"/>
    <a:srgbClr val="C5C5F7"/>
    <a:srgbClr val="EDEDED"/>
    <a:srgbClr val="CACEF1"/>
    <a:srgbClr val="BEC8E4"/>
    <a:srgbClr val="CDBEF7"/>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616" autoAdjust="0"/>
    <p:restoredTop sz="69412" autoAdjust="0"/>
  </p:normalViewPr>
  <p:slideViewPr>
    <p:cSldViewPr snapToGrid="0">
      <p:cViewPr>
        <p:scale>
          <a:sx n="50" d="100"/>
          <a:sy n="50" d="100"/>
        </p:scale>
        <p:origin x="1882" y="3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2"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fr-FR" sz="4400" b="0" u="none" strike="noStrike">
                <a:solidFill>
                  <a:srgbClr val="000000"/>
                </a:solidFill>
                <a:effectLst/>
                <a:uFillTx/>
                <a:latin typeface="Arial"/>
              </a:rPr>
              <a:t>Cliquez pour déplacer la diapo</a:t>
            </a:r>
          </a:p>
        </p:txBody>
      </p:sp>
      <p:sp>
        <p:nvSpPr>
          <p:cNvPr id="14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fr-FR" sz="2000" b="0" u="none" strike="noStrike">
                <a:solidFill>
                  <a:srgbClr val="000000"/>
                </a:solidFill>
                <a:effectLst/>
                <a:uFillTx/>
                <a:latin typeface="Arial"/>
              </a:rPr>
              <a:t>Cliquez pour modifier le format des notes</a:t>
            </a:r>
          </a:p>
        </p:txBody>
      </p:sp>
      <p:sp>
        <p:nvSpPr>
          <p:cNvPr id="14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fr-FR" sz="1400" b="0" u="none" strike="noStrike">
                <a:solidFill>
                  <a:srgbClr val="000000"/>
                </a:solidFill>
                <a:effectLst/>
                <a:uFillTx/>
                <a:latin typeface="Times New Roman"/>
              </a:rPr>
              <a:t>&lt;en-tête&gt;</a:t>
            </a:r>
          </a:p>
        </p:txBody>
      </p:sp>
      <p:sp>
        <p:nvSpPr>
          <p:cNvPr id="145" name="PlaceHolder 4"/>
          <p:cNvSpPr>
            <a:spLocks noGrp="1"/>
          </p:cNvSpPr>
          <p:nvPr>
            <p:ph type="dt" idx="37"/>
          </p:nvPr>
        </p:nvSpPr>
        <p:spPr>
          <a:xfrm>
            <a:off x="4278960" y="0"/>
            <a:ext cx="3280680" cy="534240"/>
          </a:xfrm>
          <a:prstGeom prst="rect">
            <a:avLst/>
          </a:prstGeom>
          <a:noFill/>
          <a:ln w="0">
            <a:noFill/>
          </a:ln>
        </p:spPr>
        <p:txBody>
          <a:bodyPr lIns="0" tIns="0" rIns="0" bIns="0" anchor="t">
            <a:noAutofit/>
          </a:bodyPr>
          <a:lstStyle>
            <a:lvl1pPr indent="0" algn="r">
              <a:buNone/>
              <a:defRPr lang="fr-FR" sz="1400" b="0" u="none" strike="noStrike">
                <a:solidFill>
                  <a:srgbClr val="000000"/>
                </a:solidFill>
                <a:effectLst/>
                <a:uFillTx/>
                <a:latin typeface="Times New Roman"/>
              </a:defRPr>
            </a:lvl1pPr>
          </a:lstStyle>
          <a:p>
            <a:pPr indent="0" algn="r">
              <a:buNone/>
            </a:pPr>
            <a:r>
              <a:rPr lang="fr-FR" sz="1400" b="0" u="none" strike="noStrike">
                <a:solidFill>
                  <a:srgbClr val="000000"/>
                </a:solidFill>
                <a:effectLst/>
                <a:uFillTx/>
                <a:latin typeface="Times New Roman"/>
              </a:rPr>
              <a:t>&lt;date/heure&gt;</a:t>
            </a:r>
          </a:p>
        </p:txBody>
      </p:sp>
      <p:sp>
        <p:nvSpPr>
          <p:cNvPr id="146" name="PlaceHolder 5"/>
          <p:cNvSpPr>
            <a:spLocks noGrp="1"/>
          </p:cNvSpPr>
          <p:nvPr>
            <p:ph type="ftr" idx="38"/>
          </p:nvPr>
        </p:nvSpPr>
        <p:spPr>
          <a:xfrm>
            <a:off x="0" y="10157400"/>
            <a:ext cx="3280680" cy="534240"/>
          </a:xfrm>
          <a:prstGeom prst="rect">
            <a:avLst/>
          </a:prstGeom>
          <a:noFill/>
          <a:ln w="0">
            <a:noFill/>
          </a:ln>
        </p:spPr>
        <p:txBody>
          <a:bodyPr lIns="0" tIns="0" rIns="0" bIns="0" anchor="b">
            <a:noAutofit/>
          </a:bodyPr>
          <a:lstStyle>
            <a:lvl1pPr indent="0">
              <a:buNone/>
              <a:defRPr lang="fr-FR" sz="1400" b="0" u="none" strike="noStrike">
                <a:solidFill>
                  <a:srgbClr val="000000"/>
                </a:solidFill>
                <a:effectLst/>
                <a:uFillTx/>
                <a:latin typeface="Times New Roman"/>
              </a:defRPr>
            </a:lvl1pPr>
          </a:lstStyle>
          <a:p>
            <a:pPr indent="0">
              <a:buNone/>
            </a:pPr>
            <a:r>
              <a:rPr lang="fr-FR" sz="1400" b="0" u="none" strike="noStrike">
                <a:solidFill>
                  <a:srgbClr val="000000"/>
                </a:solidFill>
                <a:effectLst/>
                <a:uFillTx/>
                <a:latin typeface="Times New Roman"/>
              </a:rPr>
              <a:t>&lt;pied de page&gt;</a:t>
            </a:r>
          </a:p>
        </p:txBody>
      </p:sp>
      <p:sp>
        <p:nvSpPr>
          <p:cNvPr id="147" name="PlaceHolder 6"/>
          <p:cNvSpPr>
            <a:spLocks noGrp="1"/>
          </p:cNvSpPr>
          <p:nvPr>
            <p:ph type="sldNum" idx="39"/>
          </p:nvPr>
        </p:nvSpPr>
        <p:spPr>
          <a:xfrm>
            <a:off x="4278960" y="10157400"/>
            <a:ext cx="3280680" cy="534240"/>
          </a:xfrm>
          <a:prstGeom prst="rect">
            <a:avLst/>
          </a:prstGeom>
          <a:noFill/>
          <a:ln w="0">
            <a:noFill/>
          </a:ln>
        </p:spPr>
        <p:txBody>
          <a:bodyPr lIns="0" tIns="0" rIns="0" bIns="0" anchor="b">
            <a:noAutofit/>
          </a:bodyPr>
          <a:lstStyle>
            <a:lvl1pPr indent="0" algn="r">
              <a:buNone/>
              <a:defRPr lang="fr-FR" sz="1400" b="0" u="none" strike="noStrike">
                <a:solidFill>
                  <a:srgbClr val="000000"/>
                </a:solidFill>
                <a:effectLst/>
                <a:uFillTx/>
                <a:latin typeface="Times New Roman"/>
              </a:defRPr>
            </a:lvl1pPr>
          </a:lstStyle>
          <a:p>
            <a:pPr indent="0" algn="r">
              <a:buNone/>
            </a:pPr>
            <a:fld id="{421586AF-A55E-4B40-A4AC-A404F770EE93}" type="slidenum">
              <a:rPr lang="fr-FR" sz="1400" b="0" u="none" strike="noStrike">
                <a:solidFill>
                  <a:srgbClr val="000000"/>
                </a:solidFill>
                <a:effectLst/>
                <a:uFillTx/>
                <a:latin typeface="Times New Roman"/>
              </a:rPr>
              <a:t>‹N°›</a:t>
            </a:fld>
            <a:endParaRPr lang="fr-F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PlaceHolder 1"/>
          <p:cNvSpPr>
            <a:spLocks noGrp="1"/>
          </p:cNvSpPr>
          <p:nvPr>
            <p:ph type="body"/>
          </p:nvPr>
        </p:nvSpPr>
        <p:spPr>
          <a:xfrm>
            <a:off x="777600" y="4839840"/>
            <a:ext cx="6211440" cy="3954240"/>
          </a:xfrm>
          <a:prstGeom prst="rect">
            <a:avLst/>
          </a:prstGeom>
          <a:noFill/>
          <a:ln w="0">
            <a:noFill/>
          </a:ln>
        </p:spPr>
        <p:txBody>
          <a:bodyPr lIns="0" tIns="0" rIns="0" bIns="0" anchor="ctr">
            <a:noAutofit/>
          </a:bodyPr>
          <a:lstStyle/>
          <a:p>
            <a:pPr indent="0">
              <a:buNone/>
            </a:pPr>
            <a:r>
              <a:rPr lang="fr-FR" sz="1800" b="0" u="none" strike="noStrike" dirty="0">
                <a:solidFill>
                  <a:srgbClr val="000000"/>
                </a:solidFill>
                <a:effectLst/>
                <a:uFillTx/>
                <a:latin typeface="Arial"/>
              </a:rPr>
              <a:t>Bonjour…</a:t>
            </a:r>
          </a:p>
          <a:p>
            <a:pPr indent="0">
              <a:buNone/>
            </a:pPr>
            <a:r>
              <a:rPr lang="fr-FR" sz="1800" b="0" u="none" strike="noStrike" dirty="0">
                <a:solidFill>
                  <a:srgbClr val="000000"/>
                </a:solidFill>
                <a:effectLst/>
                <a:uFillTx/>
                <a:latin typeface="Arial"/>
              </a:rPr>
              <a:t>Je vais vous présenter le projet Quark, un orchestrateur d’opérations et de </a:t>
            </a:r>
            <a:r>
              <a:rPr lang="fr-FR" sz="1800" b="0" u="none" strike="noStrike" dirty="0" err="1">
                <a:solidFill>
                  <a:srgbClr val="000000"/>
                </a:solidFill>
                <a:effectLst/>
                <a:uFillTx/>
                <a:latin typeface="Arial"/>
              </a:rPr>
              <a:t>piplines</a:t>
            </a:r>
            <a:r>
              <a:rPr lang="fr-FR" sz="1800" b="0" u="none" strike="noStrike" dirty="0">
                <a:solidFill>
                  <a:srgbClr val="000000"/>
                </a:solidFill>
                <a:effectLst/>
                <a:uFillTx/>
                <a:latin typeface="Arial"/>
              </a:rPr>
              <a:t> bio-informatiques</a:t>
            </a:r>
          </a:p>
        </p:txBody>
      </p:sp>
      <p:sp>
        <p:nvSpPr>
          <p:cNvPr id="163" name="Rectangle 162"/>
          <p:cNvSpPr/>
          <p:nvPr/>
        </p:nvSpPr>
        <p:spPr>
          <a:xfrm>
            <a:off x="4402080" y="9553680"/>
            <a:ext cx="3362040" cy="49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b">
            <a:noAutofit/>
          </a:bodyPr>
          <a:lstStyle/>
          <a:p>
            <a:pPr algn="r">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fld id="{32AAC7C9-35C2-47E9-A503-E03F8A377E3E}" type="slidenum">
              <a:rPr lang="fr-FR" sz="1200" b="0" u="none" strike="noStrike">
                <a:solidFill>
                  <a:srgbClr val="000000"/>
                </a:solidFill>
                <a:effectLst/>
                <a:uFillTx/>
                <a:latin typeface="+mn-lt"/>
                <a:ea typeface="+mn-ea"/>
              </a:rPr>
              <a:t>1</a:t>
            </a:fld>
            <a:endParaRPr lang="fr-FR" sz="1200" b="0" u="none" strike="noStrike">
              <a:solidFill>
                <a:srgbClr val="000000"/>
              </a:solidFill>
              <a:effectLst/>
              <a:uFillTx/>
              <a:latin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r>
              <a:rPr lang="fr-FR" dirty="0"/>
              <a:t>Architecture actuelle de nos outils informatiques</a:t>
            </a:r>
          </a:p>
          <a:p>
            <a:r>
              <a:rPr lang="fr-FR" dirty="0"/>
              <a:t>La solution que nous proposerons pour palier aux problèmes actuelles</a:t>
            </a:r>
          </a:p>
          <a:p>
            <a:r>
              <a:rPr lang="fr-FR" dirty="0"/>
              <a:t>Un exemple de comment va fonctionner la solution</a:t>
            </a:r>
          </a:p>
          <a:p>
            <a:r>
              <a:rPr lang="fr-FR" dirty="0"/>
              <a:t>Les fonctionnalités actuelles de la solution</a:t>
            </a:r>
          </a:p>
          <a:p>
            <a:r>
              <a:rPr lang="fr-FR" dirty="0"/>
              <a:t>Et comment nous comptons évoluer plus tard </a:t>
            </a:r>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2</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624221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r>
              <a:rPr lang="fr-FR" dirty="0"/>
              <a:t>Situation Actuelle</a:t>
            </a:r>
          </a:p>
          <a:p>
            <a:endParaRPr lang="fr-FR" b="1" dirty="0"/>
          </a:p>
          <a:p>
            <a:r>
              <a:rPr lang="fr-FR" b="1" dirty="0" err="1"/>
              <a:t>Autolauncher</a:t>
            </a:r>
            <a:r>
              <a:rPr lang="fr-FR" b="1" dirty="0"/>
              <a:t> existant</a:t>
            </a:r>
            <a:r>
              <a:rPr lang="fr-FR" dirty="0"/>
              <a:t> fonctionnel mais non optimisé ?</a:t>
            </a:r>
          </a:p>
          <a:p>
            <a:r>
              <a:rPr lang="fr-FR" b="1" dirty="0"/>
              <a:t>Interface en ligne de commande</a:t>
            </a:r>
            <a:r>
              <a:rPr lang="fr-FR" dirty="0"/>
              <a:t> uniquement (terminal/</a:t>
            </a:r>
            <a:r>
              <a:rPr lang="fr-FR" dirty="0" err="1"/>
              <a:t>bash</a:t>
            </a:r>
            <a:r>
              <a:rPr lang="fr-FR" dirty="0"/>
              <a:t>)</a:t>
            </a:r>
          </a:p>
          <a:p>
            <a:r>
              <a:rPr lang="fr-FR" b="1" dirty="0"/>
              <a:t>Gestion manuelle</a:t>
            </a:r>
            <a:r>
              <a:rPr lang="fr-FR" dirty="0"/>
              <a:t> des pipelines </a:t>
            </a:r>
            <a:r>
              <a:rPr lang="fr-FR" dirty="0" err="1"/>
              <a:t>bioinformatiques</a:t>
            </a:r>
            <a:endParaRPr lang="fr-FR" dirty="0"/>
          </a:p>
          <a:p>
            <a:r>
              <a:rPr lang="fr-FR" b="1" dirty="0"/>
              <a:t>Manque de visibilité</a:t>
            </a:r>
            <a:r>
              <a:rPr lang="fr-FR" dirty="0"/>
              <a:t> sur l'état des analyses en cours</a:t>
            </a:r>
          </a:p>
          <a:p>
            <a:r>
              <a:rPr lang="fr-FR" b="1" dirty="0"/>
              <a:t>Difficultés de monitoring</a:t>
            </a:r>
            <a:r>
              <a:rPr lang="fr-FR" dirty="0"/>
              <a:t> et de débogage</a:t>
            </a:r>
          </a:p>
          <a:p>
            <a:endParaRPr lang="fr-FR" dirty="0"/>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3</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3303180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r>
              <a:rPr lang="fr-FR" b="1" dirty="0"/>
              <a:t>Limitations Identifiées</a:t>
            </a:r>
          </a:p>
          <a:p>
            <a:r>
              <a:rPr lang="fr-FR" dirty="0"/>
              <a:t>❌ Pas de vue d'ensemble temps réel</a:t>
            </a:r>
          </a:p>
          <a:p>
            <a:r>
              <a:rPr lang="fr-FR" dirty="0"/>
              <a:t>❌ Commandes </a:t>
            </a:r>
            <a:r>
              <a:rPr lang="fr-FR" dirty="0" err="1"/>
              <a:t>bash</a:t>
            </a:r>
            <a:r>
              <a:rPr lang="fr-FR" dirty="0"/>
              <a:t> répétitives pour obtenir des informations</a:t>
            </a:r>
          </a:p>
          <a:p>
            <a:r>
              <a:rPr lang="fr-FR" dirty="0"/>
              <a:t>❌ Gestion des erreurs complexe</a:t>
            </a:r>
          </a:p>
          <a:p>
            <a:r>
              <a:rPr lang="fr-FR" dirty="0"/>
              <a:t>❌ Besoin d’une optimisation de nos ressources limitée</a:t>
            </a:r>
          </a:p>
          <a:p>
            <a:r>
              <a:rPr lang="fr-FR" dirty="0"/>
              <a:t>❌ Pas de traçabilité centralisée</a:t>
            </a:r>
          </a:p>
          <a:p>
            <a:endParaRPr lang="fr-FR" dirty="0"/>
          </a:p>
          <a:p>
            <a:endParaRPr lang="fr-FR" dirty="0"/>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4</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1073155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r>
              <a:rPr lang="fr-FR" dirty="0"/>
              <a:t>Petit exemple</a:t>
            </a:r>
          </a:p>
          <a:p>
            <a:r>
              <a:rPr lang="fr-FR" dirty="0"/>
              <a:t>Une petite tache et une grande tache</a:t>
            </a:r>
          </a:p>
          <a:p>
            <a:r>
              <a:rPr lang="fr-FR" dirty="0"/>
              <a:t>Pour la petite tache, disons que c’est dire bonjour</a:t>
            </a:r>
          </a:p>
          <a:p>
            <a:r>
              <a:rPr lang="fr-FR" dirty="0"/>
              <a:t>Pour la grande tache, cela sera calculer le nombre d’atomes dans l’univers</a:t>
            </a:r>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5</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5359869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r>
              <a:rPr lang="fr-FR" dirty="0"/>
              <a:t>Imaginez que notre cluster de données fonctionne comme un cerveau géant, capable de gérer plusieurs tâches en même temps. Chaque tâche a besoin d’une certaine quantité de "cerveau" pour être exécutée. Dans notre cas, ces morceaux de cerveau s’appellent des </a:t>
            </a:r>
            <a:r>
              <a:rPr lang="fr-FR" b="1" dirty="0">
                <a:effectLst/>
              </a:rPr>
              <a:t>cœurs de calcul</a:t>
            </a:r>
            <a:r>
              <a:rPr lang="fr-FR" dirty="0"/>
              <a:t>.</a:t>
            </a:r>
          </a:p>
          <a:p>
            <a:r>
              <a:rPr lang="fr-FR" b="0" dirty="0"/>
              <a:t>Mais comment ça marche ?</a:t>
            </a:r>
          </a:p>
          <a:p>
            <a:r>
              <a:rPr lang="fr-FR" b="1" dirty="0"/>
              <a:t>Allocation des ressources :</a:t>
            </a:r>
            <a:endParaRPr lang="fr-FR" dirty="0"/>
          </a:p>
          <a:p>
            <a:pPr lvl="1"/>
            <a:r>
              <a:rPr lang="fr-FR" dirty="0"/>
              <a:t>Pour notre tâche simple, dire "Bonjour", on a besoin de très peu de ressources : disons </a:t>
            </a:r>
            <a:r>
              <a:rPr lang="fr-FR" b="1" dirty="0"/>
              <a:t>1 cœur</a:t>
            </a:r>
            <a:r>
              <a:rPr lang="fr-FR" dirty="0"/>
              <a:t>.</a:t>
            </a:r>
          </a:p>
          <a:p>
            <a:pPr lvl="1"/>
            <a:r>
              <a:rPr lang="fr-FR" dirty="0"/>
              <a:t>Pour notre tâche complexe, calculer le nombre d’atomes, on a besoin de beaucoup plus : disons </a:t>
            </a:r>
            <a:r>
              <a:rPr lang="fr-FR" b="1" dirty="0"/>
              <a:t>1000 cœurs</a:t>
            </a:r>
            <a:r>
              <a:rPr lang="fr-FR" dirty="0"/>
              <a:t>.</a:t>
            </a:r>
          </a:p>
          <a:p>
            <a:pPr lvl="1"/>
            <a:r>
              <a:rPr lang="fr-FR" dirty="0"/>
              <a:t>Pour le temps de traitements, cela sera immédiat pour la petite tache mais un délai de 2h sera nécessaire pour terminer le calcul de la deuxième</a:t>
            </a:r>
          </a:p>
          <a:p>
            <a:r>
              <a:rPr lang="fr-FR" b="1" dirty="0"/>
              <a:t>Les contraintes du système :</a:t>
            </a:r>
            <a:endParaRPr lang="fr-FR" dirty="0"/>
          </a:p>
          <a:p>
            <a:pPr lvl="1"/>
            <a:r>
              <a:rPr lang="fr-FR" dirty="0"/>
              <a:t>Notre cerveau géant ne peut allouer les ressources </a:t>
            </a:r>
            <a:r>
              <a:rPr lang="fr-FR" b="1" dirty="0"/>
              <a:t>qu’en paquets de 48 cœurs</a:t>
            </a:r>
            <a:r>
              <a:rPr lang="fr-FR" dirty="0"/>
              <a:t> par tâche. C’est comme si on ne pouvait donner que des boîtes de 48 sardines, pas moins.</a:t>
            </a:r>
          </a:p>
          <a:p>
            <a:pPr lvl="1"/>
            <a:r>
              <a:rPr lang="fr-FR" dirty="0"/>
              <a:t>Le maximum qu’on peut allouer à une seule tâche est </a:t>
            </a:r>
            <a:r>
              <a:rPr lang="fr-FR" b="1" dirty="0">
                <a:effectLst/>
              </a:rPr>
              <a:t>48 x 48 = 2304 cœurs</a:t>
            </a:r>
            <a:r>
              <a:rPr lang="fr-FR" dirty="0"/>
              <a:t>.</a:t>
            </a:r>
          </a:p>
          <a:p>
            <a:r>
              <a:rPr lang="fr-FR" b="1" dirty="0"/>
              <a:t>Le problème :</a:t>
            </a:r>
            <a:endParaRPr lang="fr-FR" dirty="0"/>
          </a:p>
          <a:p>
            <a:pPr lvl="1"/>
            <a:r>
              <a:rPr lang="fr-FR" dirty="0"/>
              <a:t>Pour la tâche simple ("Bonjour"), on se retrouve à allouer </a:t>
            </a:r>
            <a:r>
              <a:rPr lang="fr-FR" b="1" dirty="0"/>
              <a:t>48 cœurs</a:t>
            </a:r>
            <a:r>
              <a:rPr lang="fr-FR" dirty="0"/>
              <a:t> au lieu de 1. C’est comme utiliser un camion pour transporter une feuille de papier : c’est du gaspillage !</a:t>
            </a:r>
          </a:p>
          <a:p>
            <a:pPr lvl="1"/>
            <a:r>
              <a:rPr lang="fr-FR" dirty="0"/>
              <a:t>Pour la tâche complexe (1000 cœurs), on doit allouer </a:t>
            </a:r>
            <a:r>
              <a:rPr lang="fr-FR" b="1" dirty="0"/>
              <a:t>1008 cœurs</a:t>
            </a:r>
            <a:r>
              <a:rPr lang="fr-FR" dirty="0"/>
              <a:t> (soit 21 paquets de 48). Mais comme notre système est très sollicité, cette tâche peut rester bloquée en attente pendant des jours, car elle est trop gourmande en ressources. Pendant ce temps, d’autres tâches qui dépendent d’elle sont aussi bloquées.</a:t>
            </a:r>
          </a:p>
          <a:p>
            <a:r>
              <a:rPr lang="fr-FR" b="0" dirty="0"/>
              <a:t>Comme vu tout à l’heure, c’est fonctionnel mais non optimisé, en effet :</a:t>
            </a:r>
          </a:p>
          <a:p>
            <a:r>
              <a:rPr lang="fr-FR" b="1" dirty="0"/>
              <a:t>Gaspillage :</a:t>
            </a:r>
            <a:r>
              <a:rPr lang="fr-FR" dirty="0"/>
              <a:t> Les petites tâches utilisent beaucoup plus de ressources que nécessaire.</a:t>
            </a:r>
          </a:p>
          <a:p>
            <a:r>
              <a:rPr lang="fr-FR" b="1" dirty="0"/>
              <a:t>Bouchons :</a:t>
            </a:r>
            <a:r>
              <a:rPr lang="fr-FR" dirty="0"/>
              <a:t> Les grosses tâches peuvent rester coincées dans la file d’attente, ralentissant tout le système.</a:t>
            </a:r>
          </a:p>
          <a:p>
            <a:r>
              <a:rPr lang="fr-FR" b="0" dirty="0"/>
              <a:t>Quelle solution à ces problèmes ?</a:t>
            </a:r>
          </a:p>
          <a:p>
            <a:r>
              <a:rPr lang="fr-FR" b="1" dirty="0"/>
              <a:t>Optimiser les petites tâches :</a:t>
            </a:r>
            <a:r>
              <a:rPr lang="fr-FR" dirty="0"/>
              <a:t> On pourrait </a:t>
            </a:r>
            <a:r>
              <a:rPr lang="fr-FR" dirty="0">
                <a:effectLst/>
              </a:rPr>
              <a:t>regrouper plusieurs petites tâches ensemble</a:t>
            </a:r>
            <a:r>
              <a:rPr lang="fr-FR" dirty="0"/>
              <a:t> pour utiliser pleinement chaque paquet de 48 cœurs. Par exemple, mettre 48 tâches de 1 cœur ensemble dans un seul paquet.</a:t>
            </a:r>
          </a:p>
          <a:p>
            <a:r>
              <a:rPr lang="fr-FR" b="1" dirty="0"/>
              <a:t>Mieux gérer les grosses tâches :</a:t>
            </a:r>
            <a:r>
              <a:rPr lang="fr-FR" dirty="0"/>
              <a:t> Trouver un moyen les replanifier plus intelligemment pour éviter les bouchons, en diminuant leurs nombres de cœurs par exemple.</a:t>
            </a:r>
          </a:p>
          <a:p>
            <a:br>
              <a:rPr lang="fr-FR" dirty="0"/>
            </a:br>
            <a:endParaRPr lang="fr-FR" dirty="0"/>
          </a:p>
          <a:p>
            <a:r>
              <a:rPr lang="fr-FR" b="1" dirty="0"/>
              <a:t>En résumé :</a:t>
            </a:r>
            <a:r>
              <a:rPr lang="fr-FR" dirty="0"/>
              <a:t> Notre système fonctionne, mais il n’est pas optimisé. On gaspille des ressources pour les petites tâches, et les grosses tâches créent des embouteillages. L’objectif est de </a:t>
            </a:r>
            <a:r>
              <a:rPr lang="fr-FR" dirty="0">
                <a:effectLst/>
              </a:rPr>
              <a:t>mieux répartir les ressources</a:t>
            </a:r>
            <a:r>
              <a:rPr lang="fr-FR" dirty="0"/>
              <a:t> pour que tout fonctionne plus vite et plus efficacement.</a:t>
            </a:r>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6</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3610070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Notre solution : Quark.</a:t>
            </a:r>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7</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83276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A4794-3154-4334-7B8D-809762290BC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12D9618-5C6B-494D-8236-49F082F25F16}"/>
              </a:ext>
            </a:extLst>
          </p:cNvPr>
          <p:cNvSpPr>
            <a:spLocks noGrp="1" noRot="1" noChangeAspect="1"/>
          </p:cNvSpPr>
          <p:nvPr>
            <p:ph type="sldImg"/>
          </p:nvPr>
        </p:nvSpPr>
        <p:spPr>
          <a:xfrm>
            <a:off x="0" y="812800"/>
            <a:ext cx="0" cy="0"/>
          </a:xfrm>
        </p:spPr>
      </p:sp>
      <p:sp>
        <p:nvSpPr>
          <p:cNvPr id="3" name="Espace réservé des notes 2">
            <a:extLst>
              <a:ext uri="{FF2B5EF4-FFF2-40B4-BE49-F238E27FC236}">
                <a16:creationId xmlns:a16="http://schemas.microsoft.com/office/drawing/2014/main" id="{0DF35D89-3C34-E740-7007-2C4A28D7DF7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Il est conçu pour optimiser la gestion des pipelines </a:t>
            </a:r>
            <a:r>
              <a:rPr lang="fr-FR" dirty="0" err="1"/>
              <a:t>bioinformatiques</a:t>
            </a:r>
            <a:r>
              <a:rPr lang="fr-FR" dirty="0"/>
              <a:t> sur le cluster </a:t>
            </a:r>
            <a:r>
              <a:rPr lang="fr-FR" dirty="0" err="1"/>
              <a:t>MesoBFC</a:t>
            </a:r>
            <a:r>
              <a:rPr lang="fr-FR" dirty="0"/>
              <a:t>. Il doit permettre le lancement, le suivi et l'optimisation automatique des analyses génomiques (génome, exome, dépistage néonatal) en tenant compte des ressources disponibles et des priorités cliniques.</a:t>
            </a:r>
          </a:p>
          <a:p>
            <a:endParaRPr lang="fr-FR" dirty="0"/>
          </a:p>
        </p:txBody>
      </p:sp>
      <p:sp>
        <p:nvSpPr>
          <p:cNvPr id="4" name="Espace réservé du numéro de diapositive 3">
            <a:extLst>
              <a:ext uri="{FF2B5EF4-FFF2-40B4-BE49-F238E27FC236}">
                <a16:creationId xmlns:a16="http://schemas.microsoft.com/office/drawing/2014/main" id="{CF21AEE1-977F-884C-FE1C-ECC8202C9A13}"/>
              </a:ext>
            </a:extLst>
          </p:cNvPr>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8</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0900304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pPr>
              <a:buNone/>
            </a:pPr>
            <a:r>
              <a:rPr lang="fr-FR" b="0" dirty="0"/>
              <a:t>Vision et Objectifs</a:t>
            </a:r>
          </a:p>
          <a:p>
            <a:pPr>
              <a:buNone/>
            </a:pPr>
            <a:r>
              <a:rPr lang="fr-FR" b="0" dirty="0"/>
              <a:t>Objectif Principal</a:t>
            </a:r>
          </a:p>
          <a:p>
            <a:pPr>
              <a:buNone/>
            </a:pPr>
            <a:r>
              <a:rPr lang="fr-FR" b="0" dirty="0"/>
              <a:t>Créer un outil de deuxième écran moderne permettant le pilotage et la supervision des analyses </a:t>
            </a:r>
            <a:r>
              <a:rPr lang="fr-FR" b="0" dirty="0" err="1"/>
              <a:t>bioinformatiques</a:t>
            </a:r>
            <a:r>
              <a:rPr lang="fr-FR" b="0" dirty="0"/>
              <a:t> sans intervention manuelle</a:t>
            </a:r>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9</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2898564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DB6216-E5B4-F58F-9FF6-2A8D54D21CB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3574E42-9F61-AB92-7576-61C489E3CFAB}"/>
              </a:ext>
            </a:extLst>
          </p:cNvPr>
          <p:cNvSpPr>
            <a:spLocks noGrp="1" noRot="1" noChangeAspect="1"/>
          </p:cNvSpPr>
          <p:nvPr>
            <p:ph type="sldImg"/>
          </p:nvPr>
        </p:nvSpPr>
        <p:spPr>
          <a:xfrm>
            <a:off x="0" y="812800"/>
            <a:ext cx="0" cy="0"/>
          </a:xfrm>
        </p:spPr>
      </p:sp>
      <p:sp>
        <p:nvSpPr>
          <p:cNvPr id="3" name="Espace réservé des notes 2">
            <a:extLst>
              <a:ext uri="{FF2B5EF4-FFF2-40B4-BE49-F238E27FC236}">
                <a16:creationId xmlns:a16="http://schemas.microsoft.com/office/drawing/2014/main" id="{F63357AB-B28E-1790-7EA0-F0F540EE38A7}"/>
              </a:ext>
            </a:extLst>
          </p:cNvPr>
          <p:cNvSpPr>
            <a:spLocks noGrp="1"/>
          </p:cNvSpPr>
          <p:nvPr>
            <p:ph type="body" idx="1"/>
          </p:nvPr>
        </p:nvSpPr>
        <p:spPr/>
        <p:txBody>
          <a:bodyPr/>
          <a:lstStyle/>
          <a:p>
            <a:pPr>
              <a:buNone/>
            </a:pPr>
            <a:r>
              <a:rPr lang="fr-FR" b="0" dirty="0"/>
              <a:t>Bénéfices Attendus</a:t>
            </a:r>
          </a:p>
          <a:p>
            <a:pPr>
              <a:buFont typeface="Arial" panose="020B0604020202020204" pitchFamily="34" charset="0"/>
              <a:buChar char="•"/>
            </a:pPr>
            <a:r>
              <a:rPr lang="fr-FR" b="0" dirty="0"/>
              <a:t> Interface web intuitive pour le monitoring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b="0" dirty="0"/>
              <a:t> Optimisation intelligente des ressources</a:t>
            </a:r>
          </a:p>
          <a:p>
            <a:pPr>
              <a:buFont typeface="Arial" panose="020B0604020202020204" pitchFamily="34" charset="0"/>
              <a:buChar char="•"/>
            </a:pPr>
            <a:r>
              <a:rPr lang="fr-FR" b="0" dirty="0"/>
              <a:t> Automatisation des lancements d’analyses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fr-FR" b="0" dirty="0"/>
              <a:t> Visibilité complète sur l'état du cluster</a:t>
            </a:r>
          </a:p>
          <a:p>
            <a:pPr>
              <a:buFont typeface="Arial" panose="020B0604020202020204" pitchFamily="34" charset="0"/>
              <a:buChar char="•"/>
            </a:pPr>
            <a:r>
              <a:rPr lang="fr-FR" b="0" dirty="0"/>
              <a:t> L’équipe se concentre sur le développement et la recherche plutôt que sur l'administration</a:t>
            </a:r>
          </a:p>
          <a:p>
            <a:endParaRPr lang="fr-FR" b="0" dirty="0"/>
          </a:p>
        </p:txBody>
      </p:sp>
      <p:sp>
        <p:nvSpPr>
          <p:cNvPr id="4" name="Espace réservé du numéro de diapositive 3">
            <a:extLst>
              <a:ext uri="{FF2B5EF4-FFF2-40B4-BE49-F238E27FC236}">
                <a16:creationId xmlns:a16="http://schemas.microsoft.com/office/drawing/2014/main" id="{1669A803-8FEA-FA34-13BD-13599DE765F4}"/>
              </a:ext>
            </a:extLst>
          </p:cNvPr>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10</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4005031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r>
              <a:rPr lang="fr-FR" dirty="0"/>
              <a:t>Petit exemple,</a:t>
            </a:r>
            <a:br>
              <a:rPr lang="fr-FR" dirty="0"/>
            </a:br>
            <a:r>
              <a:rPr lang="fr-FR" dirty="0"/>
              <a:t>Vous connaissez sans doute cette machine, notre séquenceur</a:t>
            </a:r>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11</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973610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r>
              <a:rPr lang="fr-FR" dirty="0"/>
              <a:t>Qu’on représente comme ceci</a:t>
            </a:r>
          </a:p>
          <a:p>
            <a:endParaRPr lang="fr-FR" dirty="0"/>
          </a:p>
          <a:p>
            <a:r>
              <a:rPr lang="fr-FR" dirty="0"/>
              <a:t>Prenons donc une analyse à réaliser, elle passe donc dans le séquenceur et nous obtenons des données</a:t>
            </a:r>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12</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4157239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r>
              <a:rPr lang="fr-FR" dirty="0"/>
              <a:t>Ces données vont passer dans un programme Python pour être nettoyées et analysées</a:t>
            </a:r>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13</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7624588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r>
              <a:rPr lang="fr-FR" dirty="0"/>
              <a:t>Maintenant, Même chose, les données sont analysées en Python sur le cluster mais, les informations sur l’états d’avancement de nos traitements (clic)</a:t>
            </a:r>
          </a:p>
          <a:p>
            <a:r>
              <a:rPr lang="fr-FR" dirty="0"/>
              <a:t>Seront-elles aussi gérées en Python, mais arriveront sur notre application Web (clic)</a:t>
            </a:r>
          </a:p>
          <a:p>
            <a:endParaRPr lang="fr-FR" dirty="0"/>
          </a:p>
          <a:p>
            <a:r>
              <a:rPr lang="fr-FR" dirty="0" err="1"/>
              <a:t>React</a:t>
            </a:r>
            <a:r>
              <a:rPr lang="fr-FR" dirty="0"/>
              <a:t> : utilisé par Apple, la Nasa, toutes les grandes sociétés utilise ce mode de création de site</a:t>
            </a:r>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14</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41673384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pPr>
              <a:buNone/>
            </a:pPr>
            <a:r>
              <a:rPr lang="en-US" b="0" noProof="0" dirty="0"/>
              <a:t>Interface Web - Dashboard Principal</a:t>
            </a:r>
          </a:p>
          <a:p>
            <a:pPr>
              <a:buNone/>
            </a:pPr>
            <a:endParaRPr lang="en-US" b="0" noProof="0" dirty="0"/>
          </a:p>
          <a:p>
            <a:pPr>
              <a:buNone/>
            </a:pPr>
            <a:r>
              <a:rPr lang="en-US" b="0" noProof="0" dirty="0"/>
              <a:t>Vue </a:t>
            </a:r>
            <a:r>
              <a:rPr lang="en-US" b="0" noProof="0" dirty="0" err="1"/>
              <a:t>d'Ensemble</a:t>
            </a:r>
            <a:r>
              <a:rPr lang="en-US" b="0" noProof="0" dirty="0"/>
              <a:t> Temps </a:t>
            </a:r>
            <a:r>
              <a:rPr lang="en-US" b="0" noProof="0" dirty="0" err="1"/>
              <a:t>Réel</a:t>
            </a:r>
            <a:endParaRPr lang="en-US" b="0" noProof="0" dirty="0"/>
          </a:p>
          <a:p>
            <a:pPr>
              <a:buFont typeface="Arial" panose="020B0604020202020204" pitchFamily="34" charset="0"/>
              <a:buChar char="•"/>
            </a:pPr>
            <a:r>
              <a:rPr lang="en-US" b="0" noProof="0" dirty="0"/>
              <a:t> </a:t>
            </a:r>
            <a:r>
              <a:rPr lang="en-US" b="0" noProof="0" dirty="0" err="1"/>
              <a:t>Métriques</a:t>
            </a:r>
            <a:r>
              <a:rPr lang="en-US" b="0" noProof="0" dirty="0"/>
              <a:t> de </a:t>
            </a:r>
            <a:r>
              <a:rPr lang="en-US" b="0" noProof="0" dirty="0" err="1"/>
              <a:t>ressources</a:t>
            </a:r>
            <a:r>
              <a:rPr lang="en-US" b="0" noProof="0" dirty="0"/>
              <a:t> : CPU, </a:t>
            </a:r>
            <a:r>
              <a:rPr lang="en-US" b="0" noProof="0" dirty="0" err="1"/>
              <a:t>Mémoire</a:t>
            </a:r>
            <a:r>
              <a:rPr lang="en-US" b="0" noProof="0" dirty="0"/>
              <a:t>, GPU, Stockage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noProof="0" dirty="0"/>
              <a:t> </a:t>
            </a:r>
            <a:r>
              <a:rPr lang="en-US" b="0" noProof="0" dirty="0" err="1"/>
              <a:t>Historique</a:t>
            </a:r>
            <a:r>
              <a:rPr lang="en-US" b="0" noProof="0" dirty="0"/>
              <a:t> des </a:t>
            </a:r>
            <a:r>
              <a:rPr lang="en-US" b="0" noProof="0" dirty="0" err="1"/>
              <a:t>erreurs</a:t>
            </a:r>
            <a:r>
              <a:rPr lang="en-US" b="0" noProof="0" dirty="0"/>
              <a:t> : Monitoring </a:t>
            </a:r>
            <a:r>
              <a:rPr lang="en-US" b="0" noProof="0" dirty="0" err="1"/>
              <a:t>proactif</a:t>
            </a:r>
            <a:endParaRPr lang="en-US" b="0" noProof="0" dirty="0"/>
          </a:p>
          <a:p>
            <a:pPr>
              <a:buFont typeface="Arial" panose="020B0604020202020204" pitchFamily="34" charset="0"/>
              <a:buChar char="•"/>
            </a:pPr>
            <a:r>
              <a:rPr lang="en-US" b="0" noProof="0" dirty="0"/>
              <a:t> File </a:t>
            </a:r>
            <a:r>
              <a:rPr lang="en-US" b="0" noProof="0" dirty="0" err="1"/>
              <a:t>d'attente</a:t>
            </a:r>
            <a:r>
              <a:rPr lang="en-US" b="0" noProof="0" dirty="0"/>
              <a:t> : </a:t>
            </a:r>
            <a:r>
              <a:rPr lang="en-US" b="0" noProof="0" dirty="0" err="1"/>
              <a:t>Tâches</a:t>
            </a:r>
            <a:r>
              <a:rPr lang="en-US" b="0" noProof="0" dirty="0"/>
              <a:t> </a:t>
            </a:r>
            <a:r>
              <a:rPr lang="en-US" b="0" noProof="0" dirty="0" err="1"/>
              <a:t>en</a:t>
            </a:r>
            <a:r>
              <a:rPr lang="en-US" b="0" noProof="0" dirty="0"/>
              <a:t> </a:t>
            </a:r>
            <a:r>
              <a:rPr lang="en-US" b="0" noProof="0" dirty="0" err="1"/>
              <a:t>attente</a:t>
            </a:r>
            <a:r>
              <a:rPr lang="en-US" b="0" noProof="0" dirty="0"/>
              <a:t> avec </a:t>
            </a:r>
            <a:r>
              <a:rPr lang="en-US" b="0" noProof="0" dirty="0" err="1"/>
              <a:t>priorités</a:t>
            </a:r>
            <a:endParaRPr lang="en-US" b="0" noProof="0" dirty="0"/>
          </a:p>
          <a:p>
            <a:pPr>
              <a:buFont typeface="Arial" panose="020B0604020202020204" pitchFamily="34" charset="0"/>
              <a:buChar char="•"/>
            </a:pPr>
            <a:r>
              <a:rPr lang="en-US" b="0" noProof="0" dirty="0"/>
              <a:t> </a:t>
            </a:r>
            <a:r>
              <a:rPr lang="en-US" b="0" noProof="0" dirty="0" err="1"/>
              <a:t>Tâches</a:t>
            </a:r>
            <a:r>
              <a:rPr lang="en-US" b="0" noProof="0" dirty="0"/>
              <a:t> actives : Progression </a:t>
            </a:r>
            <a:r>
              <a:rPr lang="en-US" b="0" noProof="0" dirty="0" err="1"/>
              <a:t>en</a:t>
            </a:r>
            <a:r>
              <a:rPr lang="en-US" b="0" noProof="0" dirty="0"/>
              <a:t> temps </a:t>
            </a:r>
            <a:r>
              <a:rPr lang="en-US" b="0" noProof="0" dirty="0" err="1"/>
              <a:t>réel</a:t>
            </a:r>
            <a:endParaRPr lang="en-US" b="0" noProof="0" dirty="0"/>
          </a:p>
          <a:p>
            <a:pPr>
              <a:buFont typeface="Arial" panose="020B0604020202020204" pitchFamily="34" charset="0"/>
              <a:buChar char="•"/>
            </a:pPr>
            <a:r>
              <a:rPr lang="en-US" b="0" noProof="0" dirty="0"/>
              <a:t> </a:t>
            </a:r>
            <a:r>
              <a:rPr lang="en-US" b="0" noProof="0" dirty="0" err="1"/>
              <a:t>Tâches</a:t>
            </a:r>
            <a:r>
              <a:rPr lang="en-US" b="0" noProof="0" dirty="0"/>
              <a:t> </a:t>
            </a:r>
            <a:r>
              <a:rPr lang="en-US" b="0" noProof="0" dirty="0" err="1"/>
              <a:t>terminées</a:t>
            </a:r>
            <a:r>
              <a:rPr lang="en-US" b="0" noProof="0" dirty="0"/>
              <a:t> : </a:t>
            </a:r>
            <a:r>
              <a:rPr lang="en-US" b="0" noProof="0" dirty="0" err="1"/>
              <a:t>Traçabilité</a:t>
            </a:r>
            <a:r>
              <a:rPr lang="en-US" b="0" noProof="0" dirty="0"/>
              <a:t> </a:t>
            </a:r>
            <a:r>
              <a:rPr lang="en-US" b="0" noProof="0" dirty="0" err="1"/>
              <a:t>complète</a:t>
            </a:r>
            <a:endParaRPr lang="en-US" b="0" noProof="0" dirty="0"/>
          </a:p>
          <a:p>
            <a:pPr>
              <a:buNone/>
            </a:pPr>
            <a:endParaRPr lang="en-US" b="0" noProof="0" dirty="0"/>
          </a:p>
          <a:p>
            <a:pPr>
              <a:buNone/>
            </a:pPr>
            <a:r>
              <a:rPr lang="en-US" b="0" noProof="0" dirty="0" err="1"/>
              <a:t>Fonctionnalités</a:t>
            </a:r>
            <a:r>
              <a:rPr lang="en-US" b="0" noProof="0" dirty="0"/>
              <a:t> </a:t>
            </a:r>
            <a:r>
              <a:rPr lang="en-US" b="0" noProof="0" dirty="0" err="1"/>
              <a:t>Clés</a:t>
            </a:r>
            <a:endParaRPr lang="en-US" b="0" noProof="0" dirty="0"/>
          </a:p>
          <a:p>
            <a:pPr>
              <a:buFont typeface="Arial" panose="020B0604020202020204" pitchFamily="34" charset="0"/>
              <a:buChar char="•"/>
            </a:pPr>
            <a:r>
              <a:rPr lang="en-US" b="0" noProof="0" dirty="0"/>
              <a:t> Mode </a:t>
            </a:r>
            <a:r>
              <a:rPr lang="en-US" b="0" noProof="0" dirty="0" err="1"/>
              <a:t>sombre</a:t>
            </a:r>
            <a:r>
              <a:rPr lang="en-US" b="0" noProof="0" dirty="0"/>
              <a:t>/</a:t>
            </a:r>
            <a:r>
              <a:rPr lang="en-US" b="0" noProof="0" dirty="0" err="1"/>
              <a:t>clair</a:t>
            </a:r>
            <a:r>
              <a:rPr lang="en-US" b="0" noProof="0" dirty="0"/>
              <a:t> </a:t>
            </a:r>
            <a:r>
              <a:rPr lang="en-US" b="0" noProof="0" dirty="0" err="1"/>
              <a:t>adaptatif</a:t>
            </a:r>
            <a:endParaRPr lang="en-US" b="0" noProof="0" dirty="0"/>
          </a:p>
          <a:p>
            <a:pPr>
              <a:buFont typeface="Arial" panose="020B0604020202020204" pitchFamily="34" charset="0"/>
              <a:buChar char="•"/>
            </a:pPr>
            <a:r>
              <a:rPr lang="en-US" b="0" noProof="0" dirty="0"/>
              <a:t> Interface responsive (desktop/mobile)</a:t>
            </a:r>
          </a:p>
          <a:p>
            <a:pPr>
              <a:buFont typeface="Arial" panose="020B0604020202020204" pitchFamily="34" charset="0"/>
              <a:buChar char="•"/>
            </a:pPr>
            <a:r>
              <a:rPr lang="en-US" b="0" noProof="0" dirty="0"/>
              <a:t> Mise à jour </a:t>
            </a:r>
            <a:r>
              <a:rPr lang="en-US" b="0" noProof="0" dirty="0" err="1"/>
              <a:t>automatique</a:t>
            </a:r>
            <a:r>
              <a:rPr lang="en-US" b="0" noProof="0" dirty="0"/>
              <a:t> </a:t>
            </a:r>
            <a:r>
              <a:rPr lang="en-US" b="0" noProof="0" dirty="0" err="1"/>
              <a:t>toutes</a:t>
            </a:r>
            <a:r>
              <a:rPr lang="en-US" b="0" noProof="0" dirty="0"/>
              <a:t> les 5 </a:t>
            </a:r>
            <a:r>
              <a:rPr lang="en-US" b="0" noProof="0" dirty="0" err="1"/>
              <a:t>secondes</a:t>
            </a:r>
            <a:endParaRPr lang="en-US" b="0" noProof="0" dirty="0"/>
          </a:p>
          <a:p>
            <a:pPr>
              <a:buFont typeface="Arial" panose="020B0604020202020204" pitchFamily="34" charset="0"/>
              <a:buChar char="•"/>
            </a:pPr>
            <a:r>
              <a:rPr lang="en-US" b="0" noProof="0" dirty="0"/>
              <a:t> Navigation intuitive par codes d'état couleur</a:t>
            </a:r>
          </a:p>
          <a:p>
            <a:pPr>
              <a:buFont typeface="Arial" panose="020B0604020202020204" pitchFamily="34" charset="0"/>
              <a:buChar char="•"/>
            </a:pPr>
            <a:r>
              <a:rPr lang="en-US" b="0" noProof="0" dirty="0"/>
              <a:t> </a:t>
            </a:r>
            <a:r>
              <a:rPr lang="en-US" b="0" noProof="0" dirty="0" err="1"/>
              <a:t>Détails</a:t>
            </a:r>
            <a:r>
              <a:rPr lang="en-US" b="0" noProof="0" dirty="0"/>
              <a:t> </a:t>
            </a:r>
            <a:r>
              <a:rPr lang="en-US" b="0" noProof="0" dirty="0" err="1"/>
              <a:t>expandables</a:t>
            </a:r>
            <a:r>
              <a:rPr lang="en-US" b="0" noProof="0" dirty="0"/>
              <a:t> pour </a:t>
            </a:r>
            <a:r>
              <a:rPr lang="en-US" b="0" noProof="0" dirty="0" err="1"/>
              <a:t>chaque</a:t>
            </a:r>
            <a:r>
              <a:rPr lang="en-US" b="0" noProof="0" dirty="0"/>
              <a:t> job</a:t>
            </a:r>
          </a:p>
          <a:p>
            <a:endParaRPr lang="fr-FR" b="0" dirty="0"/>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15</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649331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pPr>
              <a:buNone/>
            </a:pPr>
            <a:r>
              <a:rPr lang="en-US" b="0" noProof="0" dirty="0" err="1"/>
              <a:t>Détails</a:t>
            </a:r>
            <a:r>
              <a:rPr lang="en-US" b="0" noProof="0" dirty="0"/>
              <a:t> </a:t>
            </a:r>
            <a:r>
              <a:rPr lang="en-US" b="0" noProof="0" dirty="0" err="1"/>
              <a:t>expandables</a:t>
            </a:r>
            <a:r>
              <a:rPr lang="en-US" b="0" noProof="0" dirty="0"/>
              <a:t> pour </a:t>
            </a:r>
            <a:r>
              <a:rPr lang="en-US" b="0" noProof="0" dirty="0" err="1"/>
              <a:t>chaque</a:t>
            </a:r>
            <a:r>
              <a:rPr lang="en-US" b="0" noProof="0" dirty="0"/>
              <a:t> </a:t>
            </a:r>
            <a:r>
              <a:rPr lang="en-US" b="0" noProof="0" dirty="0" err="1"/>
              <a:t>tâche</a:t>
            </a:r>
            <a:endParaRPr lang="en-US" b="0" noProof="0" dirty="0"/>
          </a:p>
          <a:p>
            <a:endParaRPr lang="fr-FR" b="0" dirty="0"/>
          </a:p>
          <a:p>
            <a:pPr>
              <a:buNone/>
            </a:pPr>
            <a:r>
              <a:rPr lang="en-US" b="0" noProof="0" dirty="0" err="1"/>
              <a:t>Colorisation</a:t>
            </a:r>
            <a:r>
              <a:rPr lang="en-US" b="0" noProof="0" dirty="0"/>
              <a:t> par </a:t>
            </a:r>
            <a:r>
              <a:rPr lang="en-US" b="0" noProof="0" dirty="0" err="1"/>
              <a:t>Statut</a:t>
            </a:r>
            <a:endParaRPr lang="en-US" b="0" noProof="0" dirty="0"/>
          </a:p>
          <a:p>
            <a:pPr>
              <a:buFont typeface="Arial" panose="020B0604020202020204" pitchFamily="34" charset="0"/>
              <a:buChar char="•"/>
            </a:pPr>
            <a:r>
              <a:rPr lang="en-US" b="0" noProof="0" dirty="0"/>
              <a:t>Vert : </a:t>
            </a:r>
            <a:r>
              <a:rPr lang="en-US" b="0" noProof="0" dirty="0" err="1"/>
              <a:t>Terminé</a:t>
            </a:r>
            <a:r>
              <a:rPr lang="en-US" b="0" noProof="0" dirty="0"/>
              <a:t> avec succès</a:t>
            </a:r>
          </a:p>
          <a:p>
            <a:pPr>
              <a:buFont typeface="Arial" panose="020B0604020202020204" pitchFamily="34" charset="0"/>
              <a:buChar char="•"/>
            </a:pPr>
            <a:r>
              <a:rPr lang="en-US" b="0" noProof="0" dirty="0"/>
              <a:t>Jaune : En </a:t>
            </a:r>
            <a:r>
              <a:rPr lang="en-US" b="0" noProof="0" dirty="0" err="1"/>
              <a:t>cours</a:t>
            </a:r>
            <a:r>
              <a:rPr lang="en-US" b="0" noProof="0" dirty="0"/>
              <a:t> </a:t>
            </a:r>
            <a:r>
              <a:rPr lang="en-US" b="0" noProof="0" dirty="0" err="1"/>
              <a:t>d'execution</a:t>
            </a:r>
            <a:endParaRPr lang="en-US" b="0" noProof="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noProof="0" dirty="0"/>
              <a:t>Gris : En </a:t>
            </a:r>
            <a:r>
              <a:rPr lang="en-US" b="0" noProof="0" dirty="0" err="1"/>
              <a:t>attente</a:t>
            </a:r>
            <a:r>
              <a:rPr lang="en-US" b="0" noProof="0" dirty="0"/>
              <a:t> </a:t>
            </a:r>
          </a:p>
          <a:p>
            <a:pPr>
              <a:buFont typeface="Arial" panose="020B0604020202020204" pitchFamily="34" charset="0"/>
              <a:buChar char="•"/>
            </a:pPr>
            <a:r>
              <a:rPr lang="en-US" b="0" noProof="0" dirty="0"/>
              <a:t>Rouge : </a:t>
            </a:r>
            <a:r>
              <a:rPr lang="en-US" b="0" noProof="0" dirty="0" err="1"/>
              <a:t>Échec</a:t>
            </a:r>
            <a:r>
              <a:rPr lang="en-US" b="0" noProof="0" dirty="0"/>
              <a:t>/</a:t>
            </a:r>
            <a:r>
              <a:rPr lang="en-US" b="0" noProof="0" dirty="0" err="1"/>
              <a:t>Erreur</a:t>
            </a:r>
            <a:endParaRPr lang="en-US" b="0" noProof="0" dirty="0"/>
          </a:p>
          <a:p>
            <a:pPr>
              <a:buNone/>
            </a:pPr>
            <a:endParaRPr lang="en-US" b="0" noProof="0" dirty="0"/>
          </a:p>
          <a:p>
            <a:pPr>
              <a:buNone/>
            </a:pPr>
            <a:r>
              <a:rPr lang="en-US" b="0" noProof="0" dirty="0" err="1"/>
              <a:t>Informations</a:t>
            </a:r>
            <a:r>
              <a:rPr lang="en-US" b="0" noProof="0" dirty="0"/>
              <a:t> </a:t>
            </a:r>
            <a:r>
              <a:rPr lang="en-US" b="0" noProof="0" dirty="0" err="1"/>
              <a:t>Détaillées</a:t>
            </a:r>
            <a:r>
              <a:rPr lang="en-US" b="0" noProof="0" dirty="0"/>
              <a:t> par </a:t>
            </a:r>
            <a:r>
              <a:rPr lang="en-US" b="0" noProof="0" dirty="0" err="1"/>
              <a:t>Tâche</a:t>
            </a:r>
            <a:endParaRPr lang="en-US" b="0" noProof="0" dirty="0"/>
          </a:p>
          <a:p>
            <a:pPr>
              <a:buFont typeface="Arial" panose="020B0604020202020204" pitchFamily="34" charset="0"/>
              <a:buChar char="•"/>
            </a:pPr>
            <a:r>
              <a:rPr lang="en-US" b="0" noProof="0" dirty="0" err="1"/>
              <a:t>Métadonnées</a:t>
            </a:r>
            <a:r>
              <a:rPr lang="en-US" b="0" noProof="0" dirty="0"/>
              <a:t> : ID </a:t>
            </a:r>
            <a:r>
              <a:rPr lang="en-US" b="0" noProof="0" dirty="0" err="1"/>
              <a:t>échantillon</a:t>
            </a:r>
            <a:r>
              <a:rPr lang="en-US" b="0" noProof="0" dirty="0"/>
              <a:t>, type </a:t>
            </a:r>
            <a:r>
              <a:rPr lang="en-US" b="0" noProof="0" dirty="0" err="1"/>
              <a:t>d'analyse</a:t>
            </a:r>
            <a:r>
              <a:rPr lang="en-US" b="0" noProof="0" dirty="0"/>
              <a:t>, </a:t>
            </a:r>
            <a:r>
              <a:rPr lang="en-US" b="0" noProof="0" dirty="0" err="1"/>
              <a:t>utilisateur</a:t>
            </a:r>
            <a:endParaRPr lang="en-US" b="0" noProof="0" dirty="0"/>
          </a:p>
          <a:p>
            <a:pPr>
              <a:buFont typeface="Arial" panose="020B0604020202020204" pitchFamily="34" charset="0"/>
              <a:buChar char="•"/>
            </a:pPr>
            <a:r>
              <a:rPr lang="en-US" b="0" noProof="0" dirty="0" err="1"/>
              <a:t>Ressources</a:t>
            </a:r>
            <a:r>
              <a:rPr lang="en-US" b="0" noProof="0" dirty="0"/>
              <a:t> : </a:t>
            </a:r>
            <a:r>
              <a:rPr lang="en-US" b="0" noProof="0" dirty="0" err="1"/>
              <a:t>Nœud</a:t>
            </a:r>
            <a:r>
              <a:rPr lang="en-US" b="0" noProof="0" dirty="0"/>
              <a:t> </a:t>
            </a:r>
            <a:r>
              <a:rPr lang="en-US" b="0" noProof="0" dirty="0" err="1"/>
              <a:t>d'exécution</a:t>
            </a:r>
            <a:r>
              <a:rPr lang="en-US" b="0" noProof="0" dirty="0"/>
              <a:t>, allocation CPU/GPU</a:t>
            </a:r>
          </a:p>
          <a:p>
            <a:pPr>
              <a:buFont typeface="Arial" panose="020B0604020202020204" pitchFamily="34" charset="0"/>
              <a:buChar char="•"/>
            </a:pPr>
            <a:r>
              <a:rPr lang="en-US" b="0" noProof="0" dirty="0" err="1"/>
              <a:t>Temporel</a:t>
            </a:r>
            <a:r>
              <a:rPr lang="en-US" b="0" noProof="0" dirty="0"/>
              <a:t> : </a:t>
            </a:r>
            <a:r>
              <a:rPr lang="en-US" b="0" noProof="0" dirty="0" err="1"/>
              <a:t>Heure</a:t>
            </a:r>
            <a:r>
              <a:rPr lang="en-US" b="0" noProof="0" dirty="0"/>
              <a:t> de début, durée, temps </a:t>
            </a:r>
            <a:r>
              <a:rPr lang="en-US" b="0" noProof="0" dirty="0" err="1"/>
              <a:t>restant</a:t>
            </a:r>
            <a:r>
              <a:rPr lang="en-US" b="0" noProof="0" dirty="0"/>
              <a:t> </a:t>
            </a:r>
            <a:r>
              <a:rPr lang="en-US" b="0" noProof="0" dirty="0" err="1"/>
              <a:t>estimé</a:t>
            </a:r>
            <a:endParaRPr lang="en-US" b="0" noProof="0" dirty="0"/>
          </a:p>
          <a:p>
            <a:pPr>
              <a:buFont typeface="Arial" panose="020B0604020202020204" pitchFamily="34" charset="0"/>
              <a:buChar char="•"/>
            </a:pPr>
            <a:r>
              <a:rPr lang="en-US" b="0" noProof="0" dirty="0" err="1"/>
              <a:t>Traitements</a:t>
            </a:r>
            <a:r>
              <a:rPr lang="en-US" b="0" noProof="0" dirty="0"/>
              <a:t> : Progression par étape du pipeline</a:t>
            </a:r>
          </a:p>
          <a:p>
            <a:pPr>
              <a:buFont typeface="Arial" panose="020B0604020202020204" pitchFamily="34" charset="0"/>
              <a:buChar char="•"/>
            </a:pPr>
            <a:r>
              <a:rPr lang="en-US" b="0" noProof="0" dirty="0" err="1"/>
              <a:t>Optimisation</a:t>
            </a:r>
            <a:r>
              <a:rPr lang="en-US" b="0" noProof="0" dirty="0"/>
              <a:t> : Suggestions </a:t>
            </a:r>
            <a:r>
              <a:rPr lang="en-US" b="0" noProof="0" dirty="0" err="1"/>
              <a:t>d'amélioration</a:t>
            </a:r>
            <a:r>
              <a:rPr lang="en-US" b="0" noProof="0" dirty="0"/>
              <a:t> des performances</a:t>
            </a:r>
          </a:p>
          <a:p>
            <a:endParaRPr lang="fr-FR" b="0" dirty="0"/>
          </a:p>
          <a:p>
            <a:pPr>
              <a:buNone/>
            </a:pPr>
            <a:endParaRPr lang="fr-FR" b="0" dirty="0"/>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16</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8966397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pPr>
              <a:buNone/>
            </a:pPr>
            <a:r>
              <a:rPr lang="en-US" b="0" noProof="0" dirty="0" err="1"/>
              <a:t>Fonctionnalités</a:t>
            </a:r>
            <a:r>
              <a:rPr lang="en-US" b="0" noProof="0" dirty="0"/>
              <a:t> </a:t>
            </a:r>
            <a:r>
              <a:rPr lang="en-US" b="0" noProof="0" dirty="0" err="1"/>
              <a:t>d'Orchestration</a:t>
            </a:r>
            <a:endParaRPr lang="en-US" b="0" noProof="0" dirty="0"/>
          </a:p>
          <a:p>
            <a:pPr>
              <a:buNone/>
            </a:pPr>
            <a:endParaRPr lang="en-US" b="0" noProof="0" dirty="0"/>
          </a:p>
          <a:p>
            <a:pPr>
              <a:buNone/>
            </a:pPr>
            <a:r>
              <a:rPr lang="en-US" b="0" noProof="0" dirty="0"/>
              <a:t>Gestion </a:t>
            </a:r>
            <a:r>
              <a:rPr lang="en-US" b="0" noProof="0" dirty="0" err="1"/>
              <a:t>Intelligente</a:t>
            </a:r>
            <a:r>
              <a:rPr lang="en-US" b="0" noProof="0" dirty="0"/>
              <a:t> des </a:t>
            </a:r>
            <a:r>
              <a:rPr lang="en-US" b="0" noProof="0" dirty="0" err="1"/>
              <a:t>Ressources</a:t>
            </a:r>
            <a:endParaRPr lang="en-US" b="0" noProof="0" dirty="0"/>
          </a:p>
          <a:p>
            <a:pPr>
              <a:buFont typeface="Arial" panose="020B0604020202020204" pitchFamily="34" charset="0"/>
              <a:buChar char="•"/>
            </a:pPr>
            <a:r>
              <a:rPr lang="en-US" b="0" noProof="0" dirty="0"/>
              <a:t> Allocation </a:t>
            </a:r>
            <a:r>
              <a:rPr lang="en-US" b="0" noProof="0" dirty="0" err="1"/>
              <a:t>dynamique</a:t>
            </a:r>
            <a:r>
              <a:rPr lang="en-US" b="0" noProof="0" dirty="0"/>
              <a:t> </a:t>
            </a:r>
            <a:r>
              <a:rPr lang="en-US" b="0" noProof="0" dirty="0" err="1"/>
              <a:t>selon</a:t>
            </a:r>
            <a:r>
              <a:rPr lang="en-US" b="0" noProof="0" dirty="0"/>
              <a:t> la </a:t>
            </a:r>
            <a:r>
              <a:rPr lang="en-US" b="0" noProof="0" dirty="0" err="1"/>
              <a:t>disponibilité</a:t>
            </a:r>
            <a:endParaRPr lang="en-US" b="0" noProof="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noProof="0" dirty="0"/>
              <a:t> </a:t>
            </a:r>
            <a:r>
              <a:rPr lang="en-US" b="0" noProof="0" dirty="0" err="1"/>
              <a:t>Équilibrage</a:t>
            </a:r>
            <a:r>
              <a:rPr lang="en-US" b="0" noProof="0" dirty="0"/>
              <a:t> de charge sur le cluster</a:t>
            </a:r>
          </a:p>
          <a:p>
            <a:pPr>
              <a:buFont typeface="Arial" panose="020B0604020202020204" pitchFamily="34" charset="0"/>
              <a:buChar char="•"/>
            </a:pPr>
            <a:r>
              <a:rPr lang="en-US" b="0" noProof="0" dirty="0"/>
              <a:t> </a:t>
            </a:r>
            <a:r>
              <a:rPr lang="en-US" b="0" noProof="0" dirty="0" err="1"/>
              <a:t>Regroupement</a:t>
            </a:r>
            <a:r>
              <a:rPr lang="en-US" b="0" noProof="0" dirty="0"/>
              <a:t> </a:t>
            </a:r>
            <a:r>
              <a:rPr lang="en-US" b="0" noProof="0" dirty="0" err="1"/>
              <a:t>automatique</a:t>
            </a:r>
            <a:r>
              <a:rPr lang="en-US" b="0" noProof="0" dirty="0"/>
              <a:t> des </a:t>
            </a:r>
            <a:r>
              <a:rPr lang="en-US" b="0" noProof="0" dirty="0" err="1"/>
              <a:t>tâches</a:t>
            </a:r>
            <a:r>
              <a:rPr lang="en-US" b="0" noProof="0" dirty="0"/>
              <a:t> </a:t>
            </a:r>
            <a:r>
              <a:rPr lang="en-US" b="0" noProof="0" dirty="0" err="1"/>
              <a:t>similaires</a:t>
            </a:r>
            <a:endParaRPr lang="en-US" b="0" noProof="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noProof="0" dirty="0"/>
              <a:t> Configuration flexible</a:t>
            </a:r>
          </a:p>
          <a:p>
            <a:pPr>
              <a:buFont typeface="Arial" panose="020B0604020202020204" pitchFamily="34" charset="0"/>
              <a:buChar char="•"/>
            </a:pPr>
            <a:r>
              <a:rPr lang="en-US" b="0" noProof="0" dirty="0"/>
              <a:t> </a:t>
            </a:r>
            <a:r>
              <a:rPr lang="en-US" b="0" noProof="0" dirty="0" err="1"/>
              <a:t>Priorisation</a:t>
            </a:r>
            <a:r>
              <a:rPr lang="en-US" b="0" noProof="0" dirty="0"/>
              <a:t> </a:t>
            </a:r>
            <a:r>
              <a:rPr lang="en-US" b="0" noProof="0" dirty="0" err="1"/>
              <a:t>selon</a:t>
            </a:r>
            <a:r>
              <a:rPr lang="en-US" b="0" noProof="0" dirty="0"/>
              <a:t> les </a:t>
            </a:r>
            <a:r>
              <a:rPr lang="en-US" b="0" noProof="0" dirty="0" err="1"/>
              <a:t>contraintes</a:t>
            </a:r>
            <a:r>
              <a:rPr lang="en-US" b="0" noProof="0" dirty="0"/>
              <a:t> </a:t>
            </a:r>
            <a:r>
              <a:rPr lang="en-US" b="0" noProof="0" dirty="0" err="1"/>
              <a:t>cliniques</a:t>
            </a:r>
            <a:endParaRPr lang="en-US" b="0" noProof="0" dirty="0"/>
          </a:p>
          <a:p>
            <a:pPr>
              <a:buNone/>
            </a:pPr>
            <a:endParaRPr lang="en-US" b="0" noProof="0" dirty="0"/>
          </a:p>
          <a:p>
            <a:pPr>
              <a:buNone/>
            </a:pPr>
            <a:r>
              <a:rPr lang="en-US" b="0" noProof="0" dirty="0" err="1"/>
              <a:t>Traçabilité</a:t>
            </a:r>
            <a:r>
              <a:rPr lang="en-US" b="0" noProof="0" dirty="0"/>
              <a:t> </a:t>
            </a:r>
            <a:r>
              <a:rPr lang="en-US" b="0" noProof="0" dirty="0" err="1"/>
              <a:t>Complète</a:t>
            </a:r>
            <a:endParaRPr lang="en-US" b="0" noProof="0" dirty="0"/>
          </a:p>
          <a:p>
            <a:pPr>
              <a:buFont typeface="Arial" panose="020B0604020202020204" pitchFamily="34" charset="0"/>
              <a:buChar char="•"/>
            </a:pPr>
            <a:r>
              <a:rPr lang="en-US" b="0" noProof="0" dirty="0"/>
              <a:t> Logs par </a:t>
            </a:r>
            <a:r>
              <a:rPr lang="en-US" b="0" noProof="0" dirty="0" err="1"/>
              <a:t>échantillon</a:t>
            </a:r>
            <a:r>
              <a:rPr lang="en-US" b="0" noProof="0" dirty="0"/>
              <a:t> : </a:t>
            </a:r>
            <a:r>
              <a:rPr lang="en-US" b="0" noProof="0" dirty="0" err="1"/>
              <a:t>Historique</a:t>
            </a:r>
            <a:r>
              <a:rPr lang="en-US" b="0" noProof="0" dirty="0"/>
              <a:t> </a:t>
            </a:r>
            <a:r>
              <a:rPr lang="en-US" b="0" noProof="0" dirty="0" err="1"/>
              <a:t>détaillé</a:t>
            </a:r>
            <a:r>
              <a:rPr lang="en-US" b="0" noProof="0" dirty="0"/>
              <a:t> de </a:t>
            </a:r>
            <a:r>
              <a:rPr lang="en-US" b="0" noProof="0" dirty="0" err="1"/>
              <a:t>chaque</a:t>
            </a:r>
            <a:r>
              <a:rPr lang="en-US" b="0" noProof="0" dirty="0"/>
              <a:t> </a:t>
            </a:r>
            <a:r>
              <a:rPr lang="en-US" b="0" noProof="0" dirty="0" err="1"/>
              <a:t>analyse</a:t>
            </a:r>
            <a:endParaRPr lang="en-US" b="0" noProof="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noProof="0" dirty="0"/>
              <a:t> Chemins de logs : </a:t>
            </a:r>
            <a:r>
              <a:rPr lang="en-US" b="0" noProof="0" dirty="0" err="1"/>
              <a:t>Accès</a:t>
            </a:r>
            <a:r>
              <a:rPr lang="en-US" b="0" noProof="0" dirty="0"/>
              <a:t> direct aux logs </a:t>
            </a:r>
            <a:r>
              <a:rPr lang="en-US" b="0" noProof="0" dirty="0" err="1"/>
              <a:t>détaillés</a:t>
            </a:r>
            <a:endParaRPr lang="en-US" b="0" noProof="0" dirty="0"/>
          </a:p>
          <a:p>
            <a:pPr>
              <a:buFont typeface="Arial" panose="020B0604020202020204" pitchFamily="34" charset="0"/>
              <a:buChar char="•"/>
            </a:pPr>
            <a:r>
              <a:rPr lang="en-US" b="0" noProof="0" dirty="0"/>
              <a:t> Codes de sortie : Tracking des succès/</a:t>
            </a:r>
            <a:r>
              <a:rPr lang="en-US" b="0" noProof="0" dirty="0" err="1"/>
              <a:t>échecs</a:t>
            </a:r>
            <a:endParaRPr lang="en-US" b="0" noProof="0" dirty="0"/>
          </a:p>
          <a:p>
            <a:pPr>
              <a:buFont typeface="Arial" panose="020B0604020202020204" pitchFamily="34" charset="0"/>
              <a:buChar char="•"/>
            </a:pPr>
            <a:r>
              <a:rPr lang="en-US" b="0" noProof="0" dirty="0"/>
              <a:t> Audit trail : </a:t>
            </a:r>
            <a:r>
              <a:rPr lang="en-US" b="0" noProof="0" dirty="0" err="1"/>
              <a:t>Suivi</a:t>
            </a:r>
            <a:r>
              <a:rPr lang="en-US" b="0" noProof="0" dirty="0"/>
              <a:t> des actions </a:t>
            </a:r>
            <a:r>
              <a:rPr lang="en-US" b="0" noProof="0" dirty="0" err="1"/>
              <a:t>utilisateurs</a:t>
            </a:r>
            <a:endParaRPr lang="en-US" b="0" noProof="0" dirty="0"/>
          </a:p>
          <a:p>
            <a:endParaRPr lang="fr-FR" dirty="0"/>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17</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7059033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pPr>
              <a:buNone/>
            </a:pPr>
            <a:r>
              <a:rPr lang="en-US" b="0" noProof="0" dirty="0" err="1"/>
              <a:t>Automatisation</a:t>
            </a:r>
            <a:r>
              <a:rPr lang="en-US" b="0" noProof="0" dirty="0"/>
              <a:t> et </a:t>
            </a:r>
            <a:r>
              <a:rPr lang="en-US" b="0" noProof="0" dirty="0" err="1"/>
              <a:t>Optimisation</a:t>
            </a:r>
            <a:endParaRPr lang="en-US" b="0" noProof="0" dirty="0"/>
          </a:p>
          <a:p>
            <a:pPr>
              <a:buNone/>
            </a:pPr>
            <a:r>
              <a:rPr lang="en-US" b="0" noProof="0" dirty="0" err="1"/>
              <a:t>Lancement</a:t>
            </a:r>
            <a:r>
              <a:rPr lang="en-US" b="0" noProof="0" dirty="0"/>
              <a:t> </a:t>
            </a:r>
            <a:r>
              <a:rPr lang="en-US" b="0" noProof="0" dirty="0" err="1"/>
              <a:t>Automatique</a:t>
            </a:r>
            <a:endParaRPr lang="en-US" b="0" noProof="0" dirty="0"/>
          </a:p>
          <a:p>
            <a:pPr>
              <a:buFont typeface="Arial" panose="020B0604020202020204" pitchFamily="34" charset="0"/>
              <a:buChar char="•"/>
            </a:pPr>
            <a:r>
              <a:rPr lang="en-US" b="0" noProof="0" dirty="0" err="1"/>
              <a:t>Détection</a:t>
            </a:r>
            <a:r>
              <a:rPr lang="en-US" b="0" noProof="0" dirty="0"/>
              <a:t> </a:t>
            </a:r>
            <a:r>
              <a:rPr lang="en-US" b="0" noProof="0" dirty="0" err="1"/>
              <a:t>automatique</a:t>
            </a:r>
            <a:r>
              <a:rPr lang="en-US" b="0" noProof="0" dirty="0"/>
              <a:t> des nouveaux </a:t>
            </a:r>
            <a:r>
              <a:rPr lang="en-US" b="0" noProof="0" dirty="0" err="1"/>
              <a:t>échantillons</a:t>
            </a:r>
            <a:endParaRPr lang="en-US" b="0" noProof="0" dirty="0"/>
          </a:p>
          <a:p>
            <a:pPr>
              <a:buFont typeface="Arial" panose="020B0604020202020204" pitchFamily="34" charset="0"/>
              <a:buChar char="•"/>
            </a:pPr>
            <a:r>
              <a:rPr lang="en-US" b="0" noProof="0" dirty="0"/>
              <a:t>Configuration adaptative </a:t>
            </a:r>
            <a:r>
              <a:rPr lang="en-US" b="0" noProof="0" dirty="0" err="1"/>
              <a:t>selon</a:t>
            </a:r>
            <a:r>
              <a:rPr lang="en-US" b="0" noProof="0" dirty="0"/>
              <a:t> le type </a:t>
            </a:r>
            <a:r>
              <a:rPr lang="en-US" b="0" noProof="0" dirty="0" err="1"/>
              <a:t>d'analyse</a:t>
            </a:r>
            <a:endParaRPr lang="en-US" b="0" noProof="0" dirty="0"/>
          </a:p>
          <a:p>
            <a:pPr>
              <a:buFont typeface="Arial" panose="020B0604020202020204" pitchFamily="34" charset="0"/>
              <a:buChar char="•"/>
            </a:pPr>
            <a:r>
              <a:rPr lang="en-US" b="0" noProof="0" dirty="0"/>
              <a:t>Gestion des </a:t>
            </a:r>
            <a:r>
              <a:rPr lang="en-US" b="0" noProof="0" dirty="0" err="1"/>
              <a:t>dépendances</a:t>
            </a:r>
            <a:r>
              <a:rPr lang="en-US" b="0" noProof="0" dirty="0"/>
              <a:t> entre </a:t>
            </a:r>
            <a:r>
              <a:rPr lang="en-US" b="0" noProof="0" dirty="0" err="1"/>
              <a:t>chaque</a:t>
            </a:r>
            <a:r>
              <a:rPr lang="en-US" b="0" noProof="0" dirty="0"/>
              <a:t> étapes</a:t>
            </a:r>
          </a:p>
          <a:p>
            <a:pPr>
              <a:buFont typeface="Arial" panose="020B0604020202020204" pitchFamily="34" charset="0"/>
              <a:buChar char="•"/>
            </a:pPr>
            <a:r>
              <a:rPr lang="en-US" b="0" noProof="0" dirty="0"/>
              <a:t>Relance </a:t>
            </a:r>
            <a:r>
              <a:rPr lang="en-US" b="0" noProof="0" dirty="0" err="1"/>
              <a:t>automatique</a:t>
            </a:r>
            <a:r>
              <a:rPr lang="en-US" b="0" noProof="0" dirty="0"/>
              <a:t> </a:t>
            </a:r>
            <a:r>
              <a:rPr lang="en-US" b="0" noProof="0" dirty="0" err="1"/>
              <a:t>en</a:t>
            </a:r>
            <a:r>
              <a:rPr lang="en-US" b="0" noProof="0" dirty="0"/>
              <a:t> </a:t>
            </a:r>
            <a:r>
              <a:rPr lang="en-US" b="0" noProof="0" dirty="0" err="1"/>
              <a:t>cas</a:t>
            </a:r>
            <a:r>
              <a:rPr lang="en-US" b="0" noProof="0" dirty="0"/>
              <a:t> </a:t>
            </a:r>
            <a:r>
              <a:rPr lang="en-US" b="0" noProof="0" dirty="0" err="1"/>
              <a:t>d'échec</a:t>
            </a:r>
            <a:r>
              <a:rPr lang="en-US" b="0" noProof="0" dirty="0"/>
              <a:t> (</a:t>
            </a:r>
            <a:r>
              <a:rPr lang="en-US" b="0" noProof="0" dirty="0" err="1"/>
              <a:t>jusqu'à</a:t>
            </a:r>
            <a:r>
              <a:rPr lang="en-US" b="0" noProof="0" dirty="0"/>
              <a:t> 3-4 </a:t>
            </a:r>
            <a:r>
              <a:rPr lang="en-US" b="0" noProof="0" dirty="0" err="1"/>
              <a:t>tentatives</a:t>
            </a:r>
            <a:r>
              <a:rPr lang="en-US" b="0" noProof="0" dirty="0"/>
              <a:t>)</a:t>
            </a:r>
          </a:p>
          <a:p>
            <a:pPr>
              <a:buNone/>
            </a:pPr>
            <a:endParaRPr lang="en-US" b="0" noProof="0" dirty="0"/>
          </a:p>
          <a:p>
            <a:pPr>
              <a:buNone/>
            </a:pPr>
            <a:r>
              <a:rPr lang="en-US" b="0" noProof="0" dirty="0" err="1"/>
              <a:t>Optimisation</a:t>
            </a:r>
            <a:r>
              <a:rPr lang="en-US" b="0" noProof="0" dirty="0"/>
              <a:t> des Performances</a:t>
            </a:r>
          </a:p>
          <a:p>
            <a:pPr>
              <a:buFont typeface="Arial" panose="020B0604020202020204" pitchFamily="34" charset="0"/>
              <a:buChar char="•"/>
            </a:pPr>
            <a:r>
              <a:rPr lang="en-US" b="0" noProof="0" dirty="0" err="1"/>
              <a:t>Calcul</a:t>
            </a:r>
            <a:r>
              <a:rPr lang="en-US" b="0" noProof="0" dirty="0"/>
              <a:t> optimal du </a:t>
            </a:r>
            <a:r>
              <a:rPr lang="en-US" b="0" noProof="0" dirty="0" err="1"/>
              <a:t>nombre</a:t>
            </a:r>
            <a:r>
              <a:rPr lang="en-US" b="0" noProof="0" dirty="0"/>
              <a:t> de </a:t>
            </a:r>
            <a:r>
              <a:rPr lang="en-US" b="0" noProof="0" dirty="0" err="1"/>
              <a:t>cœurs</a:t>
            </a:r>
            <a:endParaRPr lang="en-US" b="0" noProof="0" dirty="0"/>
          </a:p>
          <a:p>
            <a:pPr>
              <a:buFont typeface="Arial" panose="020B0604020202020204" pitchFamily="34" charset="0"/>
              <a:buChar char="•"/>
            </a:pPr>
            <a:r>
              <a:rPr lang="en-US" b="0" noProof="0" dirty="0"/>
              <a:t>Consolidation des slots : 48 </a:t>
            </a:r>
            <a:r>
              <a:rPr lang="en-US" b="0" noProof="0" dirty="0" err="1"/>
              <a:t>cœurs</a:t>
            </a:r>
            <a:r>
              <a:rPr lang="en-US" b="0" noProof="0" dirty="0"/>
              <a:t> non-MPI → 1 slot MPI 48 </a:t>
            </a:r>
            <a:r>
              <a:rPr lang="en-US" b="0" noProof="0" dirty="0" err="1"/>
              <a:t>cœurs</a:t>
            </a:r>
            <a:endParaRPr lang="en-US" b="0" noProof="0" dirty="0"/>
          </a:p>
          <a:p>
            <a:pPr>
              <a:buFont typeface="Arial" panose="020B0604020202020204" pitchFamily="34" charset="0"/>
              <a:buChar char="•"/>
            </a:pPr>
            <a:r>
              <a:rPr lang="en-US" b="0" noProof="0" dirty="0" err="1"/>
              <a:t>Parallélisation</a:t>
            </a:r>
            <a:r>
              <a:rPr lang="en-US" b="0" noProof="0" dirty="0"/>
              <a:t> </a:t>
            </a:r>
            <a:r>
              <a:rPr lang="en-US" b="0" noProof="0" dirty="0" err="1"/>
              <a:t>intelligente</a:t>
            </a:r>
            <a:r>
              <a:rPr lang="en-US" b="0" noProof="0" dirty="0"/>
              <a:t> </a:t>
            </a:r>
            <a:r>
              <a:rPr lang="en-US" b="0" noProof="0" dirty="0" err="1"/>
              <a:t>selon</a:t>
            </a:r>
            <a:r>
              <a:rPr lang="en-US" b="0" noProof="0" dirty="0"/>
              <a:t> le </a:t>
            </a:r>
            <a:r>
              <a:rPr lang="en-US" b="0" noProof="0" dirty="0" err="1"/>
              <a:t>nombre</a:t>
            </a:r>
            <a:r>
              <a:rPr lang="en-US" b="0" noProof="0" dirty="0"/>
              <a:t> </a:t>
            </a:r>
            <a:r>
              <a:rPr lang="en-US" b="0" noProof="0" dirty="0" err="1"/>
              <a:t>d'échantillons</a:t>
            </a:r>
            <a:endParaRPr lang="en-US" b="0" noProof="0" dirty="0"/>
          </a:p>
          <a:p>
            <a:pPr>
              <a:buFont typeface="Arial" panose="020B0604020202020204" pitchFamily="34" charset="0"/>
              <a:buChar char="•"/>
            </a:pPr>
            <a:r>
              <a:rPr lang="en-US" b="0" noProof="0" dirty="0" err="1"/>
              <a:t>Réduction</a:t>
            </a:r>
            <a:r>
              <a:rPr lang="en-US" b="0" noProof="0" dirty="0"/>
              <a:t> de </a:t>
            </a:r>
            <a:r>
              <a:rPr lang="en-US" b="0" noProof="0" dirty="0" err="1"/>
              <a:t>l'encombrement</a:t>
            </a:r>
            <a:r>
              <a:rPr lang="en-US" b="0" noProof="0" dirty="0"/>
              <a:t> des files </a:t>
            </a:r>
            <a:r>
              <a:rPr lang="en-US" b="0" noProof="0" dirty="0" err="1"/>
              <a:t>d'attente</a:t>
            </a:r>
            <a:endParaRPr lang="en-US" b="0" noProof="0" dirty="0"/>
          </a:p>
          <a:p>
            <a:pPr>
              <a:buNone/>
            </a:pPr>
            <a:endParaRPr lang="en-US" b="0" noProof="0" dirty="0"/>
          </a:p>
          <a:p>
            <a:pPr>
              <a:buNone/>
            </a:pPr>
            <a:r>
              <a:rPr lang="en-US" b="0" noProof="0" dirty="0"/>
              <a:t>Système de Notifications</a:t>
            </a:r>
          </a:p>
          <a:p>
            <a:pPr>
              <a:buFont typeface="Arial" panose="020B0604020202020204" pitchFamily="34" charset="0"/>
              <a:buChar char="•"/>
            </a:pPr>
            <a:r>
              <a:rPr lang="en-US" b="0" noProof="0" dirty="0"/>
              <a:t>📧 Email </a:t>
            </a:r>
            <a:r>
              <a:rPr lang="en-US" b="0" noProof="0" dirty="0" err="1"/>
              <a:t>automatique</a:t>
            </a:r>
            <a:r>
              <a:rPr lang="en-US" b="0" noProof="0" dirty="0"/>
              <a:t> : Fin de run, </a:t>
            </a:r>
            <a:r>
              <a:rPr lang="en-US" b="0" noProof="0" dirty="0" err="1"/>
              <a:t>échecs</a:t>
            </a:r>
            <a:r>
              <a:rPr lang="en-US" b="0" noProof="0" dirty="0"/>
              <a:t> </a:t>
            </a:r>
            <a:r>
              <a:rPr lang="en-US" b="0" noProof="0" dirty="0" err="1"/>
              <a:t>récurrents</a:t>
            </a:r>
            <a:endParaRPr lang="en-US" b="0" noProof="0" dirty="0"/>
          </a:p>
          <a:p>
            <a:pPr>
              <a:buFont typeface="Arial" panose="020B0604020202020204" pitchFamily="34" charset="0"/>
              <a:buChar char="•"/>
            </a:pPr>
            <a:r>
              <a:rPr lang="en-US" b="0" noProof="0" dirty="0"/>
              <a:t>🔔 Notifications web : </a:t>
            </a:r>
            <a:r>
              <a:rPr lang="en-US" b="0" noProof="0" dirty="0" err="1"/>
              <a:t>Alertes</a:t>
            </a:r>
            <a:r>
              <a:rPr lang="en-US" b="0" noProof="0" dirty="0"/>
              <a:t> temps </a:t>
            </a:r>
            <a:r>
              <a:rPr lang="en-US" b="0" noProof="0" dirty="0" err="1"/>
              <a:t>réel</a:t>
            </a:r>
            <a:endParaRPr lang="en-US" b="0" noProof="0" dirty="0"/>
          </a:p>
          <a:p>
            <a:pPr>
              <a:buFont typeface="Arial" panose="020B0604020202020204" pitchFamily="34" charset="0"/>
              <a:buChar char="•"/>
            </a:pPr>
            <a:r>
              <a:rPr lang="en-US" b="0" noProof="0" dirty="0"/>
              <a:t>📝 Rapports : </a:t>
            </a:r>
            <a:r>
              <a:rPr lang="en-US" b="0" noProof="0" dirty="0" err="1"/>
              <a:t>Génération</a:t>
            </a:r>
            <a:r>
              <a:rPr lang="en-US" b="0" noProof="0" dirty="0"/>
              <a:t> </a:t>
            </a:r>
            <a:r>
              <a:rPr lang="en-US" b="0" noProof="0" dirty="0" err="1"/>
              <a:t>automatique</a:t>
            </a:r>
            <a:r>
              <a:rPr lang="en-US" b="0" noProof="0" dirty="0"/>
              <a:t> de rapports</a:t>
            </a:r>
          </a:p>
          <a:p>
            <a:endParaRPr lang="fr-FR" b="0" dirty="0"/>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18</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5694182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pPr>
              <a:buNone/>
            </a:pPr>
            <a:r>
              <a:rPr lang="en-US" b="0" noProof="0" dirty="0" err="1"/>
              <a:t>Bénéfices</a:t>
            </a:r>
            <a:r>
              <a:rPr lang="en-US" b="0" noProof="0" dirty="0"/>
              <a:t> et Impact</a:t>
            </a:r>
          </a:p>
          <a:p>
            <a:pPr>
              <a:buNone/>
            </a:pPr>
            <a:endParaRPr lang="en-US" b="0" noProof="0" dirty="0"/>
          </a:p>
          <a:p>
            <a:pPr>
              <a:buNone/>
            </a:pPr>
            <a:r>
              <a:rPr lang="en-US" b="0" noProof="0" dirty="0"/>
              <a:t>Pour les </a:t>
            </a:r>
            <a:r>
              <a:rPr lang="en-US" b="0" noProof="0" dirty="0" err="1"/>
              <a:t>Utilisateurs</a:t>
            </a:r>
            <a:endParaRPr lang="en-US" b="0" noProof="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noProof="0" dirty="0"/>
              <a:t> Plus accessible : Interface </a:t>
            </a:r>
            <a:r>
              <a:rPr lang="en-US" b="0" noProof="0" dirty="0" err="1"/>
              <a:t>moderne</a:t>
            </a:r>
            <a:r>
              <a:rPr lang="en-US" b="0" noProof="0" dirty="0"/>
              <a:t> et intuitive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noProof="0" dirty="0"/>
              <a:t> </a:t>
            </a:r>
            <a:r>
              <a:rPr lang="en-US" b="0" noProof="0" dirty="0" err="1"/>
              <a:t>Visibilité</a:t>
            </a:r>
            <a:r>
              <a:rPr lang="en-US" b="0" noProof="0" dirty="0"/>
              <a:t> : on a </a:t>
            </a:r>
            <a:r>
              <a:rPr lang="en-US" b="0" noProof="0" dirty="0" err="1"/>
              <a:t>une</a:t>
            </a:r>
            <a:r>
              <a:rPr lang="en-US" b="0" noProof="0" dirty="0"/>
              <a:t> </a:t>
            </a:r>
            <a:r>
              <a:rPr lang="en-US" b="0" noProof="0" dirty="0" err="1"/>
              <a:t>vue</a:t>
            </a:r>
            <a:r>
              <a:rPr lang="en-US" b="0" noProof="0" dirty="0"/>
              <a:t> </a:t>
            </a:r>
            <a:r>
              <a:rPr lang="en-US" b="0" noProof="0" dirty="0" err="1"/>
              <a:t>d'ensemble</a:t>
            </a:r>
            <a:r>
              <a:rPr lang="en-US" b="0" noProof="0" dirty="0"/>
              <a:t> </a:t>
            </a:r>
            <a:r>
              <a:rPr lang="en-US" b="0" noProof="0" dirty="0" err="1"/>
              <a:t>claire</a:t>
            </a:r>
            <a:r>
              <a:rPr lang="en-US" b="0" noProof="0" dirty="0"/>
              <a:t> de </a:t>
            </a:r>
            <a:r>
              <a:rPr lang="en-US" b="0" noProof="0" dirty="0" err="1"/>
              <a:t>l'activité</a:t>
            </a:r>
            <a:endParaRPr lang="en-US" b="0" noProof="0" dirty="0"/>
          </a:p>
          <a:p>
            <a:pPr>
              <a:buFont typeface="Arial" panose="020B0604020202020204" pitchFamily="34" charset="0"/>
              <a:buChar char="•"/>
            </a:pPr>
            <a:r>
              <a:rPr lang="en-US" b="0" noProof="0" dirty="0"/>
              <a:t> Gain de temps : Plus de </a:t>
            </a:r>
            <a:r>
              <a:rPr lang="en-US" b="0" noProof="0" dirty="0" err="1"/>
              <a:t>commandes</a:t>
            </a:r>
            <a:r>
              <a:rPr lang="en-US" b="0" noProof="0" dirty="0"/>
              <a:t> bash </a:t>
            </a:r>
            <a:r>
              <a:rPr lang="en-US" b="0" noProof="0" dirty="0" err="1"/>
              <a:t>répétitives</a:t>
            </a:r>
            <a:endParaRPr lang="en-US" b="0" noProof="0" dirty="0"/>
          </a:p>
          <a:p>
            <a:pPr>
              <a:buFont typeface="Arial" panose="020B0604020202020204" pitchFamily="34" charset="0"/>
              <a:buChar char="•"/>
            </a:pPr>
            <a:r>
              <a:rPr lang="en-US" b="0" noProof="0" dirty="0"/>
              <a:t> Focus : Concentration sur le </a:t>
            </a:r>
            <a:r>
              <a:rPr lang="en-US" b="0" noProof="0" dirty="0" err="1"/>
              <a:t>developpement</a:t>
            </a:r>
            <a:r>
              <a:rPr lang="en-US" b="0" noProof="0" dirty="0"/>
              <a:t> et la recherche, pas </a:t>
            </a:r>
            <a:r>
              <a:rPr lang="en-US" b="0" noProof="0" dirty="0" err="1"/>
              <a:t>l'administratif</a:t>
            </a:r>
            <a:endParaRPr lang="en-US" b="0" noProof="0" dirty="0"/>
          </a:p>
          <a:p>
            <a:pPr>
              <a:buNone/>
            </a:pPr>
            <a:endParaRPr lang="en-US" b="0" noProof="0" dirty="0"/>
          </a:p>
          <a:p>
            <a:pPr>
              <a:buNone/>
            </a:pPr>
            <a:r>
              <a:rPr lang="en-US" b="0" noProof="0" dirty="0"/>
              <a:t>Pour </a:t>
            </a:r>
            <a:r>
              <a:rPr lang="en-US" b="0" noProof="0" dirty="0" err="1"/>
              <a:t>l'Infrastructure</a:t>
            </a:r>
            <a:endParaRPr lang="en-US" b="0" noProof="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noProof="0" dirty="0"/>
              <a:t> </a:t>
            </a:r>
            <a:r>
              <a:rPr lang="en-US" b="0" noProof="0" dirty="0" err="1"/>
              <a:t>Fiabilité</a:t>
            </a:r>
            <a:r>
              <a:rPr lang="en-US" b="0" noProof="0" dirty="0"/>
              <a:t> : Gestion </a:t>
            </a:r>
            <a:r>
              <a:rPr lang="en-US" b="0" noProof="0" dirty="0" err="1"/>
              <a:t>automatique</a:t>
            </a:r>
            <a:r>
              <a:rPr lang="en-US" b="0" noProof="0" dirty="0"/>
              <a:t> des </a:t>
            </a:r>
            <a:r>
              <a:rPr lang="en-US" b="0" noProof="0" dirty="0" err="1"/>
              <a:t>erreurs</a:t>
            </a:r>
            <a:endParaRPr lang="en-US" b="0" noProof="0"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noProof="0" dirty="0"/>
              <a:t> </a:t>
            </a:r>
            <a:r>
              <a:rPr lang="en-US" b="0" noProof="0" dirty="0" err="1"/>
              <a:t>Utilisation</a:t>
            </a:r>
            <a:r>
              <a:rPr lang="en-US" b="0" noProof="0" dirty="0"/>
              <a:t> : </a:t>
            </a:r>
            <a:r>
              <a:rPr lang="en-US" b="0" noProof="0" dirty="0" err="1"/>
              <a:t>Meilleure</a:t>
            </a:r>
            <a:r>
              <a:rPr lang="en-US" b="0" noProof="0" dirty="0"/>
              <a:t> </a:t>
            </a:r>
            <a:r>
              <a:rPr lang="en-US" b="0" noProof="0" dirty="0" err="1"/>
              <a:t>répartition</a:t>
            </a:r>
            <a:r>
              <a:rPr lang="en-US" b="0" noProof="0" dirty="0"/>
              <a:t> de la charge</a:t>
            </a:r>
          </a:p>
          <a:p>
            <a:pPr>
              <a:buFont typeface="Arial" panose="020B0604020202020204" pitchFamily="34" charset="0"/>
              <a:buChar char="•"/>
            </a:pPr>
            <a:r>
              <a:rPr lang="en-US" b="0" noProof="0" dirty="0"/>
              <a:t> Performance : </a:t>
            </a:r>
            <a:r>
              <a:rPr lang="en-US" b="0" noProof="0" dirty="0" err="1"/>
              <a:t>Optimisation</a:t>
            </a:r>
            <a:r>
              <a:rPr lang="en-US" b="0" noProof="0" dirty="0"/>
              <a:t> </a:t>
            </a:r>
            <a:r>
              <a:rPr lang="en-US" b="0" noProof="0" dirty="0" err="1"/>
              <a:t>automatique</a:t>
            </a:r>
            <a:r>
              <a:rPr lang="en-US" b="0" noProof="0" dirty="0"/>
              <a:t> des </a:t>
            </a:r>
            <a:r>
              <a:rPr lang="en-US" b="0" noProof="0" dirty="0" err="1"/>
              <a:t>ressources</a:t>
            </a:r>
            <a:endParaRPr lang="en-US" b="0" noProof="0" dirty="0"/>
          </a:p>
          <a:p>
            <a:pPr>
              <a:buFont typeface="Arial" panose="020B0604020202020204" pitchFamily="34" charset="0"/>
              <a:buChar char="•"/>
            </a:pPr>
            <a:r>
              <a:rPr lang="en-US" b="0" noProof="0" dirty="0"/>
              <a:t> </a:t>
            </a:r>
            <a:r>
              <a:rPr lang="en-US" b="0" noProof="0" dirty="0" err="1"/>
              <a:t>Evolutif</a:t>
            </a:r>
            <a:r>
              <a:rPr lang="en-US" b="0" noProof="0" dirty="0"/>
              <a:t> : Support de plus </a:t>
            </a:r>
            <a:r>
              <a:rPr lang="en-US" b="0" noProof="0" dirty="0" err="1"/>
              <a:t>d'échantillons</a:t>
            </a:r>
            <a:r>
              <a:rPr lang="en-US" b="0" noProof="0" dirty="0"/>
              <a:t> </a:t>
            </a:r>
            <a:r>
              <a:rPr lang="en-US" b="0" noProof="0" dirty="0" err="1"/>
              <a:t>en</a:t>
            </a:r>
            <a:r>
              <a:rPr lang="en-US" b="0" noProof="0" dirty="0"/>
              <a:t> </a:t>
            </a:r>
            <a:r>
              <a:rPr lang="en-US" b="0" noProof="0" dirty="0" err="1"/>
              <a:t>simultanés</a:t>
            </a:r>
            <a:endParaRPr lang="en-US" b="0" noProof="0" dirty="0"/>
          </a:p>
          <a:p>
            <a:endParaRPr lang="fr-FR" b="0" dirty="0"/>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19</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6751000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r>
              <a:rPr lang="fr-FR" b="1" dirty="0"/>
              <a:t>🗓️ Planning et Phases de Développement</a:t>
            </a:r>
          </a:p>
          <a:p>
            <a:endParaRPr lang="fr-FR" b="1" dirty="0"/>
          </a:p>
          <a:p>
            <a:r>
              <a:rPr lang="fr-FR" b="1" dirty="0"/>
              <a:t>Phase 1 – Fondation &amp; Interface</a:t>
            </a:r>
          </a:p>
          <a:p>
            <a:r>
              <a:rPr lang="fr-FR" dirty="0"/>
              <a:t>✅ </a:t>
            </a:r>
            <a:r>
              <a:rPr lang="fr-FR" b="1" dirty="0"/>
              <a:t>Moteur d'orchestration</a:t>
            </a:r>
            <a:r>
              <a:rPr lang="fr-FR" dirty="0"/>
              <a:t> principal</a:t>
            </a:r>
          </a:p>
          <a:p>
            <a:r>
              <a:rPr lang="fr-FR" dirty="0"/>
              <a:t>✅ </a:t>
            </a:r>
            <a:r>
              <a:rPr lang="fr-FR" b="1" dirty="0"/>
              <a:t>Tableau de bord </a:t>
            </a:r>
            <a:r>
              <a:rPr lang="fr-FR" b="1" dirty="0" err="1"/>
              <a:t>React</a:t>
            </a:r>
            <a:r>
              <a:rPr lang="fr-FR" dirty="0"/>
              <a:t> avec monitoring temps réel</a:t>
            </a:r>
          </a:p>
          <a:p>
            <a:endParaRPr lang="fr-FR" b="1" dirty="0"/>
          </a:p>
          <a:p>
            <a:r>
              <a:rPr lang="fr-FR" b="1" dirty="0"/>
              <a:t>Phase 2 - Optimisation </a:t>
            </a:r>
          </a:p>
          <a:p>
            <a:r>
              <a:rPr lang="fr-FR" dirty="0"/>
              <a:t>🔧 </a:t>
            </a:r>
            <a:r>
              <a:rPr lang="fr-FR" b="1" dirty="0"/>
              <a:t>Algorithmes d'optimisation</a:t>
            </a:r>
            <a:r>
              <a:rPr lang="fr-FR" dirty="0"/>
              <a:t> avancés</a:t>
            </a:r>
          </a:p>
          <a:p>
            <a:r>
              <a:rPr lang="fr-FR" dirty="0"/>
              <a:t>📊 </a:t>
            </a:r>
            <a:r>
              <a:rPr lang="fr-FR" b="1" dirty="0"/>
              <a:t>Métriques de performance</a:t>
            </a:r>
            <a:r>
              <a:rPr lang="fr-FR" dirty="0"/>
              <a:t> détaillées</a:t>
            </a:r>
          </a:p>
          <a:p>
            <a:r>
              <a:rPr lang="fr-FR" dirty="0"/>
              <a:t>🎯 </a:t>
            </a:r>
            <a:r>
              <a:rPr lang="fr-FR" b="1" dirty="0"/>
              <a:t>Regroupement intelligent</a:t>
            </a:r>
            <a:r>
              <a:rPr lang="fr-FR" dirty="0"/>
              <a:t> des tâches</a:t>
            </a:r>
          </a:p>
          <a:p>
            <a:endParaRPr lang="fr-FR" b="1" dirty="0"/>
          </a:p>
          <a:p>
            <a:r>
              <a:rPr lang="fr-FR" b="1" dirty="0"/>
              <a:t>Phase 3 - IA et Prédiction</a:t>
            </a:r>
          </a:p>
          <a:p>
            <a:r>
              <a:rPr lang="fr-FR" dirty="0"/>
              <a:t>🤖 </a:t>
            </a:r>
            <a:r>
              <a:rPr lang="fr-FR" b="1" dirty="0"/>
              <a:t>Machine Learning</a:t>
            </a:r>
            <a:r>
              <a:rPr lang="fr-FR" dirty="0"/>
              <a:t> pour prédiction des performances</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 </a:t>
            </a:r>
            <a:r>
              <a:rPr lang="fr-FR" b="1" dirty="0"/>
              <a:t>Analyse des redondances</a:t>
            </a:r>
            <a:r>
              <a:rPr lang="fr-FR" dirty="0"/>
              <a:t> d'utilisation</a:t>
            </a:r>
          </a:p>
          <a:p>
            <a:r>
              <a:rPr lang="fr-FR" dirty="0"/>
              <a:t>🎯 </a:t>
            </a:r>
            <a:r>
              <a:rPr lang="fr-FR" b="1" dirty="0"/>
              <a:t>Optimisation </a:t>
            </a:r>
            <a:r>
              <a:rPr lang="fr-FR" dirty="0"/>
              <a:t>des ressources de manière prédictive</a:t>
            </a:r>
          </a:p>
          <a:p>
            <a:endParaRPr lang="fr-FR" dirty="0"/>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20</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1572257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0" y="812800"/>
            <a:ext cx="0" cy="0"/>
          </a:xfrm>
        </p:spPr>
      </p:sp>
      <p:sp>
        <p:nvSpPr>
          <p:cNvPr id="3" name="Espace réservé des notes 2"/>
          <p:cNvSpPr>
            <a:spLocks noGrp="1"/>
          </p:cNvSpPr>
          <p:nvPr>
            <p:ph type="body" idx="1"/>
          </p:nvPr>
        </p:nvSpPr>
        <p:spPr/>
        <p:txBody>
          <a:bodyPr/>
          <a:lstStyle/>
          <a:p>
            <a:pPr>
              <a:buNone/>
            </a:pPr>
            <a:r>
              <a:rPr lang="en-US" b="1" noProof="0" dirty="0"/>
              <a:t>Transformation </a:t>
            </a:r>
            <a:r>
              <a:rPr lang="en-US" b="1" noProof="0" dirty="0" err="1"/>
              <a:t>Digitale</a:t>
            </a:r>
            <a:endParaRPr lang="en-US" b="1" noProof="0" dirty="0"/>
          </a:p>
          <a:p>
            <a:pPr>
              <a:buNone/>
            </a:pPr>
            <a:r>
              <a:rPr lang="en-US" b="1" noProof="0" dirty="0"/>
              <a:t>Quark</a:t>
            </a:r>
            <a:r>
              <a:rPr lang="en-US" noProof="0" dirty="0"/>
              <a:t> </a:t>
            </a:r>
            <a:r>
              <a:rPr lang="en-US" noProof="0" dirty="0" err="1"/>
              <a:t>représente</a:t>
            </a:r>
            <a:r>
              <a:rPr lang="en-US" noProof="0" dirty="0"/>
              <a:t> un bond </a:t>
            </a:r>
            <a:r>
              <a:rPr lang="en-US" noProof="0" dirty="0" err="1"/>
              <a:t>en</a:t>
            </a:r>
            <a:r>
              <a:rPr lang="en-US" noProof="0" dirty="0"/>
              <a:t> </a:t>
            </a:r>
            <a:r>
              <a:rPr lang="en-US" noProof="0" dirty="0" err="1"/>
              <a:t>avant</a:t>
            </a:r>
            <a:r>
              <a:rPr lang="en-US" noProof="0" dirty="0"/>
              <a:t> </a:t>
            </a:r>
            <a:r>
              <a:rPr lang="en-US" noProof="0" dirty="0" err="1"/>
              <a:t>vers</a:t>
            </a:r>
            <a:r>
              <a:rPr lang="en-US" noProof="0" dirty="0"/>
              <a:t> la </a:t>
            </a:r>
            <a:r>
              <a:rPr lang="en-US" noProof="0" dirty="0" err="1"/>
              <a:t>modernisation</a:t>
            </a:r>
            <a:r>
              <a:rPr lang="en-US" noProof="0" dirty="0"/>
              <a:t> de la gestion des analyses </a:t>
            </a:r>
            <a:r>
              <a:rPr lang="en-US" noProof="0" dirty="0" err="1"/>
              <a:t>bioinformatiques</a:t>
            </a:r>
            <a:endParaRPr lang="en-US" noProof="0" dirty="0"/>
          </a:p>
          <a:p>
            <a:pPr>
              <a:buNone/>
            </a:pPr>
            <a:r>
              <a:rPr lang="en-US" b="1" noProof="0" dirty="0"/>
              <a:t>Valeur </a:t>
            </a:r>
            <a:r>
              <a:rPr lang="en-US" b="1" noProof="0" dirty="0" err="1"/>
              <a:t>Ajoutée</a:t>
            </a:r>
            <a:endParaRPr lang="en-US" b="1" noProof="0" dirty="0"/>
          </a:p>
          <a:p>
            <a:pPr>
              <a:buFont typeface="Arial" panose="020B0604020202020204" pitchFamily="34" charset="0"/>
              <a:buChar char="•"/>
            </a:pPr>
            <a:r>
              <a:rPr lang="en-US" b="1" noProof="0" dirty="0" err="1"/>
              <a:t>Efficacité</a:t>
            </a:r>
            <a:r>
              <a:rPr lang="en-US" b="1" noProof="0" dirty="0"/>
              <a:t> </a:t>
            </a:r>
            <a:r>
              <a:rPr lang="en-US" b="1" noProof="0" dirty="0" err="1"/>
              <a:t>opérationnelle</a:t>
            </a:r>
            <a:r>
              <a:rPr lang="en-US" noProof="0" dirty="0"/>
              <a:t> : Ligne de </a:t>
            </a:r>
            <a:r>
              <a:rPr lang="en-US" noProof="0" dirty="0" err="1"/>
              <a:t>commande</a:t>
            </a:r>
            <a:r>
              <a:rPr lang="en-US" noProof="0" dirty="0"/>
              <a:t> -&gt; Interface modern</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1" noProof="0" dirty="0"/>
              <a:t>Focus métier</a:t>
            </a:r>
            <a:r>
              <a:rPr lang="en-US" noProof="0" dirty="0"/>
              <a:t> : Plus de temps pour le </a:t>
            </a:r>
            <a:r>
              <a:rPr lang="en-US" noProof="0" dirty="0" err="1"/>
              <a:t>developpement</a:t>
            </a:r>
            <a:r>
              <a:rPr lang="en-US" noProof="0" dirty="0"/>
              <a:t> et la recherche, </a:t>
            </a:r>
            <a:r>
              <a:rPr lang="en-US" noProof="0" dirty="0" err="1"/>
              <a:t>moins</a:t>
            </a:r>
            <a:r>
              <a:rPr lang="en-US" noProof="0" dirty="0"/>
              <a:t> pour </a:t>
            </a:r>
            <a:r>
              <a:rPr lang="en-US" noProof="0" dirty="0" err="1"/>
              <a:t>l'administratif</a:t>
            </a:r>
            <a:r>
              <a:rPr lang="en-US" noProof="0" dirty="0"/>
              <a:t> (</a:t>
            </a:r>
            <a:r>
              <a:rPr lang="en-US" noProof="0" dirty="0" err="1"/>
              <a:t>gérer</a:t>
            </a:r>
            <a:r>
              <a:rPr lang="en-US" noProof="0" dirty="0"/>
              <a:t> les </a:t>
            </a:r>
            <a:r>
              <a:rPr lang="en-US" noProof="0" dirty="0" err="1"/>
              <a:t>erreurs</a:t>
            </a:r>
            <a:r>
              <a:rPr lang="en-US" noProof="0" dirty="0"/>
              <a:t> </a:t>
            </a:r>
            <a:r>
              <a:rPr lang="en-US" noProof="0" dirty="0" err="1"/>
              <a:t>etc</a:t>
            </a:r>
            <a:r>
              <a:rPr lang="en-US" noProof="0" dirty="0"/>
              <a:t>)</a:t>
            </a:r>
          </a:p>
          <a:p>
            <a:pPr>
              <a:buFont typeface="Arial" panose="020B0604020202020204" pitchFamily="34" charset="0"/>
              <a:buChar char="•"/>
            </a:pPr>
            <a:r>
              <a:rPr lang="en-US" b="1" noProof="0" dirty="0" err="1"/>
              <a:t>Fiabilité</a:t>
            </a:r>
            <a:r>
              <a:rPr lang="en-US" noProof="0" dirty="0"/>
              <a:t> : Monitoring </a:t>
            </a:r>
            <a:r>
              <a:rPr lang="en-US" noProof="0" dirty="0" err="1"/>
              <a:t>proactif</a:t>
            </a:r>
            <a:r>
              <a:rPr lang="en-US" noProof="0" dirty="0"/>
              <a:t> et gestion </a:t>
            </a:r>
            <a:r>
              <a:rPr lang="en-US" noProof="0" dirty="0" err="1"/>
              <a:t>automatique</a:t>
            </a:r>
            <a:r>
              <a:rPr lang="en-US" noProof="0" dirty="0"/>
              <a:t> des </a:t>
            </a:r>
            <a:r>
              <a:rPr lang="en-US" noProof="0" dirty="0" err="1"/>
              <a:t>erreurs</a:t>
            </a:r>
            <a:endParaRPr lang="en-US" noProof="0" dirty="0"/>
          </a:p>
          <a:p>
            <a:pPr>
              <a:buFont typeface="Arial" panose="020B0604020202020204" pitchFamily="34" charset="0"/>
              <a:buChar char="•"/>
            </a:pPr>
            <a:r>
              <a:rPr lang="en-US" b="1" noProof="0" dirty="0" err="1"/>
              <a:t>Évolutivité</a:t>
            </a:r>
            <a:r>
              <a:rPr lang="en-US" noProof="0" dirty="0"/>
              <a:t> : Architecture </a:t>
            </a:r>
            <a:r>
              <a:rPr lang="en-US" noProof="0" dirty="0" err="1"/>
              <a:t>prête</a:t>
            </a:r>
            <a:r>
              <a:rPr lang="en-US" noProof="0" dirty="0"/>
              <a:t> pour </a:t>
            </a:r>
            <a:r>
              <a:rPr lang="en-US" noProof="0" dirty="0" err="1"/>
              <a:t>acceuillir</a:t>
            </a:r>
            <a:r>
              <a:rPr lang="en-US" noProof="0" dirty="0"/>
              <a:t> plus de </a:t>
            </a:r>
            <a:r>
              <a:rPr lang="en-US" noProof="0" dirty="0" err="1"/>
              <a:t>séquenceurs</a:t>
            </a:r>
            <a:r>
              <a:rPr lang="en-US" noProof="0" dirty="0"/>
              <a:t> et </a:t>
            </a:r>
            <a:r>
              <a:rPr lang="en-US" noProof="0" dirty="0" err="1"/>
              <a:t>intégrer</a:t>
            </a:r>
            <a:r>
              <a:rPr lang="en-US" noProof="0" dirty="0"/>
              <a:t> </a:t>
            </a:r>
            <a:r>
              <a:rPr lang="en-US" noProof="0" dirty="0" err="1"/>
              <a:t>l'IA</a:t>
            </a:r>
            <a:endParaRPr lang="en-US" noProof="0" dirty="0"/>
          </a:p>
          <a:p>
            <a:endParaRPr lang="fr-FR" dirty="0"/>
          </a:p>
        </p:txBody>
      </p:sp>
      <p:sp>
        <p:nvSpPr>
          <p:cNvPr id="4" name="Espace réservé du numéro de diapositive 3"/>
          <p:cNvSpPr>
            <a:spLocks noGrp="1"/>
          </p:cNvSpPr>
          <p:nvPr>
            <p:ph type="sldNum" idx="39"/>
          </p:nvPr>
        </p:nvSpPr>
        <p:spPr/>
        <p:txBody>
          <a:bodyPr/>
          <a:lstStyle/>
          <a:p>
            <a:pPr indent="0" algn="r">
              <a:buNone/>
            </a:pPr>
            <a:fld id="{421586AF-A55E-4B40-A4AC-A404F770EE93}" type="slidenum">
              <a:rPr lang="fr-FR" sz="1400" b="0" u="none" strike="noStrike" smtClean="0">
                <a:solidFill>
                  <a:srgbClr val="000000"/>
                </a:solidFill>
                <a:effectLst/>
                <a:uFillTx/>
                <a:latin typeface="Times New Roman"/>
              </a:rPr>
              <a:t>21</a:t>
            </a:fld>
            <a:endParaRPr lang="fr-FR"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863730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3" name="PlaceHolder 2"/>
          <p:cNvSpPr>
            <a:spLocks noGrp="1"/>
          </p:cNvSpPr>
          <p:nvPr>
            <p:ph type="body"/>
          </p:nvPr>
        </p:nvSpPr>
        <p:spPr>
          <a:xfrm>
            <a:off x="50292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4" name="PlaceHolder 3"/>
          <p:cNvSpPr>
            <a:spLocks noGrp="1"/>
          </p:cNvSpPr>
          <p:nvPr>
            <p:ph type="body"/>
          </p:nvPr>
        </p:nvSpPr>
        <p:spPr>
          <a:xfrm>
            <a:off x="513864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5" name="PlaceHolder 4"/>
          <p:cNvSpPr>
            <a:spLocks noGrp="1"/>
          </p:cNvSpPr>
          <p:nvPr>
            <p:ph type="body"/>
          </p:nvPr>
        </p:nvSpPr>
        <p:spPr>
          <a:xfrm>
            <a:off x="502920" y="3032280"/>
            <a:ext cx="9046800" cy="1556280"/>
          </a:xfrm>
          <a:prstGeom prst="rect">
            <a:avLst/>
          </a:prstGeom>
          <a:noFill/>
          <a:ln w="0">
            <a:noFill/>
          </a:ln>
        </p:spPr>
        <p:txBody>
          <a:bodyPr lIns="0" tIns="28440" rIns="0" bIns="0" anchor="t">
            <a:normAutofit fontScale="7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6" name="PlaceHolder 5"/>
          <p:cNvSpPr>
            <a:spLocks noGrp="1"/>
          </p:cNvSpPr>
          <p:nvPr>
            <p:ph type="ftr" idx="1"/>
          </p:nvPr>
        </p:nvSpPr>
        <p:spPr>
          <a:xfrm>
            <a:off x="3447720" y="5165280"/>
            <a:ext cx="3171600" cy="366480"/>
          </a:xfrm>
          <a:prstGeom prst="rect">
            <a:avLst/>
          </a:prstGeom>
          <a:noFill/>
          <a:ln w="0">
            <a:noFill/>
          </a:ln>
        </p:spPr>
        <p:txBody>
          <a:bodyPr lIns="0" tIns="0" rIns="0" bIns="0" anchor="t">
            <a:noAutofit/>
          </a:bodyPr>
          <a:lstStyle>
            <a:lvl1pPr indent="0" algn="ct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ctr">
              <a:lnSpc>
                <a:spcPct val="93000"/>
              </a:lnSpc>
              <a:spcBef>
                <a:spcPts val="74"/>
              </a:spcBef>
              <a:spcAft>
                <a:spcPts val="74"/>
              </a:spcAft>
              <a:buNone/>
              <a:tabLst>
                <a:tab pos="0" algn="l"/>
              </a:tabLst>
            </a:pPr>
            <a:r>
              <a:rPr lang="fr-FR"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7" name="PlaceHolder 6"/>
          <p:cNvSpPr>
            <a:spLocks noGrp="1"/>
          </p:cNvSpPr>
          <p:nvPr>
            <p:ph type="sldNum" idx="2"/>
          </p:nvPr>
        </p:nvSpPr>
        <p:spPr>
          <a:xfrm>
            <a:off x="7227720" y="5165280"/>
            <a:ext cx="2323800" cy="366480"/>
          </a:xfrm>
          <a:prstGeom prst="rect">
            <a:avLst/>
          </a:prstGeom>
          <a:noFill/>
          <a:ln w="0">
            <a:noFill/>
          </a:ln>
        </p:spPr>
        <p:txBody>
          <a:bodyPr lIns="0" tIns="0" rIns="0" bIns="0" anchor="t">
            <a:noAutofit/>
          </a:bodyPr>
          <a:lstStyle>
            <a:lvl1pPr indent="0" algn="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r">
              <a:lnSpc>
                <a:spcPct val="93000"/>
              </a:lnSpc>
              <a:spcBef>
                <a:spcPts val="74"/>
              </a:spcBef>
              <a:spcAft>
                <a:spcPts val="74"/>
              </a:spcAft>
              <a:buNone/>
              <a:tabLst>
                <a:tab pos="0" algn="l"/>
              </a:tabLst>
            </a:pPr>
            <a:fld id="{17A15D10-0F03-410A-980C-9335551697B5}" type="slidenum">
              <a:rPr lang="fr-FR" sz="1400" b="0" u="none" strike="noStrike">
                <a:solidFill>
                  <a:srgbClr val="000000"/>
                </a:solidFill>
                <a:effectLst/>
                <a:uFillTx/>
                <a:latin typeface="Times New Roman"/>
                <a:ea typeface="DejaVu Sans"/>
              </a:rPr>
              <a:t>‹N°›</a:t>
            </a:fld>
            <a:endParaRPr lang="fr-FR" sz="1400" b="0" u="none" strike="noStrike">
              <a:solidFill>
                <a:srgbClr val="000000"/>
              </a:solidFill>
              <a:effectLst/>
              <a:uFillTx/>
              <a:latin typeface="Times New Roman"/>
            </a:endParaRPr>
          </a:p>
        </p:txBody>
      </p:sp>
      <p:sp>
        <p:nvSpPr>
          <p:cNvPr id="8" name="PlaceHolder 7"/>
          <p:cNvSpPr>
            <a:spLocks noGrp="1"/>
          </p:cNvSpPr>
          <p:nvPr>
            <p:ph type="dt" idx="3"/>
          </p:nvPr>
        </p:nvSpPr>
        <p:spPr>
          <a:xfrm>
            <a:off x="503280" y="5165280"/>
            <a:ext cx="2323800" cy="366480"/>
          </a:xfrm>
          <a:prstGeom prst="rect">
            <a:avLst/>
          </a:prstGeom>
          <a:noFill/>
          <a:ln w="0">
            <a:noFill/>
          </a:ln>
        </p:spPr>
        <p:txBody>
          <a:bodyPr lIns="0" tIns="0" rIns="0" bIns="0" anchor="t">
            <a:noAutofit/>
          </a:bodyPr>
          <a:lstStyle>
            <a:lvl1pPr indent="0">
              <a:buNone/>
              <a:defRPr lang="fr-FR" sz="1400" b="0" u="none" strike="noStrike">
                <a:solidFill>
                  <a:srgbClr val="000000"/>
                </a:solidFill>
                <a:effectLst/>
                <a:uFillTx/>
                <a:latin typeface="Times New Roman"/>
              </a:defRPr>
            </a:lvl1pPr>
          </a:lstStyle>
          <a:p>
            <a:pPr indent="0">
              <a:buNone/>
            </a:pPr>
            <a:r>
              <a:rPr lang="fr-FR" sz="1400" b="0" u="none" strike="noStrike">
                <a:solidFill>
                  <a:srgbClr val="000000"/>
                </a:solidFill>
                <a:effectLst/>
                <a:uFillTx/>
                <a:latin typeface="Times New Roman"/>
              </a:rPr>
              <a:t>&lt;date/heure&gt;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OverTx" preserve="1">
  <p:cSld name="Title, Content over Content">
    <p:bg>
      <p:bgPr>
        <a:solidFill>
          <a:srgbClr val="FFFFFF"/>
        </a:solidFill>
        <a:effectLst/>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10" name="PlaceHolder 2"/>
          <p:cNvSpPr>
            <a:spLocks noGrp="1"/>
          </p:cNvSpPr>
          <p:nvPr>
            <p:ph type="body"/>
          </p:nvPr>
        </p:nvSpPr>
        <p:spPr>
          <a:xfrm>
            <a:off x="502920" y="1327320"/>
            <a:ext cx="9046800" cy="1556280"/>
          </a:xfrm>
          <a:prstGeom prst="rect">
            <a:avLst/>
          </a:prstGeom>
          <a:noFill/>
          <a:ln w="0">
            <a:noFill/>
          </a:ln>
        </p:spPr>
        <p:txBody>
          <a:bodyPr lIns="0" tIns="28440" rIns="0" bIns="0" anchor="t">
            <a:normAutofit fontScale="7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1" name="PlaceHolder 3"/>
          <p:cNvSpPr>
            <a:spLocks noGrp="1"/>
          </p:cNvSpPr>
          <p:nvPr>
            <p:ph type="body"/>
          </p:nvPr>
        </p:nvSpPr>
        <p:spPr>
          <a:xfrm>
            <a:off x="502920" y="3032280"/>
            <a:ext cx="9046800" cy="1556280"/>
          </a:xfrm>
          <a:prstGeom prst="rect">
            <a:avLst/>
          </a:prstGeom>
          <a:noFill/>
          <a:ln w="0">
            <a:noFill/>
          </a:ln>
        </p:spPr>
        <p:txBody>
          <a:bodyPr lIns="0" tIns="28440" rIns="0" bIns="0" anchor="t">
            <a:normAutofit fontScale="7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2" name="PlaceHolder 4"/>
          <p:cNvSpPr>
            <a:spLocks noGrp="1"/>
          </p:cNvSpPr>
          <p:nvPr>
            <p:ph type="ftr" idx="4"/>
          </p:nvPr>
        </p:nvSpPr>
        <p:spPr>
          <a:xfrm>
            <a:off x="3447720" y="5165280"/>
            <a:ext cx="3171600" cy="366480"/>
          </a:xfrm>
          <a:prstGeom prst="rect">
            <a:avLst/>
          </a:prstGeom>
          <a:noFill/>
          <a:ln w="0">
            <a:noFill/>
          </a:ln>
        </p:spPr>
        <p:txBody>
          <a:bodyPr lIns="0" tIns="0" rIns="0" bIns="0" anchor="t">
            <a:noAutofit/>
          </a:bodyPr>
          <a:lstStyle>
            <a:lvl1pPr indent="0" algn="ct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ctr">
              <a:lnSpc>
                <a:spcPct val="93000"/>
              </a:lnSpc>
              <a:spcBef>
                <a:spcPts val="74"/>
              </a:spcBef>
              <a:spcAft>
                <a:spcPts val="74"/>
              </a:spcAft>
              <a:buNone/>
              <a:tabLst>
                <a:tab pos="0" algn="l"/>
              </a:tabLst>
            </a:pPr>
            <a:r>
              <a:rPr lang="fr-FR"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13" name="PlaceHolder 5"/>
          <p:cNvSpPr>
            <a:spLocks noGrp="1"/>
          </p:cNvSpPr>
          <p:nvPr>
            <p:ph type="sldNum" idx="5"/>
          </p:nvPr>
        </p:nvSpPr>
        <p:spPr>
          <a:xfrm>
            <a:off x="7227720" y="5165280"/>
            <a:ext cx="2323800" cy="366480"/>
          </a:xfrm>
          <a:prstGeom prst="rect">
            <a:avLst/>
          </a:prstGeom>
          <a:noFill/>
          <a:ln w="0">
            <a:noFill/>
          </a:ln>
        </p:spPr>
        <p:txBody>
          <a:bodyPr lIns="0" tIns="0" rIns="0" bIns="0" anchor="t">
            <a:noAutofit/>
          </a:bodyPr>
          <a:lstStyle>
            <a:lvl1pPr indent="0" algn="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r">
              <a:lnSpc>
                <a:spcPct val="93000"/>
              </a:lnSpc>
              <a:spcBef>
                <a:spcPts val="74"/>
              </a:spcBef>
              <a:spcAft>
                <a:spcPts val="74"/>
              </a:spcAft>
              <a:buNone/>
              <a:tabLst>
                <a:tab pos="0" algn="l"/>
              </a:tabLst>
            </a:pPr>
            <a:fld id="{070F4B0E-CFBE-4279-89DD-0A6BFCD0DE85}" type="slidenum">
              <a:rPr lang="fr-FR" sz="1400" b="0" u="none" strike="noStrike">
                <a:solidFill>
                  <a:srgbClr val="000000"/>
                </a:solidFill>
                <a:effectLst/>
                <a:uFillTx/>
                <a:latin typeface="Times New Roman"/>
                <a:ea typeface="DejaVu Sans"/>
              </a:rPr>
              <a:t>‹N°›</a:t>
            </a:fld>
            <a:endParaRPr lang="fr-FR" sz="1400" b="0" u="none" strike="noStrike">
              <a:solidFill>
                <a:srgbClr val="000000"/>
              </a:solidFill>
              <a:effectLst/>
              <a:uFillTx/>
              <a:latin typeface="Times New Roman"/>
            </a:endParaRPr>
          </a:p>
        </p:txBody>
      </p:sp>
      <p:sp>
        <p:nvSpPr>
          <p:cNvPr id="14" name="PlaceHolder 6"/>
          <p:cNvSpPr>
            <a:spLocks noGrp="1"/>
          </p:cNvSpPr>
          <p:nvPr>
            <p:ph type="dt" idx="6"/>
          </p:nvPr>
        </p:nvSpPr>
        <p:spPr>
          <a:xfrm>
            <a:off x="503280" y="5165280"/>
            <a:ext cx="2323800" cy="366480"/>
          </a:xfrm>
          <a:prstGeom prst="rect">
            <a:avLst/>
          </a:prstGeom>
          <a:noFill/>
          <a:ln w="0">
            <a:noFill/>
          </a:ln>
        </p:spPr>
        <p:txBody>
          <a:bodyPr lIns="0" tIns="0" rIns="0" bIns="0" anchor="t">
            <a:noAutofit/>
          </a:bodyPr>
          <a:lstStyle>
            <a:lvl1pPr indent="0">
              <a:buNone/>
              <a:defRPr lang="fr-FR" sz="1400" b="0" u="none" strike="noStrike">
                <a:solidFill>
                  <a:srgbClr val="000000"/>
                </a:solidFill>
                <a:effectLst/>
                <a:uFillTx/>
                <a:latin typeface="Times New Roman"/>
              </a:defRPr>
            </a:lvl1pPr>
          </a:lstStyle>
          <a:p>
            <a:pPr indent="0">
              <a:buNone/>
            </a:pPr>
            <a:r>
              <a:rPr lang="fr-FR" sz="1400" b="0" u="none" strike="noStrike">
                <a:solidFill>
                  <a:srgbClr val="000000"/>
                </a:solidFill>
                <a:effectLst/>
                <a:uFillTx/>
                <a:latin typeface="Times New Roman"/>
              </a:rPr>
              <a:t>&lt;date/heure&gt;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fourObj" preserve="1">
  <p:cSld name="Title, 4 Content">
    <p:bg>
      <p:bgPr>
        <a:solidFill>
          <a:srgbClr val="FFFFFF"/>
        </a:solidFill>
        <a:effectLst/>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16" name="PlaceHolder 2"/>
          <p:cNvSpPr>
            <a:spLocks noGrp="1"/>
          </p:cNvSpPr>
          <p:nvPr>
            <p:ph type="body"/>
          </p:nvPr>
        </p:nvSpPr>
        <p:spPr>
          <a:xfrm>
            <a:off x="50292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7" name="PlaceHolder 3"/>
          <p:cNvSpPr>
            <a:spLocks noGrp="1"/>
          </p:cNvSpPr>
          <p:nvPr>
            <p:ph type="body"/>
          </p:nvPr>
        </p:nvSpPr>
        <p:spPr>
          <a:xfrm>
            <a:off x="513864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8" name="PlaceHolder 4"/>
          <p:cNvSpPr>
            <a:spLocks noGrp="1"/>
          </p:cNvSpPr>
          <p:nvPr>
            <p:ph type="body"/>
          </p:nvPr>
        </p:nvSpPr>
        <p:spPr>
          <a:xfrm>
            <a:off x="502920" y="303228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9" name="PlaceHolder 5"/>
          <p:cNvSpPr>
            <a:spLocks noGrp="1"/>
          </p:cNvSpPr>
          <p:nvPr>
            <p:ph type="body"/>
          </p:nvPr>
        </p:nvSpPr>
        <p:spPr>
          <a:xfrm>
            <a:off x="5138640" y="303228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20" name="PlaceHolder 6"/>
          <p:cNvSpPr>
            <a:spLocks noGrp="1"/>
          </p:cNvSpPr>
          <p:nvPr>
            <p:ph type="ftr" idx="7"/>
          </p:nvPr>
        </p:nvSpPr>
        <p:spPr>
          <a:xfrm>
            <a:off x="3447720" y="5165280"/>
            <a:ext cx="3171600" cy="366480"/>
          </a:xfrm>
          <a:prstGeom prst="rect">
            <a:avLst/>
          </a:prstGeom>
          <a:noFill/>
          <a:ln w="0">
            <a:noFill/>
          </a:ln>
        </p:spPr>
        <p:txBody>
          <a:bodyPr lIns="0" tIns="0" rIns="0" bIns="0" anchor="t">
            <a:noAutofit/>
          </a:bodyPr>
          <a:lstStyle>
            <a:lvl1pPr indent="0" algn="ct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ctr">
              <a:lnSpc>
                <a:spcPct val="93000"/>
              </a:lnSpc>
              <a:spcBef>
                <a:spcPts val="74"/>
              </a:spcBef>
              <a:spcAft>
                <a:spcPts val="74"/>
              </a:spcAft>
              <a:buNone/>
              <a:tabLst>
                <a:tab pos="0" algn="l"/>
              </a:tabLst>
            </a:pPr>
            <a:r>
              <a:rPr lang="fr-FR"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21" name="PlaceHolder 7"/>
          <p:cNvSpPr>
            <a:spLocks noGrp="1"/>
          </p:cNvSpPr>
          <p:nvPr>
            <p:ph type="sldNum" idx="8"/>
          </p:nvPr>
        </p:nvSpPr>
        <p:spPr>
          <a:xfrm>
            <a:off x="7227720" y="5165280"/>
            <a:ext cx="2323800" cy="366480"/>
          </a:xfrm>
          <a:prstGeom prst="rect">
            <a:avLst/>
          </a:prstGeom>
          <a:noFill/>
          <a:ln w="0">
            <a:noFill/>
          </a:ln>
        </p:spPr>
        <p:txBody>
          <a:bodyPr lIns="0" tIns="0" rIns="0" bIns="0" anchor="t">
            <a:noAutofit/>
          </a:bodyPr>
          <a:lstStyle>
            <a:lvl1pPr indent="0" algn="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r">
              <a:lnSpc>
                <a:spcPct val="93000"/>
              </a:lnSpc>
              <a:spcBef>
                <a:spcPts val="74"/>
              </a:spcBef>
              <a:spcAft>
                <a:spcPts val="74"/>
              </a:spcAft>
              <a:buNone/>
              <a:tabLst>
                <a:tab pos="0" algn="l"/>
              </a:tabLst>
            </a:pPr>
            <a:fld id="{21085302-1445-4553-A979-93AD5D1F32D8}" type="slidenum">
              <a:rPr lang="fr-FR" sz="1400" b="0" u="none" strike="noStrike">
                <a:solidFill>
                  <a:srgbClr val="000000"/>
                </a:solidFill>
                <a:effectLst/>
                <a:uFillTx/>
                <a:latin typeface="Times New Roman"/>
                <a:ea typeface="DejaVu Sans"/>
              </a:rPr>
              <a:t>‹N°›</a:t>
            </a:fld>
            <a:endParaRPr lang="fr-FR" sz="1400" b="0" u="none" strike="noStrike">
              <a:solidFill>
                <a:srgbClr val="000000"/>
              </a:solidFill>
              <a:effectLst/>
              <a:uFillTx/>
              <a:latin typeface="Times New Roman"/>
            </a:endParaRPr>
          </a:p>
        </p:txBody>
      </p:sp>
      <p:sp>
        <p:nvSpPr>
          <p:cNvPr id="22" name="PlaceHolder 8"/>
          <p:cNvSpPr>
            <a:spLocks noGrp="1"/>
          </p:cNvSpPr>
          <p:nvPr>
            <p:ph type="dt" idx="9"/>
          </p:nvPr>
        </p:nvSpPr>
        <p:spPr>
          <a:xfrm>
            <a:off x="503280" y="5165280"/>
            <a:ext cx="2323800" cy="366480"/>
          </a:xfrm>
          <a:prstGeom prst="rect">
            <a:avLst/>
          </a:prstGeom>
          <a:noFill/>
          <a:ln w="0">
            <a:noFill/>
          </a:ln>
        </p:spPr>
        <p:txBody>
          <a:bodyPr lIns="0" tIns="0" rIns="0" bIns="0" anchor="t">
            <a:noAutofit/>
          </a:bodyPr>
          <a:lstStyle>
            <a:lvl1pPr indent="0">
              <a:buNone/>
              <a:defRPr lang="fr-FR" sz="1400" b="0" u="none" strike="noStrike">
                <a:solidFill>
                  <a:srgbClr val="000000"/>
                </a:solidFill>
                <a:effectLst/>
                <a:uFillTx/>
                <a:latin typeface="Times New Roman"/>
              </a:defRPr>
            </a:lvl1pPr>
          </a:lstStyle>
          <a:p>
            <a:pPr indent="0">
              <a:buNone/>
            </a:pPr>
            <a:r>
              <a:rPr lang="fr-FR" sz="1400" b="0" u="none" strike="noStrike">
                <a:solidFill>
                  <a:srgbClr val="000000"/>
                </a:solidFill>
                <a:effectLst/>
                <a:uFillTx/>
                <a:latin typeface="Times New Roman"/>
              </a:rPr>
              <a:t>&lt;date/heure&gt;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Title, 6 Content">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24" name="PlaceHolder 2"/>
          <p:cNvSpPr>
            <a:spLocks noGrp="1"/>
          </p:cNvSpPr>
          <p:nvPr>
            <p:ph type="body"/>
          </p:nvPr>
        </p:nvSpPr>
        <p:spPr>
          <a:xfrm>
            <a:off x="502920" y="132732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25" name="PlaceHolder 3"/>
          <p:cNvSpPr>
            <a:spLocks noGrp="1"/>
          </p:cNvSpPr>
          <p:nvPr>
            <p:ph type="body"/>
          </p:nvPr>
        </p:nvSpPr>
        <p:spPr>
          <a:xfrm>
            <a:off x="3562200" y="132732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26" name="PlaceHolder 4"/>
          <p:cNvSpPr>
            <a:spLocks noGrp="1"/>
          </p:cNvSpPr>
          <p:nvPr>
            <p:ph type="body"/>
          </p:nvPr>
        </p:nvSpPr>
        <p:spPr>
          <a:xfrm>
            <a:off x="6621120" y="132732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27" name="PlaceHolder 5"/>
          <p:cNvSpPr>
            <a:spLocks noGrp="1"/>
          </p:cNvSpPr>
          <p:nvPr>
            <p:ph type="body"/>
          </p:nvPr>
        </p:nvSpPr>
        <p:spPr>
          <a:xfrm>
            <a:off x="502920" y="303228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28" name="PlaceHolder 6"/>
          <p:cNvSpPr>
            <a:spLocks noGrp="1"/>
          </p:cNvSpPr>
          <p:nvPr>
            <p:ph type="body"/>
          </p:nvPr>
        </p:nvSpPr>
        <p:spPr>
          <a:xfrm>
            <a:off x="3562200" y="303228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29" name="PlaceHolder 7"/>
          <p:cNvSpPr>
            <a:spLocks noGrp="1"/>
          </p:cNvSpPr>
          <p:nvPr>
            <p:ph type="body"/>
          </p:nvPr>
        </p:nvSpPr>
        <p:spPr>
          <a:xfrm>
            <a:off x="6621120" y="303228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30" name="PlaceHolder 8"/>
          <p:cNvSpPr>
            <a:spLocks noGrp="1"/>
          </p:cNvSpPr>
          <p:nvPr>
            <p:ph type="ftr" idx="10"/>
          </p:nvPr>
        </p:nvSpPr>
        <p:spPr>
          <a:xfrm>
            <a:off x="3447720" y="5165280"/>
            <a:ext cx="3171600" cy="366480"/>
          </a:xfrm>
          <a:prstGeom prst="rect">
            <a:avLst/>
          </a:prstGeom>
          <a:noFill/>
          <a:ln w="0">
            <a:noFill/>
          </a:ln>
        </p:spPr>
        <p:txBody>
          <a:bodyPr lIns="0" tIns="0" rIns="0" bIns="0" anchor="t">
            <a:noAutofit/>
          </a:bodyPr>
          <a:lstStyle>
            <a:lvl1pPr indent="0" algn="ct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ctr">
              <a:lnSpc>
                <a:spcPct val="93000"/>
              </a:lnSpc>
              <a:spcBef>
                <a:spcPts val="74"/>
              </a:spcBef>
              <a:spcAft>
                <a:spcPts val="74"/>
              </a:spcAft>
              <a:buNone/>
              <a:tabLst>
                <a:tab pos="0" algn="l"/>
              </a:tabLst>
            </a:pPr>
            <a:r>
              <a:rPr lang="fr-FR"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31" name="PlaceHolder 9"/>
          <p:cNvSpPr>
            <a:spLocks noGrp="1"/>
          </p:cNvSpPr>
          <p:nvPr>
            <p:ph type="sldNum" idx="11"/>
          </p:nvPr>
        </p:nvSpPr>
        <p:spPr>
          <a:xfrm>
            <a:off x="7227720" y="5165280"/>
            <a:ext cx="2323800" cy="366480"/>
          </a:xfrm>
          <a:prstGeom prst="rect">
            <a:avLst/>
          </a:prstGeom>
          <a:noFill/>
          <a:ln w="0">
            <a:noFill/>
          </a:ln>
        </p:spPr>
        <p:txBody>
          <a:bodyPr lIns="0" tIns="0" rIns="0" bIns="0" anchor="t">
            <a:noAutofit/>
          </a:bodyPr>
          <a:lstStyle>
            <a:lvl1pPr indent="0" algn="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r">
              <a:lnSpc>
                <a:spcPct val="93000"/>
              </a:lnSpc>
              <a:spcBef>
                <a:spcPts val="74"/>
              </a:spcBef>
              <a:spcAft>
                <a:spcPts val="74"/>
              </a:spcAft>
              <a:buNone/>
              <a:tabLst>
                <a:tab pos="0" algn="l"/>
              </a:tabLst>
            </a:pPr>
            <a:fld id="{FB2113F8-2910-48D0-B347-854BA83F711F}" type="slidenum">
              <a:rPr lang="fr-FR" sz="1400" b="0" u="none" strike="noStrike">
                <a:solidFill>
                  <a:srgbClr val="000000"/>
                </a:solidFill>
                <a:effectLst/>
                <a:uFillTx/>
                <a:latin typeface="Times New Roman"/>
                <a:ea typeface="DejaVu Sans"/>
              </a:rPr>
              <a:t>‹N°›</a:t>
            </a:fld>
            <a:endParaRPr lang="fr-FR" sz="1400" b="0" u="none" strike="noStrike">
              <a:solidFill>
                <a:srgbClr val="000000"/>
              </a:solidFill>
              <a:effectLst/>
              <a:uFillTx/>
              <a:latin typeface="Times New Roman"/>
            </a:endParaRPr>
          </a:p>
        </p:txBody>
      </p:sp>
      <p:sp>
        <p:nvSpPr>
          <p:cNvPr id="32" name="PlaceHolder 10"/>
          <p:cNvSpPr>
            <a:spLocks noGrp="1"/>
          </p:cNvSpPr>
          <p:nvPr>
            <p:ph type="dt" idx="12"/>
          </p:nvPr>
        </p:nvSpPr>
        <p:spPr>
          <a:xfrm>
            <a:off x="503280" y="5165280"/>
            <a:ext cx="2323800" cy="366480"/>
          </a:xfrm>
          <a:prstGeom prst="rect">
            <a:avLst/>
          </a:prstGeom>
          <a:noFill/>
          <a:ln w="0">
            <a:noFill/>
          </a:ln>
        </p:spPr>
        <p:txBody>
          <a:bodyPr lIns="0" tIns="0" rIns="0" bIns="0" anchor="t">
            <a:noAutofit/>
          </a:bodyPr>
          <a:lstStyle>
            <a:lvl1pPr indent="0">
              <a:buNone/>
              <a:defRPr lang="fr-FR" sz="1400" b="0" u="none" strike="noStrike">
                <a:solidFill>
                  <a:srgbClr val="000000"/>
                </a:solidFill>
                <a:effectLst/>
                <a:uFillTx/>
                <a:latin typeface="Times New Roman"/>
              </a:defRPr>
            </a:lvl1pPr>
          </a:lstStyle>
          <a:p>
            <a:pPr indent="0">
              <a:buNone/>
            </a:pPr>
            <a:r>
              <a:rPr lang="fr-FR" sz="1400" b="0" u="none" strike="noStrike">
                <a:solidFill>
                  <a:srgbClr val="000000"/>
                </a:solidFill>
                <a:effectLst/>
                <a:uFillTx/>
                <a:latin typeface="Times New Roman"/>
              </a:rPr>
              <a:t>&lt;date/heure&gt;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Slide">
    <p:bg>
      <p:bgPr>
        <a:solidFill>
          <a:srgbClr val="FFFFFF"/>
        </a:solidFill>
        <a:effectLst/>
      </p:bgPr>
    </p:bg>
    <p:spTree>
      <p:nvGrpSpPr>
        <p:cNvPr id="1" name=""/>
        <p:cNvGrpSpPr/>
        <p:nvPr/>
      </p:nvGrpSpPr>
      <p:grpSpPr>
        <a:xfrm>
          <a:off x="0" y="0"/>
          <a:ext cx="0" cy="0"/>
          <a:chOff x="0" y="0"/>
          <a:chExt cx="0" cy="0"/>
        </a:xfrm>
      </p:grpSpPr>
      <p:sp>
        <p:nvSpPr>
          <p:cNvPr id="33" name="PlaceHolder 1"/>
          <p:cNvSpPr>
            <a:spLocks noGrp="1"/>
          </p:cNvSpPr>
          <p:nvPr>
            <p:ph type="ftr" idx="13"/>
          </p:nvPr>
        </p:nvSpPr>
        <p:spPr>
          <a:xfrm>
            <a:off x="3447720" y="5165280"/>
            <a:ext cx="3171600" cy="366480"/>
          </a:xfrm>
          <a:prstGeom prst="rect">
            <a:avLst/>
          </a:prstGeom>
          <a:noFill/>
          <a:ln w="0">
            <a:noFill/>
          </a:ln>
        </p:spPr>
        <p:txBody>
          <a:bodyPr lIns="0" tIns="0" rIns="0" bIns="0" anchor="t">
            <a:noAutofit/>
          </a:bodyPr>
          <a:lstStyle>
            <a:lvl1pPr indent="0" algn="ct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ctr">
              <a:lnSpc>
                <a:spcPct val="93000"/>
              </a:lnSpc>
              <a:spcBef>
                <a:spcPts val="74"/>
              </a:spcBef>
              <a:spcAft>
                <a:spcPts val="74"/>
              </a:spcAft>
              <a:buNone/>
              <a:tabLst>
                <a:tab pos="0" algn="l"/>
              </a:tabLst>
            </a:pPr>
            <a:r>
              <a:rPr lang="fr-FR"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34" name="PlaceHolder 2"/>
          <p:cNvSpPr>
            <a:spLocks noGrp="1"/>
          </p:cNvSpPr>
          <p:nvPr>
            <p:ph type="sldNum" idx="14"/>
          </p:nvPr>
        </p:nvSpPr>
        <p:spPr>
          <a:xfrm>
            <a:off x="7227720" y="5165280"/>
            <a:ext cx="2323800" cy="366480"/>
          </a:xfrm>
          <a:prstGeom prst="rect">
            <a:avLst/>
          </a:prstGeom>
          <a:noFill/>
          <a:ln w="0">
            <a:noFill/>
          </a:ln>
        </p:spPr>
        <p:txBody>
          <a:bodyPr lIns="0" tIns="0" rIns="0" bIns="0" anchor="t">
            <a:noAutofit/>
          </a:bodyPr>
          <a:lstStyle>
            <a:lvl1pPr indent="0" algn="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r">
              <a:lnSpc>
                <a:spcPct val="93000"/>
              </a:lnSpc>
              <a:spcBef>
                <a:spcPts val="74"/>
              </a:spcBef>
              <a:spcAft>
                <a:spcPts val="74"/>
              </a:spcAft>
              <a:buNone/>
              <a:tabLst>
                <a:tab pos="0" algn="l"/>
              </a:tabLst>
            </a:pPr>
            <a:fld id="{3F686491-01E3-4DB2-9AC8-1D05D905B92D}" type="slidenum">
              <a:rPr lang="fr-FR" sz="1400" b="0" u="none" strike="noStrike">
                <a:solidFill>
                  <a:srgbClr val="000000"/>
                </a:solidFill>
                <a:effectLst/>
                <a:uFillTx/>
                <a:latin typeface="Times New Roman"/>
                <a:ea typeface="DejaVu Sans"/>
              </a:rPr>
              <a:t>‹N°›</a:t>
            </a:fld>
            <a:endParaRPr lang="fr-FR" sz="1400" b="0" u="none" strike="noStrike">
              <a:solidFill>
                <a:srgbClr val="000000"/>
              </a:solidFill>
              <a:effectLst/>
              <a:uFillTx/>
              <a:latin typeface="Times New Roman"/>
            </a:endParaRPr>
          </a:p>
        </p:txBody>
      </p:sp>
      <p:sp>
        <p:nvSpPr>
          <p:cNvPr id="35" name="PlaceHolder 3"/>
          <p:cNvSpPr>
            <a:spLocks noGrp="1"/>
          </p:cNvSpPr>
          <p:nvPr>
            <p:ph type="dt" idx="15"/>
          </p:nvPr>
        </p:nvSpPr>
        <p:spPr>
          <a:xfrm>
            <a:off x="503280" y="5165280"/>
            <a:ext cx="2323800" cy="366480"/>
          </a:xfrm>
          <a:prstGeom prst="rect">
            <a:avLst/>
          </a:prstGeom>
          <a:noFill/>
          <a:ln w="0">
            <a:noFill/>
          </a:ln>
        </p:spPr>
        <p:txBody>
          <a:bodyPr lIns="0" tIns="0" rIns="0" bIns="0" anchor="t">
            <a:noAutofit/>
          </a:bodyPr>
          <a:lstStyle>
            <a:lvl1pPr indent="0">
              <a:buNone/>
              <a:defRPr lang="fr-FR" sz="1400" b="0" u="none" strike="noStrike">
                <a:solidFill>
                  <a:srgbClr val="000000"/>
                </a:solidFill>
                <a:effectLst/>
                <a:uFillTx/>
                <a:latin typeface="Times New Roman"/>
              </a:defRPr>
            </a:lvl1pPr>
          </a:lstStyle>
          <a:p>
            <a:pPr indent="0">
              <a:buNone/>
            </a:pPr>
            <a:r>
              <a:rPr lang="fr-FR" sz="1400" b="0" u="none" strike="noStrike">
                <a:solidFill>
                  <a:srgbClr val="000000"/>
                </a:solidFill>
                <a:effectLst/>
                <a:uFillTx/>
                <a:latin typeface="Times New Roman"/>
              </a:rPr>
              <a:t>&lt;date/heure&gt;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Title Slide">
    <p:bg>
      <p:bgPr>
        <a:solidFill>
          <a:srgbClr val="FFFFFF"/>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37" name="PlaceHolder 2"/>
          <p:cNvSpPr>
            <a:spLocks noGrp="1"/>
          </p:cNvSpPr>
          <p:nvPr>
            <p:ph type="ftr" idx="16"/>
          </p:nvPr>
        </p:nvSpPr>
        <p:spPr>
          <a:xfrm>
            <a:off x="3447720" y="5165280"/>
            <a:ext cx="3171600" cy="366480"/>
          </a:xfrm>
          <a:prstGeom prst="rect">
            <a:avLst/>
          </a:prstGeom>
          <a:noFill/>
          <a:ln w="0">
            <a:noFill/>
          </a:ln>
        </p:spPr>
        <p:txBody>
          <a:bodyPr lIns="0" tIns="0" rIns="0" bIns="0" anchor="t">
            <a:noAutofit/>
          </a:bodyPr>
          <a:lstStyle>
            <a:lvl1pPr indent="0" algn="ct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ctr">
              <a:lnSpc>
                <a:spcPct val="93000"/>
              </a:lnSpc>
              <a:spcBef>
                <a:spcPts val="74"/>
              </a:spcBef>
              <a:spcAft>
                <a:spcPts val="74"/>
              </a:spcAft>
              <a:buNone/>
              <a:tabLst>
                <a:tab pos="0" algn="l"/>
              </a:tabLst>
            </a:pPr>
            <a:r>
              <a:rPr lang="fr-FR"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38" name="PlaceHolder 3"/>
          <p:cNvSpPr>
            <a:spLocks noGrp="1"/>
          </p:cNvSpPr>
          <p:nvPr>
            <p:ph type="sldNum" idx="17"/>
          </p:nvPr>
        </p:nvSpPr>
        <p:spPr>
          <a:xfrm>
            <a:off x="7227720" y="5165280"/>
            <a:ext cx="2323800" cy="366480"/>
          </a:xfrm>
          <a:prstGeom prst="rect">
            <a:avLst/>
          </a:prstGeom>
          <a:noFill/>
          <a:ln w="0">
            <a:noFill/>
          </a:ln>
        </p:spPr>
        <p:txBody>
          <a:bodyPr lIns="0" tIns="0" rIns="0" bIns="0" anchor="t">
            <a:noAutofit/>
          </a:bodyPr>
          <a:lstStyle>
            <a:lvl1pPr indent="0" algn="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r">
              <a:lnSpc>
                <a:spcPct val="93000"/>
              </a:lnSpc>
              <a:spcBef>
                <a:spcPts val="74"/>
              </a:spcBef>
              <a:spcAft>
                <a:spcPts val="74"/>
              </a:spcAft>
              <a:buNone/>
              <a:tabLst>
                <a:tab pos="0" algn="l"/>
              </a:tabLst>
            </a:pPr>
            <a:fld id="{8467D4C0-866D-482F-B6AB-F08FA5526ED3}" type="slidenum">
              <a:rPr lang="fr-FR" sz="1400" b="0" u="none" strike="noStrike">
                <a:solidFill>
                  <a:srgbClr val="000000"/>
                </a:solidFill>
                <a:effectLst/>
                <a:uFillTx/>
                <a:latin typeface="Times New Roman"/>
                <a:ea typeface="DejaVu Sans"/>
              </a:rPr>
              <a:t>‹N°›</a:t>
            </a:fld>
            <a:endParaRPr lang="fr-FR" sz="1400" b="0" u="none" strike="noStrike">
              <a:solidFill>
                <a:srgbClr val="000000"/>
              </a:solidFill>
              <a:effectLst/>
              <a:uFillTx/>
              <a:latin typeface="Times New Roman"/>
            </a:endParaRPr>
          </a:p>
        </p:txBody>
      </p:sp>
      <p:sp>
        <p:nvSpPr>
          <p:cNvPr id="39" name="PlaceHolder 4"/>
          <p:cNvSpPr>
            <a:spLocks noGrp="1"/>
          </p:cNvSpPr>
          <p:nvPr>
            <p:ph type="dt" idx="18"/>
          </p:nvPr>
        </p:nvSpPr>
        <p:spPr>
          <a:xfrm>
            <a:off x="503280" y="5165280"/>
            <a:ext cx="2323800" cy="366480"/>
          </a:xfrm>
          <a:prstGeom prst="rect">
            <a:avLst/>
          </a:prstGeom>
          <a:noFill/>
          <a:ln w="0">
            <a:noFill/>
          </a:ln>
        </p:spPr>
        <p:txBody>
          <a:bodyPr lIns="0" tIns="0" rIns="0" bIns="0" anchor="t">
            <a:noAutofit/>
          </a:bodyPr>
          <a:lstStyle>
            <a:lvl1pPr indent="0">
              <a:buNone/>
              <a:defRPr lang="fr-FR" sz="1400" b="0" u="none" strike="noStrike">
                <a:solidFill>
                  <a:srgbClr val="000000"/>
                </a:solidFill>
                <a:effectLst/>
                <a:uFillTx/>
                <a:latin typeface="Times New Roman"/>
              </a:defRPr>
            </a:lvl1pPr>
          </a:lstStyle>
          <a:p>
            <a:pPr indent="0">
              <a:buNone/>
            </a:pPr>
            <a:r>
              <a:rPr lang="fr-FR" sz="1400" b="0" u="none" strike="noStrike">
                <a:solidFill>
                  <a:srgbClr val="000000"/>
                </a:solidFill>
                <a:effectLst/>
                <a:uFillTx/>
                <a:latin typeface="Times New Roman"/>
              </a:rPr>
              <a:t>&lt;date/heure&gt;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Content">
    <p:bg>
      <p:bgPr>
        <a:solidFill>
          <a:srgbClr val="FFFFFF"/>
        </a:solidFill>
        <a:effectLst/>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41" name="PlaceHolder 2"/>
          <p:cNvSpPr>
            <a:spLocks noGrp="1"/>
          </p:cNvSpPr>
          <p:nvPr>
            <p:ph type="body"/>
          </p:nvPr>
        </p:nvSpPr>
        <p:spPr>
          <a:xfrm>
            <a:off x="502920" y="1327320"/>
            <a:ext cx="9046800" cy="3263400"/>
          </a:xfrm>
          <a:prstGeom prst="rect">
            <a:avLst/>
          </a:prstGeom>
          <a:noFill/>
          <a:ln w="0">
            <a:noFill/>
          </a:ln>
        </p:spPr>
        <p:txBody>
          <a:bodyPr lIns="0" tIns="28440" rIns="0" bIns="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42" name="PlaceHolder 3"/>
          <p:cNvSpPr>
            <a:spLocks noGrp="1"/>
          </p:cNvSpPr>
          <p:nvPr>
            <p:ph type="ftr" idx="19"/>
          </p:nvPr>
        </p:nvSpPr>
        <p:spPr>
          <a:xfrm>
            <a:off x="3447720" y="5165280"/>
            <a:ext cx="3171600" cy="366480"/>
          </a:xfrm>
          <a:prstGeom prst="rect">
            <a:avLst/>
          </a:prstGeom>
          <a:noFill/>
          <a:ln w="0">
            <a:noFill/>
          </a:ln>
        </p:spPr>
        <p:txBody>
          <a:bodyPr lIns="0" tIns="0" rIns="0" bIns="0" anchor="t">
            <a:noAutofit/>
          </a:bodyPr>
          <a:lstStyle>
            <a:lvl1pPr indent="0" algn="ct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ctr">
              <a:lnSpc>
                <a:spcPct val="93000"/>
              </a:lnSpc>
              <a:spcBef>
                <a:spcPts val="74"/>
              </a:spcBef>
              <a:spcAft>
                <a:spcPts val="74"/>
              </a:spcAft>
              <a:buNone/>
              <a:tabLst>
                <a:tab pos="0" algn="l"/>
              </a:tabLst>
            </a:pPr>
            <a:r>
              <a:rPr lang="fr-FR"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43" name="PlaceHolder 4"/>
          <p:cNvSpPr>
            <a:spLocks noGrp="1"/>
          </p:cNvSpPr>
          <p:nvPr>
            <p:ph type="sldNum" idx="20"/>
          </p:nvPr>
        </p:nvSpPr>
        <p:spPr>
          <a:xfrm>
            <a:off x="7227720" y="5165280"/>
            <a:ext cx="2323800" cy="366480"/>
          </a:xfrm>
          <a:prstGeom prst="rect">
            <a:avLst/>
          </a:prstGeom>
          <a:noFill/>
          <a:ln w="0">
            <a:noFill/>
          </a:ln>
        </p:spPr>
        <p:txBody>
          <a:bodyPr lIns="0" tIns="0" rIns="0" bIns="0" anchor="t">
            <a:noAutofit/>
          </a:bodyPr>
          <a:lstStyle>
            <a:lvl1pPr indent="0" algn="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r">
              <a:lnSpc>
                <a:spcPct val="93000"/>
              </a:lnSpc>
              <a:spcBef>
                <a:spcPts val="74"/>
              </a:spcBef>
              <a:spcAft>
                <a:spcPts val="74"/>
              </a:spcAft>
              <a:buNone/>
              <a:tabLst>
                <a:tab pos="0" algn="l"/>
              </a:tabLst>
            </a:pPr>
            <a:fld id="{2AE1F942-4596-41D5-B52A-95653E03EB9C}" type="slidenum">
              <a:rPr lang="fr-FR" sz="1400" b="0" u="none" strike="noStrike">
                <a:solidFill>
                  <a:srgbClr val="000000"/>
                </a:solidFill>
                <a:effectLst/>
                <a:uFillTx/>
                <a:latin typeface="Times New Roman"/>
                <a:ea typeface="DejaVu Sans"/>
              </a:rPr>
              <a:t>‹N°›</a:t>
            </a:fld>
            <a:endParaRPr lang="fr-FR" sz="1400" b="0" u="none" strike="noStrike">
              <a:solidFill>
                <a:srgbClr val="000000"/>
              </a:solidFill>
              <a:effectLst/>
              <a:uFillTx/>
              <a:latin typeface="Times New Roman"/>
            </a:endParaRPr>
          </a:p>
        </p:txBody>
      </p:sp>
      <p:sp>
        <p:nvSpPr>
          <p:cNvPr id="44" name="PlaceHolder 5"/>
          <p:cNvSpPr>
            <a:spLocks noGrp="1"/>
          </p:cNvSpPr>
          <p:nvPr>
            <p:ph type="dt" idx="21"/>
          </p:nvPr>
        </p:nvSpPr>
        <p:spPr>
          <a:xfrm>
            <a:off x="503280" y="5165280"/>
            <a:ext cx="2323800" cy="366480"/>
          </a:xfrm>
          <a:prstGeom prst="rect">
            <a:avLst/>
          </a:prstGeom>
          <a:noFill/>
          <a:ln w="0">
            <a:noFill/>
          </a:ln>
        </p:spPr>
        <p:txBody>
          <a:bodyPr lIns="0" tIns="0" rIns="0" bIns="0" anchor="t">
            <a:noAutofit/>
          </a:bodyPr>
          <a:lstStyle>
            <a:lvl1pPr indent="0">
              <a:buNone/>
              <a:defRPr lang="fr-FR" sz="1400" b="0" u="none" strike="noStrike">
                <a:solidFill>
                  <a:srgbClr val="000000"/>
                </a:solidFill>
                <a:effectLst/>
                <a:uFillTx/>
                <a:latin typeface="Times New Roman"/>
              </a:defRPr>
            </a:lvl1pPr>
          </a:lstStyle>
          <a:p>
            <a:pPr indent="0">
              <a:buNone/>
            </a:pPr>
            <a:r>
              <a:rPr lang="fr-FR" sz="1400" b="0" u="none" strike="noStrike">
                <a:solidFill>
                  <a:srgbClr val="000000"/>
                </a:solidFill>
                <a:effectLst/>
                <a:uFillTx/>
                <a:latin typeface="Times New Roman"/>
              </a:rPr>
              <a:t>&lt;date/heure&gt;</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itle, 2 Content">
    <p:bg>
      <p:bgPr>
        <a:solidFill>
          <a:srgbClr val="FFFFFF"/>
        </a:solidFill>
        <a:effectLst/>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46" name="PlaceHolder 2"/>
          <p:cNvSpPr>
            <a:spLocks noGrp="1"/>
          </p:cNvSpPr>
          <p:nvPr>
            <p:ph type="body"/>
          </p:nvPr>
        </p:nvSpPr>
        <p:spPr>
          <a:xfrm>
            <a:off x="502920" y="1327320"/>
            <a:ext cx="4414320" cy="3263400"/>
          </a:xfrm>
          <a:prstGeom prst="rect">
            <a:avLst/>
          </a:prstGeom>
          <a:noFill/>
          <a:ln w="0">
            <a:noFill/>
          </a:ln>
        </p:spPr>
        <p:txBody>
          <a:bodyPr lIns="0" tIns="28440" rIns="0" bIns="0" anchor="t">
            <a:normAutofit fontScale="925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47" name="PlaceHolder 3"/>
          <p:cNvSpPr>
            <a:spLocks noGrp="1"/>
          </p:cNvSpPr>
          <p:nvPr>
            <p:ph type="body"/>
          </p:nvPr>
        </p:nvSpPr>
        <p:spPr>
          <a:xfrm>
            <a:off x="5138640" y="1327320"/>
            <a:ext cx="4414320" cy="3263400"/>
          </a:xfrm>
          <a:prstGeom prst="rect">
            <a:avLst/>
          </a:prstGeom>
          <a:noFill/>
          <a:ln w="0">
            <a:noFill/>
          </a:ln>
        </p:spPr>
        <p:txBody>
          <a:bodyPr lIns="0" tIns="28440" rIns="0" bIns="0" anchor="t">
            <a:normAutofit fontScale="925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48" name="PlaceHolder 4"/>
          <p:cNvSpPr>
            <a:spLocks noGrp="1"/>
          </p:cNvSpPr>
          <p:nvPr>
            <p:ph type="ftr" idx="22"/>
          </p:nvPr>
        </p:nvSpPr>
        <p:spPr>
          <a:xfrm>
            <a:off x="3447720" y="5165280"/>
            <a:ext cx="3171600" cy="366480"/>
          </a:xfrm>
          <a:prstGeom prst="rect">
            <a:avLst/>
          </a:prstGeom>
          <a:noFill/>
          <a:ln w="0">
            <a:noFill/>
          </a:ln>
        </p:spPr>
        <p:txBody>
          <a:bodyPr lIns="0" tIns="0" rIns="0" bIns="0" anchor="t">
            <a:noAutofit/>
          </a:bodyPr>
          <a:lstStyle>
            <a:lvl1pPr indent="0" algn="ct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ctr">
              <a:lnSpc>
                <a:spcPct val="93000"/>
              </a:lnSpc>
              <a:spcBef>
                <a:spcPts val="74"/>
              </a:spcBef>
              <a:spcAft>
                <a:spcPts val="74"/>
              </a:spcAft>
              <a:buNone/>
              <a:tabLst>
                <a:tab pos="0" algn="l"/>
              </a:tabLst>
            </a:pPr>
            <a:r>
              <a:rPr lang="fr-FR"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49" name="PlaceHolder 5"/>
          <p:cNvSpPr>
            <a:spLocks noGrp="1"/>
          </p:cNvSpPr>
          <p:nvPr>
            <p:ph type="sldNum" idx="23"/>
          </p:nvPr>
        </p:nvSpPr>
        <p:spPr>
          <a:xfrm>
            <a:off x="7227720" y="5165280"/>
            <a:ext cx="2323800" cy="366480"/>
          </a:xfrm>
          <a:prstGeom prst="rect">
            <a:avLst/>
          </a:prstGeom>
          <a:noFill/>
          <a:ln w="0">
            <a:noFill/>
          </a:ln>
        </p:spPr>
        <p:txBody>
          <a:bodyPr lIns="0" tIns="0" rIns="0" bIns="0" anchor="t">
            <a:noAutofit/>
          </a:bodyPr>
          <a:lstStyle>
            <a:lvl1pPr indent="0" algn="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r">
              <a:lnSpc>
                <a:spcPct val="93000"/>
              </a:lnSpc>
              <a:spcBef>
                <a:spcPts val="74"/>
              </a:spcBef>
              <a:spcAft>
                <a:spcPts val="74"/>
              </a:spcAft>
              <a:buNone/>
              <a:tabLst>
                <a:tab pos="0" algn="l"/>
              </a:tabLst>
            </a:pPr>
            <a:fld id="{32BA8F47-A585-4ADF-BA9F-230B4435483A}" type="slidenum">
              <a:rPr lang="fr-FR" sz="1400" b="0" u="none" strike="noStrike">
                <a:solidFill>
                  <a:srgbClr val="000000"/>
                </a:solidFill>
                <a:effectLst/>
                <a:uFillTx/>
                <a:latin typeface="Times New Roman"/>
                <a:ea typeface="DejaVu Sans"/>
              </a:rPr>
              <a:t>‹N°›</a:t>
            </a:fld>
            <a:endParaRPr lang="fr-FR" sz="1400" b="0" u="none" strike="noStrike">
              <a:solidFill>
                <a:srgbClr val="000000"/>
              </a:solidFill>
              <a:effectLst/>
              <a:uFillTx/>
              <a:latin typeface="Times New Roman"/>
            </a:endParaRPr>
          </a:p>
        </p:txBody>
      </p:sp>
      <p:sp>
        <p:nvSpPr>
          <p:cNvPr id="50" name="PlaceHolder 6"/>
          <p:cNvSpPr>
            <a:spLocks noGrp="1"/>
          </p:cNvSpPr>
          <p:nvPr>
            <p:ph type="dt" idx="24"/>
          </p:nvPr>
        </p:nvSpPr>
        <p:spPr>
          <a:xfrm>
            <a:off x="503280" y="5165280"/>
            <a:ext cx="2323800" cy="366480"/>
          </a:xfrm>
          <a:prstGeom prst="rect">
            <a:avLst/>
          </a:prstGeom>
          <a:noFill/>
          <a:ln w="0">
            <a:noFill/>
          </a:ln>
        </p:spPr>
        <p:txBody>
          <a:bodyPr lIns="0" tIns="0" rIns="0" bIns="0" anchor="t">
            <a:noAutofit/>
          </a:bodyPr>
          <a:lstStyle>
            <a:lvl1pPr indent="0">
              <a:buNone/>
              <a:defRPr lang="fr-FR" sz="1400" b="0" u="none" strike="noStrike">
                <a:solidFill>
                  <a:srgbClr val="000000"/>
                </a:solidFill>
                <a:effectLst/>
                <a:uFillTx/>
                <a:latin typeface="Times New Roman"/>
              </a:defRPr>
            </a:lvl1pPr>
          </a:lstStyle>
          <a:p>
            <a:pPr indent="0">
              <a:buNone/>
            </a:pPr>
            <a:r>
              <a:rPr lang="fr-FR" sz="1400" b="0" u="none" strike="noStrike">
                <a:solidFill>
                  <a:srgbClr val="000000"/>
                </a:solidFill>
                <a:effectLst/>
                <a:uFillTx/>
                <a:latin typeface="Times New Roman"/>
              </a:rPr>
              <a:t>&lt;date/heure&gt;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rgbClr val="FFFFFF"/>
        </a:solidFill>
        <a:effectLst/>
      </p:bgPr>
    </p:bg>
    <p:spTree>
      <p:nvGrpSpPr>
        <p:cNvPr id="1" name=""/>
        <p:cNvGrpSpPr/>
        <p:nvPr/>
      </p:nvGrpSpPr>
      <p:grpSpPr>
        <a:xfrm>
          <a:off x="0" y="0"/>
          <a:ext cx="0" cy="0"/>
          <a:chOff x="0" y="0"/>
          <a:chExt cx="0" cy="0"/>
        </a:xfrm>
      </p:grpSpPr>
      <p:sp>
        <p:nvSpPr>
          <p:cNvPr id="51"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52" name="PlaceHolder 2"/>
          <p:cNvSpPr>
            <a:spLocks noGrp="1"/>
          </p:cNvSpPr>
          <p:nvPr>
            <p:ph type="ftr" idx="25"/>
          </p:nvPr>
        </p:nvSpPr>
        <p:spPr>
          <a:xfrm>
            <a:off x="3447720" y="5165280"/>
            <a:ext cx="3171600" cy="366480"/>
          </a:xfrm>
          <a:prstGeom prst="rect">
            <a:avLst/>
          </a:prstGeom>
          <a:noFill/>
          <a:ln w="0">
            <a:noFill/>
          </a:ln>
        </p:spPr>
        <p:txBody>
          <a:bodyPr lIns="0" tIns="0" rIns="0" bIns="0" anchor="t">
            <a:noAutofit/>
          </a:bodyPr>
          <a:lstStyle>
            <a:lvl1pPr indent="0" algn="ct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ctr">
              <a:lnSpc>
                <a:spcPct val="93000"/>
              </a:lnSpc>
              <a:spcBef>
                <a:spcPts val="74"/>
              </a:spcBef>
              <a:spcAft>
                <a:spcPts val="74"/>
              </a:spcAft>
              <a:buNone/>
              <a:tabLst>
                <a:tab pos="0" algn="l"/>
              </a:tabLst>
            </a:pPr>
            <a:r>
              <a:rPr lang="fr-FR"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53" name="PlaceHolder 3"/>
          <p:cNvSpPr>
            <a:spLocks noGrp="1"/>
          </p:cNvSpPr>
          <p:nvPr>
            <p:ph type="sldNum" idx="26"/>
          </p:nvPr>
        </p:nvSpPr>
        <p:spPr>
          <a:xfrm>
            <a:off x="7227720" y="5165280"/>
            <a:ext cx="2323800" cy="366480"/>
          </a:xfrm>
          <a:prstGeom prst="rect">
            <a:avLst/>
          </a:prstGeom>
          <a:noFill/>
          <a:ln w="0">
            <a:noFill/>
          </a:ln>
        </p:spPr>
        <p:txBody>
          <a:bodyPr lIns="0" tIns="0" rIns="0" bIns="0" anchor="t">
            <a:noAutofit/>
          </a:bodyPr>
          <a:lstStyle>
            <a:lvl1pPr indent="0" algn="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r">
              <a:lnSpc>
                <a:spcPct val="93000"/>
              </a:lnSpc>
              <a:spcBef>
                <a:spcPts val="74"/>
              </a:spcBef>
              <a:spcAft>
                <a:spcPts val="74"/>
              </a:spcAft>
              <a:buNone/>
              <a:tabLst>
                <a:tab pos="0" algn="l"/>
              </a:tabLst>
            </a:pPr>
            <a:fld id="{5DE40717-4E7F-4234-A4C2-9A5265838F1A}" type="slidenum">
              <a:rPr lang="fr-FR" sz="1400" b="0" u="none" strike="noStrike">
                <a:solidFill>
                  <a:srgbClr val="000000"/>
                </a:solidFill>
                <a:effectLst/>
                <a:uFillTx/>
                <a:latin typeface="Times New Roman"/>
                <a:ea typeface="DejaVu Sans"/>
              </a:rPr>
              <a:t>‹N°›</a:t>
            </a:fld>
            <a:endParaRPr lang="fr-FR" sz="1400" b="0" u="none" strike="noStrike">
              <a:solidFill>
                <a:srgbClr val="000000"/>
              </a:solidFill>
              <a:effectLst/>
              <a:uFillTx/>
              <a:latin typeface="Times New Roman"/>
            </a:endParaRPr>
          </a:p>
        </p:txBody>
      </p:sp>
      <p:sp>
        <p:nvSpPr>
          <p:cNvPr id="54" name="PlaceHolder 4"/>
          <p:cNvSpPr>
            <a:spLocks noGrp="1"/>
          </p:cNvSpPr>
          <p:nvPr>
            <p:ph type="dt" idx="27"/>
          </p:nvPr>
        </p:nvSpPr>
        <p:spPr>
          <a:xfrm>
            <a:off x="503280" y="5165280"/>
            <a:ext cx="2323800" cy="366480"/>
          </a:xfrm>
          <a:prstGeom prst="rect">
            <a:avLst/>
          </a:prstGeom>
          <a:noFill/>
          <a:ln w="0">
            <a:noFill/>
          </a:ln>
        </p:spPr>
        <p:txBody>
          <a:bodyPr lIns="0" tIns="0" rIns="0" bIns="0" anchor="t">
            <a:noAutofit/>
          </a:bodyPr>
          <a:lstStyle>
            <a:lvl1pPr indent="0">
              <a:buNone/>
              <a:defRPr lang="fr-FR" sz="1400" b="0" u="none" strike="noStrike">
                <a:solidFill>
                  <a:srgbClr val="000000"/>
                </a:solidFill>
                <a:effectLst/>
                <a:uFillTx/>
                <a:latin typeface="Times New Roman"/>
              </a:defRPr>
            </a:lvl1pPr>
          </a:lstStyle>
          <a:p>
            <a:pPr indent="0">
              <a:buNone/>
            </a:pPr>
            <a:r>
              <a:rPr lang="fr-FR" sz="1400" b="0" u="none" strike="noStrike">
                <a:solidFill>
                  <a:srgbClr val="000000"/>
                </a:solidFill>
                <a:effectLst/>
                <a:uFillTx/>
                <a:latin typeface="Times New Roman"/>
              </a:rPr>
              <a:t>&lt;date/heure&gt;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mediaAndTx" preserve="1">
  <p:cSld name="Centered Text">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ftr" idx="28"/>
          </p:nvPr>
        </p:nvSpPr>
        <p:spPr>
          <a:xfrm>
            <a:off x="3447720" y="5165280"/>
            <a:ext cx="3171600" cy="366480"/>
          </a:xfrm>
          <a:prstGeom prst="rect">
            <a:avLst/>
          </a:prstGeom>
          <a:noFill/>
          <a:ln w="0">
            <a:noFill/>
          </a:ln>
        </p:spPr>
        <p:txBody>
          <a:bodyPr lIns="0" tIns="0" rIns="0" bIns="0" anchor="t">
            <a:noAutofit/>
          </a:bodyPr>
          <a:lstStyle>
            <a:lvl1pPr indent="0" algn="ct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ctr">
              <a:lnSpc>
                <a:spcPct val="93000"/>
              </a:lnSpc>
              <a:spcBef>
                <a:spcPts val="74"/>
              </a:spcBef>
              <a:spcAft>
                <a:spcPts val="74"/>
              </a:spcAft>
              <a:buNone/>
              <a:tabLst>
                <a:tab pos="0" algn="l"/>
              </a:tabLst>
            </a:pPr>
            <a:r>
              <a:rPr lang="fr-FR"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56" name="PlaceHolder 2"/>
          <p:cNvSpPr>
            <a:spLocks noGrp="1"/>
          </p:cNvSpPr>
          <p:nvPr>
            <p:ph type="sldNum" idx="29"/>
          </p:nvPr>
        </p:nvSpPr>
        <p:spPr>
          <a:xfrm>
            <a:off x="7227720" y="5165280"/>
            <a:ext cx="2323800" cy="366480"/>
          </a:xfrm>
          <a:prstGeom prst="rect">
            <a:avLst/>
          </a:prstGeom>
          <a:noFill/>
          <a:ln w="0">
            <a:noFill/>
          </a:ln>
        </p:spPr>
        <p:txBody>
          <a:bodyPr lIns="0" tIns="0" rIns="0" bIns="0" anchor="t">
            <a:noAutofit/>
          </a:bodyPr>
          <a:lstStyle>
            <a:lvl1pPr indent="0" algn="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r">
              <a:lnSpc>
                <a:spcPct val="93000"/>
              </a:lnSpc>
              <a:spcBef>
                <a:spcPts val="74"/>
              </a:spcBef>
              <a:spcAft>
                <a:spcPts val="74"/>
              </a:spcAft>
              <a:buNone/>
              <a:tabLst>
                <a:tab pos="0" algn="l"/>
              </a:tabLst>
            </a:pPr>
            <a:fld id="{8BB60F5D-001E-4C0E-8D4A-1AC98BA28189}" type="slidenum">
              <a:rPr lang="fr-FR" sz="1400" b="0" u="none" strike="noStrike">
                <a:solidFill>
                  <a:srgbClr val="000000"/>
                </a:solidFill>
                <a:effectLst/>
                <a:uFillTx/>
                <a:latin typeface="Times New Roman"/>
                <a:ea typeface="DejaVu Sans"/>
              </a:rPr>
              <a:t>‹N°›</a:t>
            </a:fld>
            <a:endParaRPr lang="fr-FR" sz="1400" b="0" u="none" strike="noStrike">
              <a:solidFill>
                <a:srgbClr val="000000"/>
              </a:solidFill>
              <a:effectLst/>
              <a:uFillTx/>
              <a:latin typeface="Times New Roman"/>
            </a:endParaRPr>
          </a:p>
        </p:txBody>
      </p:sp>
      <p:sp>
        <p:nvSpPr>
          <p:cNvPr id="57" name="PlaceHolder 3"/>
          <p:cNvSpPr>
            <a:spLocks noGrp="1"/>
          </p:cNvSpPr>
          <p:nvPr>
            <p:ph type="dt" idx="30"/>
          </p:nvPr>
        </p:nvSpPr>
        <p:spPr>
          <a:xfrm>
            <a:off x="503280" y="5165280"/>
            <a:ext cx="2323800" cy="366480"/>
          </a:xfrm>
          <a:prstGeom prst="rect">
            <a:avLst/>
          </a:prstGeom>
          <a:noFill/>
          <a:ln w="0">
            <a:noFill/>
          </a:ln>
        </p:spPr>
        <p:txBody>
          <a:bodyPr lIns="0" tIns="0" rIns="0" bIns="0" anchor="t">
            <a:noAutofit/>
          </a:bodyPr>
          <a:lstStyle>
            <a:lvl1pPr indent="0">
              <a:buNone/>
              <a:defRPr lang="fr-FR" sz="1400" b="0" u="none" strike="noStrike">
                <a:solidFill>
                  <a:srgbClr val="000000"/>
                </a:solidFill>
                <a:effectLst/>
                <a:uFillTx/>
                <a:latin typeface="Times New Roman"/>
              </a:defRPr>
            </a:lvl1pPr>
          </a:lstStyle>
          <a:p>
            <a:pPr indent="0">
              <a:buNone/>
            </a:pPr>
            <a:r>
              <a:rPr lang="fr-FR" sz="1400" b="0" u="none" strike="noStrike">
                <a:solidFill>
                  <a:srgbClr val="000000"/>
                </a:solidFill>
                <a:effectLst/>
                <a:uFillTx/>
                <a:latin typeface="Times New Roman"/>
              </a:rPr>
              <a:t>&lt;date/heure&gt;</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AndTx" preserve="1">
  <p:cSld name="Title, 2 Content and Content">
    <p:bg>
      <p:bgPr>
        <a:solidFill>
          <a:srgbClr val="FFFFFF"/>
        </a:solidFill>
        <a:effectLst/>
      </p:bgPr>
    </p:bg>
    <p:spTree>
      <p:nvGrpSpPr>
        <p:cNvPr id="1" name=""/>
        <p:cNvGrpSpPr/>
        <p:nvPr/>
      </p:nvGrpSpPr>
      <p:grpSpPr>
        <a:xfrm>
          <a:off x="0" y="0"/>
          <a:ext cx="0" cy="0"/>
          <a:chOff x="0" y="0"/>
          <a:chExt cx="0" cy="0"/>
        </a:xfrm>
      </p:grpSpPr>
      <p:sp>
        <p:nvSpPr>
          <p:cNvPr id="58"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59" name="PlaceHolder 2"/>
          <p:cNvSpPr>
            <a:spLocks noGrp="1"/>
          </p:cNvSpPr>
          <p:nvPr>
            <p:ph type="body"/>
          </p:nvPr>
        </p:nvSpPr>
        <p:spPr>
          <a:xfrm>
            <a:off x="50292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60" name="PlaceHolder 3"/>
          <p:cNvSpPr>
            <a:spLocks noGrp="1"/>
          </p:cNvSpPr>
          <p:nvPr>
            <p:ph type="body"/>
          </p:nvPr>
        </p:nvSpPr>
        <p:spPr>
          <a:xfrm>
            <a:off x="5138640" y="1327320"/>
            <a:ext cx="4414320" cy="3263400"/>
          </a:xfrm>
          <a:prstGeom prst="rect">
            <a:avLst/>
          </a:prstGeom>
          <a:noFill/>
          <a:ln w="0">
            <a:noFill/>
          </a:ln>
        </p:spPr>
        <p:txBody>
          <a:bodyPr lIns="0" tIns="28440" rIns="0" bIns="0" anchor="t">
            <a:normAutofit fontScale="925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61" name="PlaceHolder 4"/>
          <p:cNvSpPr>
            <a:spLocks noGrp="1"/>
          </p:cNvSpPr>
          <p:nvPr>
            <p:ph type="body"/>
          </p:nvPr>
        </p:nvSpPr>
        <p:spPr>
          <a:xfrm>
            <a:off x="502920" y="303228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62" name="PlaceHolder 5"/>
          <p:cNvSpPr>
            <a:spLocks noGrp="1"/>
          </p:cNvSpPr>
          <p:nvPr>
            <p:ph type="ftr" idx="31"/>
          </p:nvPr>
        </p:nvSpPr>
        <p:spPr>
          <a:xfrm>
            <a:off x="3447720" y="5165280"/>
            <a:ext cx="3171600" cy="366480"/>
          </a:xfrm>
          <a:prstGeom prst="rect">
            <a:avLst/>
          </a:prstGeom>
          <a:noFill/>
          <a:ln w="0">
            <a:noFill/>
          </a:ln>
        </p:spPr>
        <p:txBody>
          <a:bodyPr lIns="0" tIns="0" rIns="0" bIns="0" anchor="t">
            <a:noAutofit/>
          </a:bodyPr>
          <a:lstStyle>
            <a:lvl1pPr indent="0" algn="ct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ctr">
              <a:lnSpc>
                <a:spcPct val="93000"/>
              </a:lnSpc>
              <a:spcBef>
                <a:spcPts val="74"/>
              </a:spcBef>
              <a:spcAft>
                <a:spcPts val="74"/>
              </a:spcAft>
              <a:buNone/>
              <a:tabLst>
                <a:tab pos="0" algn="l"/>
              </a:tabLst>
            </a:pPr>
            <a:r>
              <a:rPr lang="fr-FR"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63" name="PlaceHolder 6"/>
          <p:cNvSpPr>
            <a:spLocks noGrp="1"/>
          </p:cNvSpPr>
          <p:nvPr>
            <p:ph type="sldNum" idx="32"/>
          </p:nvPr>
        </p:nvSpPr>
        <p:spPr>
          <a:xfrm>
            <a:off x="7227720" y="5165280"/>
            <a:ext cx="2323800" cy="366480"/>
          </a:xfrm>
          <a:prstGeom prst="rect">
            <a:avLst/>
          </a:prstGeom>
          <a:noFill/>
          <a:ln w="0">
            <a:noFill/>
          </a:ln>
        </p:spPr>
        <p:txBody>
          <a:bodyPr lIns="0" tIns="0" rIns="0" bIns="0" anchor="t">
            <a:noAutofit/>
          </a:bodyPr>
          <a:lstStyle>
            <a:lvl1pPr indent="0" algn="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r">
              <a:lnSpc>
                <a:spcPct val="93000"/>
              </a:lnSpc>
              <a:spcBef>
                <a:spcPts val="74"/>
              </a:spcBef>
              <a:spcAft>
                <a:spcPts val="74"/>
              </a:spcAft>
              <a:buNone/>
              <a:tabLst>
                <a:tab pos="0" algn="l"/>
              </a:tabLst>
            </a:pPr>
            <a:fld id="{7A26D5FB-504E-4E78-B0B6-19466D564254}" type="slidenum">
              <a:rPr lang="fr-FR" sz="1400" b="0" u="none" strike="noStrike">
                <a:solidFill>
                  <a:srgbClr val="000000"/>
                </a:solidFill>
                <a:effectLst/>
                <a:uFillTx/>
                <a:latin typeface="Times New Roman"/>
                <a:ea typeface="DejaVu Sans"/>
              </a:rPr>
              <a:t>‹N°›</a:t>
            </a:fld>
            <a:endParaRPr lang="fr-FR" sz="1400" b="0" u="none" strike="noStrike">
              <a:solidFill>
                <a:srgbClr val="000000"/>
              </a:solidFill>
              <a:effectLst/>
              <a:uFillTx/>
              <a:latin typeface="Times New Roman"/>
            </a:endParaRPr>
          </a:p>
        </p:txBody>
      </p:sp>
      <p:sp>
        <p:nvSpPr>
          <p:cNvPr id="64" name="PlaceHolder 7"/>
          <p:cNvSpPr>
            <a:spLocks noGrp="1"/>
          </p:cNvSpPr>
          <p:nvPr>
            <p:ph type="dt" idx="33"/>
          </p:nvPr>
        </p:nvSpPr>
        <p:spPr>
          <a:xfrm>
            <a:off x="503280" y="5165280"/>
            <a:ext cx="2323800" cy="366480"/>
          </a:xfrm>
          <a:prstGeom prst="rect">
            <a:avLst/>
          </a:prstGeom>
          <a:noFill/>
          <a:ln w="0">
            <a:noFill/>
          </a:ln>
        </p:spPr>
        <p:txBody>
          <a:bodyPr lIns="0" tIns="0" rIns="0" bIns="0" anchor="t">
            <a:noAutofit/>
          </a:bodyPr>
          <a:lstStyle>
            <a:lvl1pPr indent="0">
              <a:buNone/>
              <a:defRPr lang="fr-FR" sz="1400" b="0" u="none" strike="noStrike">
                <a:solidFill>
                  <a:srgbClr val="000000"/>
                </a:solidFill>
                <a:effectLst/>
                <a:uFillTx/>
                <a:latin typeface="Times New Roman"/>
              </a:defRPr>
            </a:lvl1pPr>
          </a:lstStyle>
          <a:p>
            <a:pPr indent="0">
              <a:buNone/>
            </a:pPr>
            <a:r>
              <a:rPr lang="fr-FR" sz="1400" b="0" u="none" strike="noStrike">
                <a:solidFill>
                  <a:srgbClr val="000000"/>
                </a:solidFill>
                <a:effectLst/>
                <a:uFillTx/>
                <a:latin typeface="Times New Roman"/>
              </a:rPr>
              <a:t>&lt;date/heure&gt;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Content and 2 Content">
    <p:bg>
      <p:bgPr>
        <a:solidFill>
          <a:srgbClr val="FFFFFF"/>
        </a:solidFill>
        <a:effectLst/>
      </p:bgPr>
    </p:bg>
    <p:spTree>
      <p:nvGrpSpPr>
        <p:cNvPr id="1" name=""/>
        <p:cNvGrpSpPr/>
        <p:nvPr/>
      </p:nvGrpSpPr>
      <p:grpSpPr>
        <a:xfrm>
          <a:off x="0" y="0"/>
          <a:ext cx="0" cy="0"/>
          <a:chOff x="0" y="0"/>
          <a:chExt cx="0" cy="0"/>
        </a:xfrm>
      </p:grpSpPr>
      <p:sp>
        <p:nvSpPr>
          <p:cNvPr id="65"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66" name="PlaceHolder 2"/>
          <p:cNvSpPr>
            <a:spLocks noGrp="1"/>
          </p:cNvSpPr>
          <p:nvPr>
            <p:ph type="body"/>
          </p:nvPr>
        </p:nvSpPr>
        <p:spPr>
          <a:xfrm>
            <a:off x="502920" y="1327320"/>
            <a:ext cx="4414320" cy="3263400"/>
          </a:xfrm>
          <a:prstGeom prst="rect">
            <a:avLst/>
          </a:prstGeom>
          <a:noFill/>
          <a:ln w="0">
            <a:noFill/>
          </a:ln>
        </p:spPr>
        <p:txBody>
          <a:bodyPr lIns="0" tIns="28440" rIns="0" bIns="0" anchor="t">
            <a:normAutofit fontScale="925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67" name="PlaceHolder 3"/>
          <p:cNvSpPr>
            <a:spLocks noGrp="1"/>
          </p:cNvSpPr>
          <p:nvPr>
            <p:ph type="body"/>
          </p:nvPr>
        </p:nvSpPr>
        <p:spPr>
          <a:xfrm>
            <a:off x="513864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68" name="PlaceHolder 4"/>
          <p:cNvSpPr>
            <a:spLocks noGrp="1"/>
          </p:cNvSpPr>
          <p:nvPr>
            <p:ph type="body"/>
          </p:nvPr>
        </p:nvSpPr>
        <p:spPr>
          <a:xfrm>
            <a:off x="5138640" y="303228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69" name="PlaceHolder 5"/>
          <p:cNvSpPr>
            <a:spLocks noGrp="1"/>
          </p:cNvSpPr>
          <p:nvPr>
            <p:ph type="ftr" idx="34"/>
          </p:nvPr>
        </p:nvSpPr>
        <p:spPr>
          <a:xfrm>
            <a:off x="3447720" y="5165280"/>
            <a:ext cx="3171600" cy="366480"/>
          </a:xfrm>
          <a:prstGeom prst="rect">
            <a:avLst/>
          </a:prstGeom>
          <a:noFill/>
          <a:ln w="0">
            <a:noFill/>
          </a:ln>
        </p:spPr>
        <p:txBody>
          <a:bodyPr lIns="0" tIns="0" rIns="0" bIns="0" anchor="t">
            <a:noAutofit/>
          </a:bodyPr>
          <a:lstStyle>
            <a:lvl1pPr indent="0" algn="ct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ctr">
              <a:lnSpc>
                <a:spcPct val="93000"/>
              </a:lnSpc>
              <a:spcBef>
                <a:spcPts val="74"/>
              </a:spcBef>
              <a:spcAft>
                <a:spcPts val="74"/>
              </a:spcAft>
              <a:buNone/>
              <a:tabLst>
                <a:tab pos="0" algn="l"/>
              </a:tabLst>
            </a:pPr>
            <a:r>
              <a:rPr lang="fr-FR" sz="1400" b="0" u="none" strike="noStrike">
                <a:solidFill>
                  <a:srgbClr val="000000"/>
                </a:solidFill>
                <a:effectLst/>
                <a:uFillTx/>
                <a:latin typeface="Times New Roman"/>
                <a:ea typeface="DejaVu Sans"/>
              </a:rPr>
              <a:t>&lt;pied de page&gt;</a:t>
            </a:r>
            <a:endParaRPr lang="fr-FR" sz="1400" b="0" u="none" strike="noStrike">
              <a:solidFill>
                <a:srgbClr val="000000"/>
              </a:solidFill>
              <a:effectLst/>
              <a:uFillTx/>
              <a:latin typeface="Times New Roman"/>
            </a:endParaRPr>
          </a:p>
        </p:txBody>
      </p:sp>
      <p:sp>
        <p:nvSpPr>
          <p:cNvPr id="70" name="PlaceHolder 6"/>
          <p:cNvSpPr>
            <a:spLocks noGrp="1"/>
          </p:cNvSpPr>
          <p:nvPr>
            <p:ph type="sldNum" idx="35"/>
          </p:nvPr>
        </p:nvSpPr>
        <p:spPr>
          <a:xfrm>
            <a:off x="7227720" y="5165280"/>
            <a:ext cx="2323800" cy="366480"/>
          </a:xfrm>
          <a:prstGeom prst="rect">
            <a:avLst/>
          </a:prstGeom>
          <a:noFill/>
          <a:ln w="0">
            <a:noFill/>
          </a:ln>
        </p:spPr>
        <p:txBody>
          <a:bodyPr lIns="0" tIns="0" rIns="0" bIns="0" anchor="t">
            <a:noAutofit/>
          </a:bodyPr>
          <a:lstStyle>
            <a:lvl1pPr indent="0" algn="r">
              <a:lnSpc>
                <a:spcPct val="93000"/>
              </a:lnSpc>
              <a:spcBef>
                <a:spcPts val="74"/>
              </a:spcBef>
              <a:spcAft>
                <a:spcPts val="74"/>
              </a:spcAft>
              <a:buNone/>
              <a:tabLst>
                <a:tab pos="0" algn="l"/>
              </a:tabLst>
              <a:defRPr lang="fr-FR" sz="1400" b="0" u="none" strike="noStrike">
                <a:solidFill>
                  <a:srgbClr val="000000"/>
                </a:solidFill>
                <a:effectLst/>
                <a:uFillTx/>
                <a:latin typeface="Times New Roman"/>
                <a:ea typeface="DejaVu Sans"/>
              </a:defRPr>
            </a:lvl1pPr>
          </a:lstStyle>
          <a:p>
            <a:pPr indent="0" algn="r">
              <a:lnSpc>
                <a:spcPct val="93000"/>
              </a:lnSpc>
              <a:spcBef>
                <a:spcPts val="74"/>
              </a:spcBef>
              <a:spcAft>
                <a:spcPts val="74"/>
              </a:spcAft>
              <a:buNone/>
              <a:tabLst>
                <a:tab pos="0" algn="l"/>
              </a:tabLst>
            </a:pPr>
            <a:fld id="{1EDC53B3-B4FB-46D3-A056-57E33CF5104E}" type="slidenum">
              <a:rPr lang="fr-FR" sz="1400" b="0" u="none" strike="noStrike">
                <a:solidFill>
                  <a:srgbClr val="000000"/>
                </a:solidFill>
                <a:effectLst/>
                <a:uFillTx/>
                <a:latin typeface="Times New Roman"/>
                <a:ea typeface="DejaVu Sans"/>
              </a:rPr>
              <a:t>‹N°›</a:t>
            </a:fld>
            <a:endParaRPr lang="fr-FR" sz="1400" b="0" u="none" strike="noStrike">
              <a:solidFill>
                <a:srgbClr val="000000"/>
              </a:solidFill>
              <a:effectLst/>
              <a:uFillTx/>
              <a:latin typeface="Times New Roman"/>
            </a:endParaRPr>
          </a:p>
        </p:txBody>
      </p:sp>
      <p:sp>
        <p:nvSpPr>
          <p:cNvPr id="71" name="PlaceHolder 7"/>
          <p:cNvSpPr>
            <a:spLocks noGrp="1"/>
          </p:cNvSpPr>
          <p:nvPr>
            <p:ph type="dt" idx="36"/>
          </p:nvPr>
        </p:nvSpPr>
        <p:spPr>
          <a:xfrm>
            <a:off x="503280" y="5165280"/>
            <a:ext cx="2323800" cy="366480"/>
          </a:xfrm>
          <a:prstGeom prst="rect">
            <a:avLst/>
          </a:prstGeom>
          <a:noFill/>
          <a:ln w="0">
            <a:noFill/>
          </a:ln>
        </p:spPr>
        <p:txBody>
          <a:bodyPr lIns="0" tIns="0" rIns="0" bIns="0" anchor="t">
            <a:noAutofit/>
          </a:bodyPr>
          <a:lstStyle>
            <a:lvl1pPr indent="0">
              <a:buNone/>
              <a:defRPr lang="fr-FR" sz="1400" b="0" u="none" strike="noStrike">
                <a:solidFill>
                  <a:srgbClr val="000000"/>
                </a:solidFill>
                <a:effectLst/>
                <a:uFillTx/>
                <a:latin typeface="Times New Roman"/>
              </a:defRPr>
            </a:lvl1pPr>
          </a:lstStyle>
          <a:p>
            <a:pPr indent="0">
              <a:buNone/>
            </a:pPr>
            <a:r>
              <a:rPr lang="fr-FR" sz="1400" b="0" u="none" strike="noStrike">
                <a:solidFill>
                  <a:srgbClr val="000000"/>
                </a:solidFill>
                <a:effectLst/>
                <a:uFillTx/>
                <a:latin typeface="Times New Roman"/>
              </a:rPr>
              <a:t>&lt;date/heure&gt;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OverTx" preserve="1">
  <p:cSld name="Standard">
    <p:bg>
      <p:bgPr>
        <a:solidFill>
          <a:srgbClr val="FEFFFF"/>
        </a:solidFill>
        <a:effectLst/>
      </p:bgPr>
    </p:bg>
    <p:spTree>
      <p:nvGrpSpPr>
        <p:cNvPr id="1" name=""/>
        <p:cNvGrpSpPr/>
        <p:nvPr/>
      </p:nvGrpSpPr>
      <p:grpSpPr>
        <a:xfrm>
          <a:off x="0" y="0"/>
          <a:ext cx="0" cy="0"/>
          <a:chOff x="0" y="0"/>
          <a:chExt cx="0" cy="0"/>
        </a:xfrm>
      </p:grpSpPr>
      <p:sp>
        <p:nvSpPr>
          <p:cNvPr id="72"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73" name="PlaceHolder 2"/>
          <p:cNvSpPr>
            <a:spLocks noGrp="1"/>
          </p:cNvSpPr>
          <p:nvPr>
            <p:ph type="body"/>
          </p:nvPr>
        </p:nvSpPr>
        <p:spPr>
          <a:xfrm>
            <a:off x="50292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74" name="PlaceHolder 3"/>
          <p:cNvSpPr>
            <a:spLocks noGrp="1"/>
          </p:cNvSpPr>
          <p:nvPr>
            <p:ph type="body"/>
          </p:nvPr>
        </p:nvSpPr>
        <p:spPr>
          <a:xfrm>
            <a:off x="513864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75" name="PlaceHolder 4"/>
          <p:cNvSpPr>
            <a:spLocks noGrp="1"/>
          </p:cNvSpPr>
          <p:nvPr>
            <p:ph type="body"/>
          </p:nvPr>
        </p:nvSpPr>
        <p:spPr>
          <a:xfrm>
            <a:off x="502920" y="3032280"/>
            <a:ext cx="9046800" cy="1556280"/>
          </a:xfrm>
          <a:prstGeom prst="rect">
            <a:avLst/>
          </a:prstGeom>
          <a:noFill/>
          <a:ln w="0">
            <a:noFill/>
          </a:ln>
        </p:spPr>
        <p:txBody>
          <a:bodyPr lIns="0" tIns="28440" rIns="0" bIns="0" anchor="t">
            <a:normAutofit fontScale="7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verTx" preserve="1">
  <p:cSld name="Standard 1">
    <p:bg>
      <p:bgPr>
        <a:solidFill>
          <a:srgbClr val="FEFFFF"/>
        </a:solidFill>
        <a:effectLst/>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77" name="PlaceHolder 2"/>
          <p:cNvSpPr>
            <a:spLocks noGrp="1"/>
          </p:cNvSpPr>
          <p:nvPr>
            <p:ph type="body"/>
          </p:nvPr>
        </p:nvSpPr>
        <p:spPr>
          <a:xfrm>
            <a:off x="502920" y="1327320"/>
            <a:ext cx="9046800" cy="1556280"/>
          </a:xfrm>
          <a:prstGeom prst="rect">
            <a:avLst/>
          </a:prstGeom>
          <a:noFill/>
          <a:ln w="0">
            <a:noFill/>
          </a:ln>
        </p:spPr>
        <p:txBody>
          <a:bodyPr lIns="0" tIns="28440" rIns="0" bIns="0" anchor="t">
            <a:normAutofit fontScale="7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78" name="PlaceHolder 3"/>
          <p:cNvSpPr>
            <a:spLocks noGrp="1"/>
          </p:cNvSpPr>
          <p:nvPr>
            <p:ph type="body"/>
          </p:nvPr>
        </p:nvSpPr>
        <p:spPr>
          <a:xfrm>
            <a:off x="502920" y="3032280"/>
            <a:ext cx="9046800" cy="1556280"/>
          </a:xfrm>
          <a:prstGeom prst="rect">
            <a:avLst/>
          </a:prstGeom>
          <a:noFill/>
          <a:ln w="0">
            <a:noFill/>
          </a:ln>
        </p:spPr>
        <p:txBody>
          <a:bodyPr lIns="0" tIns="28440" rIns="0" bIns="0" anchor="t">
            <a:normAutofit fontScale="7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reserve="1">
  <p:cSld name="Standard 2">
    <p:bg>
      <p:bgPr>
        <a:solidFill>
          <a:srgbClr val="FEFFFF"/>
        </a:solidFill>
        <a:effectLst/>
      </p:bgPr>
    </p:bg>
    <p:spTree>
      <p:nvGrpSpPr>
        <p:cNvPr id="1" name=""/>
        <p:cNvGrpSpPr/>
        <p:nvPr/>
      </p:nvGrpSpPr>
      <p:grpSpPr>
        <a:xfrm>
          <a:off x="0" y="0"/>
          <a:ext cx="0" cy="0"/>
          <a:chOff x="0" y="0"/>
          <a:chExt cx="0" cy="0"/>
        </a:xfrm>
      </p:grpSpPr>
      <p:sp>
        <p:nvSpPr>
          <p:cNvPr id="79"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80" name="PlaceHolder 2"/>
          <p:cNvSpPr>
            <a:spLocks noGrp="1"/>
          </p:cNvSpPr>
          <p:nvPr>
            <p:ph type="body"/>
          </p:nvPr>
        </p:nvSpPr>
        <p:spPr>
          <a:xfrm>
            <a:off x="50292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81" name="PlaceHolder 3"/>
          <p:cNvSpPr>
            <a:spLocks noGrp="1"/>
          </p:cNvSpPr>
          <p:nvPr>
            <p:ph type="body"/>
          </p:nvPr>
        </p:nvSpPr>
        <p:spPr>
          <a:xfrm>
            <a:off x="513864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82" name="PlaceHolder 4"/>
          <p:cNvSpPr>
            <a:spLocks noGrp="1"/>
          </p:cNvSpPr>
          <p:nvPr>
            <p:ph type="body"/>
          </p:nvPr>
        </p:nvSpPr>
        <p:spPr>
          <a:xfrm>
            <a:off x="502920" y="303228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83" name="PlaceHolder 5"/>
          <p:cNvSpPr>
            <a:spLocks noGrp="1"/>
          </p:cNvSpPr>
          <p:nvPr>
            <p:ph type="body"/>
          </p:nvPr>
        </p:nvSpPr>
        <p:spPr>
          <a:xfrm>
            <a:off x="5138640" y="303228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Standard 3">
    <p:bg>
      <p:bgPr>
        <a:solidFill>
          <a:srgbClr val="FEFFFF"/>
        </a:solidFill>
        <a:effectLst/>
      </p:bgPr>
    </p:bg>
    <p:spTree>
      <p:nvGrpSpPr>
        <p:cNvPr id="1" name=""/>
        <p:cNvGrpSpPr/>
        <p:nvPr/>
      </p:nvGrpSpPr>
      <p:grpSpPr>
        <a:xfrm>
          <a:off x="0" y="0"/>
          <a:ext cx="0" cy="0"/>
          <a:chOff x="0" y="0"/>
          <a:chExt cx="0" cy="0"/>
        </a:xfrm>
      </p:grpSpPr>
      <p:sp>
        <p:nvSpPr>
          <p:cNvPr id="84"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85" name="PlaceHolder 2"/>
          <p:cNvSpPr>
            <a:spLocks noGrp="1"/>
          </p:cNvSpPr>
          <p:nvPr>
            <p:ph type="body"/>
          </p:nvPr>
        </p:nvSpPr>
        <p:spPr>
          <a:xfrm>
            <a:off x="502920" y="132732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86" name="PlaceHolder 3"/>
          <p:cNvSpPr>
            <a:spLocks noGrp="1"/>
          </p:cNvSpPr>
          <p:nvPr>
            <p:ph type="body"/>
          </p:nvPr>
        </p:nvSpPr>
        <p:spPr>
          <a:xfrm>
            <a:off x="3562200" y="132732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87" name="PlaceHolder 4"/>
          <p:cNvSpPr>
            <a:spLocks noGrp="1"/>
          </p:cNvSpPr>
          <p:nvPr>
            <p:ph type="body"/>
          </p:nvPr>
        </p:nvSpPr>
        <p:spPr>
          <a:xfrm>
            <a:off x="6621120" y="132732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88" name="PlaceHolder 5"/>
          <p:cNvSpPr>
            <a:spLocks noGrp="1"/>
          </p:cNvSpPr>
          <p:nvPr>
            <p:ph type="body"/>
          </p:nvPr>
        </p:nvSpPr>
        <p:spPr>
          <a:xfrm>
            <a:off x="502920" y="303228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89" name="PlaceHolder 6"/>
          <p:cNvSpPr>
            <a:spLocks noGrp="1"/>
          </p:cNvSpPr>
          <p:nvPr>
            <p:ph type="body"/>
          </p:nvPr>
        </p:nvSpPr>
        <p:spPr>
          <a:xfrm>
            <a:off x="3562200" y="303228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90" name="PlaceHolder 7"/>
          <p:cNvSpPr>
            <a:spLocks noGrp="1"/>
          </p:cNvSpPr>
          <p:nvPr>
            <p:ph type="body"/>
          </p:nvPr>
        </p:nvSpPr>
        <p:spPr>
          <a:xfrm>
            <a:off x="6621120" y="303228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Standard 4">
    <p:bg>
      <p:bgPr>
        <a:solidFill>
          <a:srgbClr val="FEFFFF"/>
        </a:solidFill>
        <a:effectLst/>
      </p:bgPr>
    </p:bg>
    <p:spTree>
      <p:nvGrpSpPr>
        <p:cNvPr id="1" name=""/>
        <p:cNvGrpSpPr/>
        <p:nvPr/>
      </p:nvGrpSpPr>
      <p:grpSpPr>
        <a:xfrm>
          <a:off x="0" y="0"/>
          <a:ext cx="0" cy="0"/>
          <a:chOff x="0" y="0"/>
          <a:chExt cx="0" cy="0"/>
        </a:xfrm>
      </p:grpSpPr>
      <p:sp>
        <p:nvSpPr>
          <p:cNvPr id="91" name="PlaceHolder 1"/>
          <p:cNvSpPr>
            <a:spLocks noGrp="1"/>
          </p:cNvSpPr>
          <p:nvPr>
            <p:ph type="title"/>
          </p:nvPr>
        </p:nvSpPr>
        <p:spPr>
          <a:xfrm>
            <a:off x="504000" y="226080"/>
            <a:ext cx="9072000" cy="946440"/>
          </a:xfrm>
          <a:prstGeom prst="rect">
            <a:avLst/>
          </a:prstGeom>
          <a:noFill/>
          <a:ln w="0">
            <a:noFill/>
          </a:ln>
        </p:spPr>
        <p:txBody>
          <a:bodyPr lIns="0" tIns="0" rIns="0" bIns="0" anchor="ctr">
            <a:noAutofit/>
          </a:bodyPr>
          <a:lstStyle/>
          <a:p>
            <a:pPr indent="0" algn="ctr">
              <a:buNone/>
            </a:pPr>
            <a:r>
              <a:rPr lang="fr-FR" sz="4400" b="0" u="none" strike="noStrike">
                <a:solidFill>
                  <a:srgbClr val="000000"/>
                </a:solidFill>
                <a:effectLst/>
                <a:uFillTx/>
                <a:latin typeface="Arial"/>
              </a:rPr>
              <a:t>Cliquez pour éditer le format du texte-titre</a:t>
            </a:r>
          </a:p>
        </p:txBody>
      </p:sp>
      <p:sp>
        <p:nvSpPr>
          <p:cNvPr id="92" name="PlaceHolder 2"/>
          <p:cNvSpPr>
            <a:spLocks noGrp="1"/>
          </p:cNvSpPr>
          <p:nvPr>
            <p:ph type="body"/>
          </p:nvPr>
        </p:nvSpPr>
        <p:spPr>
          <a:xfrm>
            <a:off x="504000" y="1326600"/>
            <a:ext cx="9072000" cy="328860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32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24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20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Septième niveau de plan</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x" preserve="1">
  <p:cSld name="Standard 5">
    <p:bg>
      <p:bgPr>
        <a:solidFill>
          <a:srgbClr val="FEFFFF"/>
        </a:solidFill>
        <a:effectLst/>
      </p:bgPr>
    </p:bg>
    <p:spTree>
      <p:nvGrpSpPr>
        <p:cNvPr id="1" name=""/>
        <p:cNvGrpSpPr/>
        <p:nvPr/>
      </p:nvGrpSpPr>
      <p:grpSpPr>
        <a:xfrm>
          <a:off x="0" y="0"/>
          <a:ext cx="0" cy="0"/>
          <a:chOff x="0" y="0"/>
          <a:chExt cx="0" cy="0"/>
        </a:xfrm>
      </p:grpSpPr>
      <p:sp>
        <p:nvSpPr>
          <p:cNvPr id="93"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Standard 6">
    <p:bg>
      <p:bgPr>
        <a:solidFill>
          <a:srgbClr val="FEFFFF"/>
        </a:solidFill>
        <a:effectLst/>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95" name="PlaceHolder 2"/>
          <p:cNvSpPr>
            <a:spLocks noGrp="1"/>
          </p:cNvSpPr>
          <p:nvPr>
            <p:ph type="body"/>
          </p:nvPr>
        </p:nvSpPr>
        <p:spPr>
          <a:xfrm>
            <a:off x="502920" y="1327320"/>
            <a:ext cx="9046800" cy="3263400"/>
          </a:xfrm>
          <a:prstGeom prst="rect">
            <a:avLst/>
          </a:prstGeom>
          <a:noFill/>
          <a:ln w="0">
            <a:noFill/>
          </a:ln>
        </p:spPr>
        <p:txBody>
          <a:bodyPr lIns="0" tIns="28440" rIns="0" bIns="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Standard 7">
    <p:bg>
      <p:bgPr>
        <a:solidFill>
          <a:srgbClr val="FEFFFF"/>
        </a:solidFill>
        <a:effectLst/>
      </p:bgPr>
    </p:bg>
    <p:spTree>
      <p:nvGrpSpPr>
        <p:cNvPr id="1" name=""/>
        <p:cNvGrpSpPr/>
        <p:nvPr/>
      </p:nvGrpSpPr>
      <p:grpSpPr>
        <a:xfrm>
          <a:off x="0" y="0"/>
          <a:ext cx="0" cy="0"/>
          <a:chOff x="0" y="0"/>
          <a:chExt cx="0" cy="0"/>
        </a:xfrm>
      </p:grpSpPr>
      <p:sp>
        <p:nvSpPr>
          <p:cNvPr id="96"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97" name="PlaceHolder 2"/>
          <p:cNvSpPr>
            <a:spLocks noGrp="1"/>
          </p:cNvSpPr>
          <p:nvPr>
            <p:ph type="body"/>
          </p:nvPr>
        </p:nvSpPr>
        <p:spPr>
          <a:xfrm>
            <a:off x="502920" y="1327320"/>
            <a:ext cx="4414320" cy="3263400"/>
          </a:xfrm>
          <a:prstGeom prst="rect">
            <a:avLst/>
          </a:prstGeom>
          <a:noFill/>
          <a:ln w="0">
            <a:noFill/>
          </a:ln>
        </p:spPr>
        <p:txBody>
          <a:bodyPr lIns="0" tIns="28440" rIns="0" bIns="0" anchor="t">
            <a:normAutofit fontScale="925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98" name="PlaceHolder 3"/>
          <p:cNvSpPr>
            <a:spLocks noGrp="1"/>
          </p:cNvSpPr>
          <p:nvPr>
            <p:ph type="body"/>
          </p:nvPr>
        </p:nvSpPr>
        <p:spPr>
          <a:xfrm>
            <a:off x="5138640" y="1327320"/>
            <a:ext cx="4414320" cy="3263400"/>
          </a:xfrm>
          <a:prstGeom prst="rect">
            <a:avLst/>
          </a:prstGeom>
          <a:noFill/>
          <a:ln w="0">
            <a:noFill/>
          </a:ln>
        </p:spPr>
        <p:txBody>
          <a:bodyPr lIns="0" tIns="28440" rIns="0" bIns="0" anchor="t">
            <a:normAutofit fontScale="925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Standard 8">
    <p:bg>
      <p:bgPr>
        <a:solidFill>
          <a:srgbClr val="FEFFFF"/>
        </a:solidFill>
        <a:effectLst/>
      </p:bgPr>
    </p:bg>
    <p:spTree>
      <p:nvGrpSpPr>
        <p:cNvPr id="1" name=""/>
        <p:cNvGrpSpPr/>
        <p:nvPr/>
      </p:nvGrpSpPr>
      <p:grpSpPr>
        <a:xfrm>
          <a:off x="0" y="0"/>
          <a:ext cx="0" cy="0"/>
          <a:chOff x="0" y="0"/>
          <a:chExt cx="0" cy="0"/>
        </a:xfrm>
      </p:grpSpPr>
      <p:sp>
        <p:nvSpPr>
          <p:cNvPr id="99"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mediaAndTx" preserve="1">
  <p:cSld name="Standard 9">
    <p:bg>
      <p:bgPr>
        <a:solidFill>
          <a:srgbClr val="FE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AndTx" preserve="1">
  <p:cSld name="Standard 10">
    <p:bg>
      <p:bgPr>
        <a:solidFill>
          <a:srgbClr val="FEFFFF"/>
        </a:solidFill>
        <a:effectLst/>
      </p:bgPr>
    </p:bg>
    <p:spTree>
      <p:nvGrpSpPr>
        <p:cNvPr id="1" name=""/>
        <p:cNvGrpSpPr/>
        <p:nvPr/>
      </p:nvGrpSpPr>
      <p:grpSpPr>
        <a:xfrm>
          <a:off x="0" y="0"/>
          <a:ext cx="0" cy="0"/>
          <a:chOff x="0" y="0"/>
          <a:chExt cx="0" cy="0"/>
        </a:xfrm>
      </p:grpSpPr>
      <p:sp>
        <p:nvSpPr>
          <p:cNvPr id="100"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101" name="PlaceHolder 2"/>
          <p:cNvSpPr>
            <a:spLocks noGrp="1"/>
          </p:cNvSpPr>
          <p:nvPr>
            <p:ph type="body"/>
          </p:nvPr>
        </p:nvSpPr>
        <p:spPr>
          <a:xfrm>
            <a:off x="50292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02" name="PlaceHolder 3"/>
          <p:cNvSpPr>
            <a:spLocks noGrp="1"/>
          </p:cNvSpPr>
          <p:nvPr>
            <p:ph type="body"/>
          </p:nvPr>
        </p:nvSpPr>
        <p:spPr>
          <a:xfrm>
            <a:off x="5138640" y="1327320"/>
            <a:ext cx="4414320" cy="3263400"/>
          </a:xfrm>
          <a:prstGeom prst="rect">
            <a:avLst/>
          </a:prstGeom>
          <a:noFill/>
          <a:ln w="0">
            <a:noFill/>
          </a:ln>
        </p:spPr>
        <p:txBody>
          <a:bodyPr lIns="0" tIns="28440" rIns="0" bIns="0" anchor="t">
            <a:normAutofit fontScale="925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03" name="PlaceHolder 4"/>
          <p:cNvSpPr>
            <a:spLocks noGrp="1"/>
          </p:cNvSpPr>
          <p:nvPr>
            <p:ph type="body"/>
          </p:nvPr>
        </p:nvSpPr>
        <p:spPr>
          <a:xfrm>
            <a:off x="502920" y="303228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reserve="1">
  <p:cSld name="Standard 11">
    <p:bg>
      <p:bgPr>
        <a:solidFill>
          <a:srgbClr val="FEFFFF"/>
        </a:solidFill>
        <a:effectLst/>
      </p:bgPr>
    </p:bg>
    <p:spTree>
      <p:nvGrpSpPr>
        <p:cNvPr id="1" name=""/>
        <p:cNvGrpSpPr/>
        <p:nvPr/>
      </p:nvGrpSpPr>
      <p:grpSpPr>
        <a:xfrm>
          <a:off x="0" y="0"/>
          <a:ext cx="0" cy="0"/>
          <a:chOff x="0" y="0"/>
          <a:chExt cx="0" cy="0"/>
        </a:xfrm>
      </p:grpSpPr>
      <p:sp>
        <p:nvSpPr>
          <p:cNvPr id="104"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105" name="PlaceHolder 2"/>
          <p:cNvSpPr>
            <a:spLocks noGrp="1"/>
          </p:cNvSpPr>
          <p:nvPr>
            <p:ph type="body"/>
          </p:nvPr>
        </p:nvSpPr>
        <p:spPr>
          <a:xfrm>
            <a:off x="502920" y="1327320"/>
            <a:ext cx="4414320" cy="3263400"/>
          </a:xfrm>
          <a:prstGeom prst="rect">
            <a:avLst/>
          </a:prstGeom>
          <a:noFill/>
          <a:ln w="0">
            <a:noFill/>
          </a:ln>
        </p:spPr>
        <p:txBody>
          <a:bodyPr lIns="0" tIns="28440" rIns="0" bIns="0" anchor="t">
            <a:normAutofit fontScale="925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06" name="PlaceHolder 3"/>
          <p:cNvSpPr>
            <a:spLocks noGrp="1"/>
          </p:cNvSpPr>
          <p:nvPr>
            <p:ph type="body"/>
          </p:nvPr>
        </p:nvSpPr>
        <p:spPr>
          <a:xfrm>
            <a:off x="513864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07" name="PlaceHolder 4"/>
          <p:cNvSpPr>
            <a:spLocks noGrp="1"/>
          </p:cNvSpPr>
          <p:nvPr>
            <p:ph type="body"/>
          </p:nvPr>
        </p:nvSpPr>
        <p:spPr>
          <a:xfrm>
            <a:off x="5138640" y="303228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OverTx" preserve="1">
  <p:cSld name="Standard 12">
    <p:bg>
      <p:bgPr>
        <a:solidFill>
          <a:srgbClr val="FEFFFF"/>
        </a:solidFill>
        <a:effectLst/>
      </p:bgPr>
    </p:bg>
    <p:spTree>
      <p:nvGrpSpPr>
        <p:cNvPr id="1" name=""/>
        <p:cNvGrpSpPr/>
        <p:nvPr/>
      </p:nvGrpSpPr>
      <p:grpSpPr>
        <a:xfrm>
          <a:off x="0" y="0"/>
          <a:ext cx="0" cy="0"/>
          <a:chOff x="0" y="0"/>
          <a:chExt cx="0" cy="0"/>
        </a:xfrm>
      </p:grpSpPr>
      <p:sp>
        <p:nvSpPr>
          <p:cNvPr id="108"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109" name="PlaceHolder 2"/>
          <p:cNvSpPr>
            <a:spLocks noGrp="1"/>
          </p:cNvSpPr>
          <p:nvPr>
            <p:ph type="body"/>
          </p:nvPr>
        </p:nvSpPr>
        <p:spPr>
          <a:xfrm>
            <a:off x="50292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10" name="PlaceHolder 3"/>
          <p:cNvSpPr>
            <a:spLocks noGrp="1"/>
          </p:cNvSpPr>
          <p:nvPr>
            <p:ph type="body"/>
          </p:nvPr>
        </p:nvSpPr>
        <p:spPr>
          <a:xfrm>
            <a:off x="513864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11" name="PlaceHolder 4"/>
          <p:cNvSpPr>
            <a:spLocks noGrp="1"/>
          </p:cNvSpPr>
          <p:nvPr>
            <p:ph type="body"/>
          </p:nvPr>
        </p:nvSpPr>
        <p:spPr>
          <a:xfrm>
            <a:off x="502920" y="3032280"/>
            <a:ext cx="9046800" cy="1556280"/>
          </a:xfrm>
          <a:prstGeom prst="rect">
            <a:avLst/>
          </a:prstGeom>
          <a:noFill/>
          <a:ln w="0">
            <a:noFill/>
          </a:ln>
        </p:spPr>
        <p:txBody>
          <a:bodyPr lIns="0" tIns="28440" rIns="0" bIns="0" anchor="t">
            <a:normAutofit fontScale="7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verTx" preserve="1">
  <p:cSld name="Standard 13">
    <p:bg>
      <p:bgPr>
        <a:solidFill>
          <a:srgbClr val="FEFFFF"/>
        </a:solidFill>
        <a:effectLst/>
      </p:bgPr>
    </p:bg>
    <p:spTree>
      <p:nvGrpSpPr>
        <p:cNvPr id="1" name=""/>
        <p:cNvGrpSpPr/>
        <p:nvPr/>
      </p:nvGrpSpPr>
      <p:grpSpPr>
        <a:xfrm>
          <a:off x="0" y="0"/>
          <a:ext cx="0" cy="0"/>
          <a:chOff x="0" y="0"/>
          <a:chExt cx="0" cy="0"/>
        </a:xfrm>
      </p:grpSpPr>
      <p:sp>
        <p:nvSpPr>
          <p:cNvPr id="112"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113" name="PlaceHolder 2"/>
          <p:cNvSpPr>
            <a:spLocks noGrp="1"/>
          </p:cNvSpPr>
          <p:nvPr>
            <p:ph type="body"/>
          </p:nvPr>
        </p:nvSpPr>
        <p:spPr>
          <a:xfrm>
            <a:off x="502920" y="1327320"/>
            <a:ext cx="9046800" cy="1556280"/>
          </a:xfrm>
          <a:prstGeom prst="rect">
            <a:avLst/>
          </a:prstGeom>
          <a:noFill/>
          <a:ln w="0">
            <a:noFill/>
          </a:ln>
        </p:spPr>
        <p:txBody>
          <a:bodyPr lIns="0" tIns="28440" rIns="0" bIns="0" anchor="t">
            <a:normAutofit fontScale="7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14" name="PlaceHolder 3"/>
          <p:cNvSpPr>
            <a:spLocks noGrp="1"/>
          </p:cNvSpPr>
          <p:nvPr>
            <p:ph type="body"/>
          </p:nvPr>
        </p:nvSpPr>
        <p:spPr>
          <a:xfrm>
            <a:off x="502920" y="3032280"/>
            <a:ext cx="9046800" cy="1556280"/>
          </a:xfrm>
          <a:prstGeom prst="rect">
            <a:avLst/>
          </a:prstGeom>
          <a:noFill/>
          <a:ln w="0">
            <a:noFill/>
          </a:ln>
        </p:spPr>
        <p:txBody>
          <a:bodyPr lIns="0" tIns="28440" rIns="0" bIns="0" anchor="t">
            <a:normAutofit fontScale="70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fourObj" preserve="1">
  <p:cSld name="Standard 14">
    <p:bg>
      <p:bgPr>
        <a:solidFill>
          <a:srgbClr val="FEFFFF"/>
        </a:solidFill>
        <a:effectLst/>
      </p:bgPr>
    </p:bg>
    <p:spTree>
      <p:nvGrpSpPr>
        <p:cNvPr id="1" name=""/>
        <p:cNvGrpSpPr/>
        <p:nvPr/>
      </p:nvGrpSpPr>
      <p:grpSpPr>
        <a:xfrm>
          <a:off x="0" y="0"/>
          <a:ext cx="0" cy="0"/>
          <a:chOff x="0" y="0"/>
          <a:chExt cx="0" cy="0"/>
        </a:xfrm>
      </p:grpSpPr>
      <p:sp>
        <p:nvSpPr>
          <p:cNvPr id="115"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116" name="PlaceHolder 2"/>
          <p:cNvSpPr>
            <a:spLocks noGrp="1"/>
          </p:cNvSpPr>
          <p:nvPr>
            <p:ph type="body"/>
          </p:nvPr>
        </p:nvSpPr>
        <p:spPr>
          <a:xfrm>
            <a:off x="50292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17" name="PlaceHolder 3"/>
          <p:cNvSpPr>
            <a:spLocks noGrp="1"/>
          </p:cNvSpPr>
          <p:nvPr>
            <p:ph type="body"/>
          </p:nvPr>
        </p:nvSpPr>
        <p:spPr>
          <a:xfrm>
            <a:off x="513864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18" name="PlaceHolder 4"/>
          <p:cNvSpPr>
            <a:spLocks noGrp="1"/>
          </p:cNvSpPr>
          <p:nvPr>
            <p:ph type="body"/>
          </p:nvPr>
        </p:nvSpPr>
        <p:spPr>
          <a:xfrm>
            <a:off x="502920" y="303228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19" name="PlaceHolder 5"/>
          <p:cNvSpPr>
            <a:spLocks noGrp="1"/>
          </p:cNvSpPr>
          <p:nvPr>
            <p:ph type="body"/>
          </p:nvPr>
        </p:nvSpPr>
        <p:spPr>
          <a:xfrm>
            <a:off x="5138640" y="303228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tandard 15">
    <p:bg>
      <p:bgPr>
        <a:solidFill>
          <a:srgbClr val="FEFFFF"/>
        </a:solidFill>
        <a:effectLst/>
      </p:bgPr>
    </p:bg>
    <p:spTree>
      <p:nvGrpSpPr>
        <p:cNvPr id="1" name=""/>
        <p:cNvGrpSpPr/>
        <p:nvPr/>
      </p:nvGrpSpPr>
      <p:grpSpPr>
        <a:xfrm>
          <a:off x="0" y="0"/>
          <a:ext cx="0" cy="0"/>
          <a:chOff x="0" y="0"/>
          <a:chExt cx="0" cy="0"/>
        </a:xfrm>
      </p:grpSpPr>
      <p:sp>
        <p:nvSpPr>
          <p:cNvPr id="120"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121" name="PlaceHolder 2"/>
          <p:cNvSpPr>
            <a:spLocks noGrp="1"/>
          </p:cNvSpPr>
          <p:nvPr>
            <p:ph type="body"/>
          </p:nvPr>
        </p:nvSpPr>
        <p:spPr>
          <a:xfrm>
            <a:off x="502920" y="132732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22" name="PlaceHolder 3"/>
          <p:cNvSpPr>
            <a:spLocks noGrp="1"/>
          </p:cNvSpPr>
          <p:nvPr>
            <p:ph type="body"/>
          </p:nvPr>
        </p:nvSpPr>
        <p:spPr>
          <a:xfrm>
            <a:off x="3562200" y="132732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23" name="PlaceHolder 4"/>
          <p:cNvSpPr>
            <a:spLocks noGrp="1"/>
          </p:cNvSpPr>
          <p:nvPr>
            <p:ph type="body"/>
          </p:nvPr>
        </p:nvSpPr>
        <p:spPr>
          <a:xfrm>
            <a:off x="6621120" y="132732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24" name="PlaceHolder 5"/>
          <p:cNvSpPr>
            <a:spLocks noGrp="1"/>
          </p:cNvSpPr>
          <p:nvPr>
            <p:ph type="body"/>
          </p:nvPr>
        </p:nvSpPr>
        <p:spPr>
          <a:xfrm>
            <a:off x="502920" y="303228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25" name="PlaceHolder 6"/>
          <p:cNvSpPr>
            <a:spLocks noGrp="1"/>
          </p:cNvSpPr>
          <p:nvPr>
            <p:ph type="body"/>
          </p:nvPr>
        </p:nvSpPr>
        <p:spPr>
          <a:xfrm>
            <a:off x="3562200" y="303228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26" name="PlaceHolder 7"/>
          <p:cNvSpPr>
            <a:spLocks noGrp="1"/>
          </p:cNvSpPr>
          <p:nvPr>
            <p:ph type="body"/>
          </p:nvPr>
        </p:nvSpPr>
        <p:spPr>
          <a:xfrm>
            <a:off x="6621120" y="3032280"/>
            <a:ext cx="2912760" cy="1556280"/>
          </a:xfrm>
          <a:prstGeom prst="rect">
            <a:avLst/>
          </a:prstGeom>
          <a:noFill/>
          <a:ln w="0">
            <a:noFill/>
          </a:ln>
        </p:spPr>
        <p:txBody>
          <a:bodyPr lIns="0" tIns="28440" rIns="0" bIns="0" anchor="t">
            <a:normAutofit fontScale="250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tandard 16">
    <p:bg>
      <p:bgPr>
        <a:solidFill>
          <a:srgbClr val="FE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x" preserve="1">
  <p:cSld name="Standard 17">
    <p:bg>
      <p:bgPr>
        <a:solidFill>
          <a:srgbClr val="FEFFFF"/>
        </a:solidFill>
        <a:effectLst/>
      </p:bgPr>
    </p:bg>
    <p:spTree>
      <p:nvGrpSpPr>
        <p:cNvPr id="1" name=""/>
        <p:cNvGrpSpPr/>
        <p:nvPr/>
      </p:nvGrpSpPr>
      <p:grpSpPr>
        <a:xfrm>
          <a:off x="0" y="0"/>
          <a:ext cx="0" cy="0"/>
          <a:chOff x="0" y="0"/>
          <a:chExt cx="0" cy="0"/>
        </a:xfrm>
      </p:grpSpPr>
      <p:sp>
        <p:nvSpPr>
          <p:cNvPr id="127"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Standard 18">
    <p:bg>
      <p:bgPr>
        <a:solidFill>
          <a:srgbClr val="FEFFFF"/>
        </a:solidFill>
        <a:effectLst/>
      </p:bgPr>
    </p:bg>
    <p:spTree>
      <p:nvGrpSpPr>
        <p:cNvPr id="1" name=""/>
        <p:cNvGrpSpPr/>
        <p:nvPr/>
      </p:nvGrpSpPr>
      <p:grpSpPr>
        <a:xfrm>
          <a:off x="0" y="0"/>
          <a:ext cx="0" cy="0"/>
          <a:chOff x="0" y="0"/>
          <a:chExt cx="0" cy="0"/>
        </a:xfrm>
      </p:grpSpPr>
      <p:sp>
        <p:nvSpPr>
          <p:cNvPr id="128"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129" name="PlaceHolder 2"/>
          <p:cNvSpPr>
            <a:spLocks noGrp="1"/>
          </p:cNvSpPr>
          <p:nvPr>
            <p:ph type="body"/>
          </p:nvPr>
        </p:nvSpPr>
        <p:spPr>
          <a:xfrm>
            <a:off x="502920" y="1327320"/>
            <a:ext cx="9046800" cy="3263400"/>
          </a:xfrm>
          <a:prstGeom prst="rect">
            <a:avLst/>
          </a:prstGeom>
          <a:noFill/>
          <a:ln w="0">
            <a:noFill/>
          </a:ln>
        </p:spPr>
        <p:txBody>
          <a:bodyPr lIns="0" tIns="28440" rIns="0" bIns="0" anchor="t">
            <a:normAutofit/>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Standard 19">
    <p:bg>
      <p:bgPr>
        <a:solidFill>
          <a:srgbClr val="FEFFFF"/>
        </a:solidFill>
        <a:effectLst/>
      </p:bgPr>
    </p:bg>
    <p:spTree>
      <p:nvGrpSpPr>
        <p:cNvPr id="1" name=""/>
        <p:cNvGrpSpPr/>
        <p:nvPr/>
      </p:nvGrpSpPr>
      <p:grpSpPr>
        <a:xfrm>
          <a:off x="0" y="0"/>
          <a:ext cx="0" cy="0"/>
          <a:chOff x="0" y="0"/>
          <a:chExt cx="0" cy="0"/>
        </a:xfrm>
      </p:grpSpPr>
      <p:sp>
        <p:nvSpPr>
          <p:cNvPr id="130"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131" name="PlaceHolder 2"/>
          <p:cNvSpPr>
            <a:spLocks noGrp="1"/>
          </p:cNvSpPr>
          <p:nvPr>
            <p:ph type="body"/>
          </p:nvPr>
        </p:nvSpPr>
        <p:spPr>
          <a:xfrm>
            <a:off x="502920" y="1327320"/>
            <a:ext cx="4414320" cy="3263400"/>
          </a:xfrm>
          <a:prstGeom prst="rect">
            <a:avLst/>
          </a:prstGeom>
          <a:noFill/>
          <a:ln w="0">
            <a:noFill/>
          </a:ln>
        </p:spPr>
        <p:txBody>
          <a:bodyPr lIns="0" tIns="28440" rIns="0" bIns="0" anchor="t">
            <a:normAutofit fontScale="925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32" name="PlaceHolder 3"/>
          <p:cNvSpPr>
            <a:spLocks noGrp="1"/>
          </p:cNvSpPr>
          <p:nvPr>
            <p:ph type="body"/>
          </p:nvPr>
        </p:nvSpPr>
        <p:spPr>
          <a:xfrm>
            <a:off x="5138640" y="1327320"/>
            <a:ext cx="4414320" cy="3263400"/>
          </a:xfrm>
          <a:prstGeom prst="rect">
            <a:avLst/>
          </a:prstGeom>
          <a:noFill/>
          <a:ln w="0">
            <a:noFill/>
          </a:ln>
        </p:spPr>
        <p:txBody>
          <a:bodyPr lIns="0" tIns="28440" rIns="0" bIns="0" anchor="t">
            <a:normAutofit fontScale="925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Standard 20">
    <p:bg>
      <p:bgPr>
        <a:solidFill>
          <a:srgbClr val="FEFFFF"/>
        </a:solidFill>
        <a:effectLst/>
      </p:bgPr>
    </p:bg>
    <p:spTree>
      <p:nvGrpSpPr>
        <p:cNvPr id="1" name=""/>
        <p:cNvGrpSpPr/>
        <p:nvPr/>
      </p:nvGrpSpPr>
      <p:grpSpPr>
        <a:xfrm>
          <a:off x="0" y="0"/>
          <a:ext cx="0" cy="0"/>
          <a:chOff x="0" y="0"/>
          <a:chExt cx="0" cy="0"/>
        </a:xfrm>
      </p:grpSpPr>
      <p:sp>
        <p:nvSpPr>
          <p:cNvPr id="133"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mediaAndTx" preserve="1">
  <p:cSld name="Standard 21">
    <p:bg>
      <p:bgPr>
        <a:solidFill>
          <a:srgbClr val="FE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AndTx" preserve="1">
  <p:cSld name="Standard 22">
    <p:bg>
      <p:bgPr>
        <a:solidFill>
          <a:srgbClr val="FEFFFF"/>
        </a:solidFill>
        <a:effectLst/>
      </p:bgPr>
    </p:bg>
    <p:spTree>
      <p:nvGrpSpPr>
        <p:cNvPr id="1" name=""/>
        <p:cNvGrpSpPr/>
        <p:nvPr/>
      </p:nvGrpSpPr>
      <p:grpSpPr>
        <a:xfrm>
          <a:off x="0" y="0"/>
          <a:ext cx="0" cy="0"/>
          <a:chOff x="0" y="0"/>
          <a:chExt cx="0" cy="0"/>
        </a:xfrm>
      </p:grpSpPr>
      <p:sp>
        <p:nvSpPr>
          <p:cNvPr id="134"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135" name="PlaceHolder 2"/>
          <p:cNvSpPr>
            <a:spLocks noGrp="1"/>
          </p:cNvSpPr>
          <p:nvPr>
            <p:ph type="body"/>
          </p:nvPr>
        </p:nvSpPr>
        <p:spPr>
          <a:xfrm>
            <a:off x="50292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36" name="PlaceHolder 3"/>
          <p:cNvSpPr>
            <a:spLocks noGrp="1"/>
          </p:cNvSpPr>
          <p:nvPr>
            <p:ph type="body"/>
          </p:nvPr>
        </p:nvSpPr>
        <p:spPr>
          <a:xfrm>
            <a:off x="5138640" y="1327320"/>
            <a:ext cx="4414320" cy="3263400"/>
          </a:xfrm>
          <a:prstGeom prst="rect">
            <a:avLst/>
          </a:prstGeom>
          <a:noFill/>
          <a:ln w="0">
            <a:noFill/>
          </a:ln>
        </p:spPr>
        <p:txBody>
          <a:bodyPr lIns="0" tIns="28440" rIns="0" bIns="0" anchor="t">
            <a:normAutofit fontScale="925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37" name="PlaceHolder 4"/>
          <p:cNvSpPr>
            <a:spLocks noGrp="1"/>
          </p:cNvSpPr>
          <p:nvPr>
            <p:ph type="body"/>
          </p:nvPr>
        </p:nvSpPr>
        <p:spPr>
          <a:xfrm>
            <a:off x="502920" y="303228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TwoObj" preserve="1">
  <p:cSld name="Standard 23">
    <p:bg>
      <p:bgPr>
        <a:solidFill>
          <a:srgbClr val="FEFFFF"/>
        </a:solidFill>
        <a:effectLst/>
      </p:bgPr>
    </p:bg>
    <p:spTree>
      <p:nvGrpSpPr>
        <p:cNvPr id="1" name=""/>
        <p:cNvGrpSpPr/>
        <p:nvPr/>
      </p:nvGrpSpPr>
      <p:grpSpPr>
        <a:xfrm>
          <a:off x="0" y="0"/>
          <a:ext cx="0" cy="0"/>
          <a:chOff x="0" y="0"/>
          <a:chExt cx="0" cy="0"/>
        </a:xfrm>
      </p:grpSpPr>
      <p:sp>
        <p:nvSpPr>
          <p:cNvPr id="138" name="PlaceHolder 1"/>
          <p:cNvSpPr>
            <a:spLocks noGrp="1"/>
          </p:cNvSpPr>
          <p:nvPr>
            <p:ph type="title"/>
          </p:nvPr>
        </p:nvSpPr>
        <p:spPr>
          <a:xfrm>
            <a:off x="502920" y="225360"/>
            <a:ext cx="9046800" cy="921960"/>
          </a:xfrm>
          <a:prstGeom prst="rect">
            <a:avLst/>
          </a:prstGeom>
          <a:noFill/>
          <a:ln w="0">
            <a:noFill/>
          </a:ln>
        </p:spPr>
        <p:txBody>
          <a:bodyPr lIns="0" tIns="0" rIns="0" bIns="0" anchor="ctr">
            <a:noAutofit/>
          </a:bodyPr>
          <a:lstStyle/>
          <a:p>
            <a:pPr indent="0">
              <a:buNone/>
            </a:pPr>
            <a:r>
              <a:rPr lang="fr-FR" sz="1800" b="0" u="none" strike="noStrike">
                <a:solidFill>
                  <a:srgbClr val="000000"/>
                </a:solidFill>
                <a:effectLst/>
                <a:uFillTx/>
                <a:latin typeface="Arial"/>
              </a:rPr>
              <a:t>Cliquez pour éditer le format du texte-titre</a:t>
            </a:r>
          </a:p>
        </p:txBody>
      </p:sp>
      <p:sp>
        <p:nvSpPr>
          <p:cNvPr id="139" name="PlaceHolder 2"/>
          <p:cNvSpPr>
            <a:spLocks noGrp="1"/>
          </p:cNvSpPr>
          <p:nvPr>
            <p:ph type="body"/>
          </p:nvPr>
        </p:nvSpPr>
        <p:spPr>
          <a:xfrm>
            <a:off x="502920" y="1327320"/>
            <a:ext cx="4414320" cy="3263400"/>
          </a:xfrm>
          <a:prstGeom prst="rect">
            <a:avLst/>
          </a:prstGeom>
          <a:noFill/>
          <a:ln w="0">
            <a:noFill/>
          </a:ln>
        </p:spPr>
        <p:txBody>
          <a:bodyPr lIns="0" tIns="28440" rIns="0" bIns="0" anchor="t">
            <a:normAutofit fontScale="92500" lnSpcReduction="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40" name="PlaceHolder 3"/>
          <p:cNvSpPr>
            <a:spLocks noGrp="1"/>
          </p:cNvSpPr>
          <p:nvPr>
            <p:ph type="body"/>
          </p:nvPr>
        </p:nvSpPr>
        <p:spPr>
          <a:xfrm>
            <a:off x="5138640" y="132732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
        <p:nvSpPr>
          <p:cNvPr id="141" name="PlaceHolder 4"/>
          <p:cNvSpPr>
            <a:spLocks noGrp="1"/>
          </p:cNvSpPr>
          <p:nvPr>
            <p:ph type="body"/>
          </p:nvPr>
        </p:nvSpPr>
        <p:spPr>
          <a:xfrm>
            <a:off x="5138640" y="3032280"/>
            <a:ext cx="4414320" cy="1556280"/>
          </a:xfrm>
          <a:prstGeom prst="rect">
            <a:avLst/>
          </a:prstGeom>
          <a:noFill/>
          <a:ln w="0">
            <a:noFill/>
          </a:ln>
        </p:spPr>
        <p:txBody>
          <a:bodyPr lIns="0" tIns="28440" rIns="0" bIns="0" anchor="t">
            <a:normAutofit fontScale="62500" lnSpcReduction="19999"/>
          </a:bodyPr>
          <a:lstStyle/>
          <a:p>
            <a:pPr marL="432000" indent="-324000">
              <a:spcBef>
                <a:spcPts val="1417"/>
              </a:spcBef>
              <a:buClr>
                <a:srgbClr val="000000"/>
              </a:buClr>
              <a:buSzPct val="45000"/>
              <a:buFont typeface="Wingdings" charset="2"/>
              <a:buChar char=""/>
            </a:pPr>
            <a:r>
              <a:rPr lang="fr-FR" sz="18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1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18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18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1800" b="0" u="none" strike="noStrike">
                <a:solidFill>
                  <a:srgbClr val="000000"/>
                </a:solidFill>
                <a:effectLst/>
                <a:uFillTx/>
                <a:latin typeface="Arial"/>
              </a:rPr>
              <a:t>Septième niveau de plan</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7.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7.png"/><Relationship Id="rId4" Type="http://schemas.openxmlformats.org/officeDocument/2006/relationships/image" Target="../media/image2.png"/><Relationship Id="rId9" Type="http://schemas.microsoft.com/office/2017/06/relationships/model3d" Target="../media/model3d1.glb"/></Relationships>
</file>

<file path=ppt/slides/_rels/slide2.xml.rels><?xml version="1.0" encoding="UTF-8" standalone="yes"?>
<Relationships xmlns="http://schemas.openxmlformats.org/package/2006/relationships"><Relationship Id="rId8" Type="http://schemas.openxmlformats.org/officeDocument/2006/relationships/image" Target="../media/image12.svg"/><Relationship Id="rId3" Type="http://schemas.microsoft.com/office/2017/06/relationships/model3d" Target="../media/model3d1.glb"/><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10.sv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svg"/><Relationship Id="rId4" Type="http://schemas.openxmlformats.org/officeDocument/2006/relationships/image" Target="../media/image8.png"/><Relationship Id="rId9"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20.png"/><Relationship Id="rId18" Type="http://schemas.openxmlformats.org/officeDocument/2006/relationships/image" Target="../media/image25.svg"/><Relationship Id="rId3" Type="http://schemas.microsoft.com/office/2017/06/relationships/model3d" Target="../media/model3d1.glb"/><Relationship Id="rId21" Type="http://schemas.openxmlformats.org/officeDocument/2006/relationships/image" Target="../media/image26.png"/><Relationship Id="rId7" Type="http://schemas.openxmlformats.org/officeDocument/2006/relationships/image" Target="../media/image11.png"/><Relationship Id="rId12" Type="http://schemas.openxmlformats.org/officeDocument/2006/relationships/image" Target="../media/image19.svg"/><Relationship Id="rId17" Type="http://schemas.openxmlformats.org/officeDocument/2006/relationships/image" Target="../media/image24.png"/><Relationship Id="rId2" Type="http://schemas.openxmlformats.org/officeDocument/2006/relationships/notesSlide" Target="../notesSlides/notesSlide3.xml"/><Relationship Id="rId16" Type="http://schemas.openxmlformats.org/officeDocument/2006/relationships/image" Target="../media/image23.svg"/><Relationship Id="rId20" Type="http://schemas.openxmlformats.org/officeDocument/2006/relationships/image" Target="../media/image16.svg"/><Relationship Id="rId1" Type="http://schemas.openxmlformats.org/officeDocument/2006/relationships/slideLayout" Target="../slideLayouts/slideLayout6.xml"/><Relationship Id="rId6" Type="http://schemas.openxmlformats.org/officeDocument/2006/relationships/image" Target="../media/image10.svg"/><Relationship Id="rId11" Type="http://schemas.openxmlformats.org/officeDocument/2006/relationships/image" Target="../media/image18.png"/><Relationship Id="rId5" Type="http://schemas.openxmlformats.org/officeDocument/2006/relationships/image" Target="../media/image9.png"/><Relationship Id="rId15" Type="http://schemas.openxmlformats.org/officeDocument/2006/relationships/image" Target="../media/image22.png"/><Relationship Id="rId10" Type="http://schemas.openxmlformats.org/officeDocument/2006/relationships/image" Target="../media/image14.svg"/><Relationship Id="rId19" Type="http://schemas.openxmlformats.org/officeDocument/2006/relationships/image" Target="../media/image15.png"/><Relationship Id="rId4" Type="http://schemas.openxmlformats.org/officeDocument/2006/relationships/image" Target="../media/image17.png"/><Relationship Id="rId9" Type="http://schemas.openxmlformats.org/officeDocument/2006/relationships/image" Target="../media/image13.png"/><Relationship Id="rId14" Type="http://schemas.openxmlformats.org/officeDocument/2006/relationships/image" Target="../media/image21.svg"/><Relationship Id="rId22" Type="http://schemas.openxmlformats.org/officeDocument/2006/relationships/image" Target="../media/image27.svg"/></Relationships>
</file>

<file path=ppt/slides/_rels/slide4.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20.png"/><Relationship Id="rId18" Type="http://schemas.openxmlformats.org/officeDocument/2006/relationships/image" Target="../media/image25.svg"/><Relationship Id="rId3" Type="http://schemas.openxmlformats.org/officeDocument/2006/relationships/image" Target="../media/image26.png"/><Relationship Id="rId21" Type="http://schemas.openxmlformats.org/officeDocument/2006/relationships/image" Target="../media/image28.png"/><Relationship Id="rId7" Type="http://schemas.openxmlformats.org/officeDocument/2006/relationships/image" Target="../media/image11.png"/><Relationship Id="rId12" Type="http://schemas.openxmlformats.org/officeDocument/2006/relationships/image" Target="../media/image19.svg"/><Relationship Id="rId17" Type="http://schemas.openxmlformats.org/officeDocument/2006/relationships/image" Target="../media/image24.png"/><Relationship Id="rId2" Type="http://schemas.openxmlformats.org/officeDocument/2006/relationships/notesSlide" Target="../notesSlides/notesSlide4.xml"/><Relationship Id="rId16" Type="http://schemas.openxmlformats.org/officeDocument/2006/relationships/image" Target="../media/image23.svg"/><Relationship Id="rId20" Type="http://schemas.openxmlformats.org/officeDocument/2006/relationships/image" Target="../media/image16.svg"/><Relationship Id="rId1" Type="http://schemas.openxmlformats.org/officeDocument/2006/relationships/slideLayout" Target="../slideLayouts/slideLayout6.xml"/><Relationship Id="rId6" Type="http://schemas.openxmlformats.org/officeDocument/2006/relationships/image" Target="../media/image10.svg"/><Relationship Id="rId11" Type="http://schemas.openxmlformats.org/officeDocument/2006/relationships/image" Target="../media/image18.png"/><Relationship Id="rId24" Type="http://schemas.openxmlformats.org/officeDocument/2006/relationships/image" Target="../media/image31.svg"/><Relationship Id="rId5" Type="http://schemas.openxmlformats.org/officeDocument/2006/relationships/image" Target="../media/image9.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4.svg"/><Relationship Id="rId19" Type="http://schemas.openxmlformats.org/officeDocument/2006/relationships/image" Target="../media/image15.png"/><Relationship Id="rId4" Type="http://schemas.openxmlformats.org/officeDocument/2006/relationships/image" Target="../media/image27.svg"/><Relationship Id="rId9" Type="http://schemas.openxmlformats.org/officeDocument/2006/relationships/image" Target="../media/image13.png"/><Relationship Id="rId14" Type="http://schemas.openxmlformats.org/officeDocument/2006/relationships/image" Target="../media/image21.svg"/><Relationship Id="rId22" Type="http://schemas.openxmlformats.org/officeDocument/2006/relationships/image" Target="../media/image29.svg"/></Relationships>
</file>

<file path=ppt/slides/_rels/slide5.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s>
</file>

<file path=ppt/slides/_rels/slide6.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0.png"/><Relationship Id="rId3" Type="http://schemas.openxmlformats.org/officeDocument/2006/relationships/image" Target="../media/image28.png"/><Relationship Id="rId7" Type="http://schemas.openxmlformats.org/officeDocument/2006/relationships/image" Target="../media/image36.png"/><Relationship Id="rId12" Type="http://schemas.openxmlformats.org/officeDocument/2006/relationships/image" Target="../media/image39.svg"/><Relationship Id="rId2" Type="http://schemas.openxmlformats.org/officeDocument/2006/relationships/notesSlide" Target="../notesSlides/notesSlide6.xml"/><Relationship Id="rId16" Type="http://schemas.openxmlformats.org/officeDocument/2006/relationships/image" Target="../media/image43.svg"/><Relationship Id="rId1" Type="http://schemas.openxmlformats.org/officeDocument/2006/relationships/slideLayout" Target="../slideLayouts/slideLayout6.xml"/><Relationship Id="rId6" Type="http://schemas.openxmlformats.org/officeDocument/2006/relationships/image" Target="../media/image31.svg"/><Relationship Id="rId11" Type="http://schemas.openxmlformats.org/officeDocument/2006/relationships/image" Target="../media/image38.png"/><Relationship Id="rId5" Type="http://schemas.openxmlformats.org/officeDocument/2006/relationships/image" Target="../media/image30.png"/><Relationship Id="rId15" Type="http://schemas.openxmlformats.org/officeDocument/2006/relationships/image" Target="../media/image42.png"/><Relationship Id="rId10" Type="http://schemas.openxmlformats.org/officeDocument/2006/relationships/image" Target="../media/image10.svg"/><Relationship Id="rId4" Type="http://schemas.openxmlformats.org/officeDocument/2006/relationships/image" Target="../media/image29.svg"/><Relationship Id="rId9" Type="http://schemas.openxmlformats.org/officeDocument/2006/relationships/image" Target="../media/image9.png"/><Relationship Id="rId14" Type="http://schemas.openxmlformats.org/officeDocument/2006/relationships/image" Target="../media/image41.svg"/></Relationships>
</file>

<file path=ppt/slides/_rels/slide7.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47.png"/><Relationship Id="rId5" Type="http://schemas.openxmlformats.org/officeDocument/2006/relationships/image" Target="../media/image46.jpe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23.svg"/><Relationship Id="rId3" Type="http://schemas.openxmlformats.org/officeDocument/2006/relationships/image" Target="../media/image49.png"/><Relationship Id="rId7" Type="http://schemas.openxmlformats.org/officeDocument/2006/relationships/image" Target="../media/image53.svg"/><Relationship Id="rId12"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52.png"/><Relationship Id="rId11" Type="http://schemas.openxmlformats.org/officeDocument/2006/relationships/image" Target="../media/image57.svg"/><Relationship Id="rId5" Type="http://schemas.openxmlformats.org/officeDocument/2006/relationships/image" Target="../media/image51.svg"/><Relationship Id="rId10" Type="http://schemas.openxmlformats.org/officeDocument/2006/relationships/image" Target="../media/image56.png"/><Relationship Id="rId4" Type="http://schemas.openxmlformats.org/officeDocument/2006/relationships/image" Target="../media/image50.png"/><Relationship Id="rId9" Type="http://schemas.openxmlformats.org/officeDocument/2006/relationships/image" Target="../media/image55.svg"/><Relationship Id="rId14" Type="http://schemas.openxmlformats.org/officeDocument/2006/relationships/image" Target="../media/image58.jpeg"/></Relationships>
</file>

<file path=ppt/slides/_rels/slide11.xml.rels><?xml version="1.0" encoding="UTF-8" standalone="yes"?>
<Relationships xmlns="http://schemas.openxmlformats.org/package/2006/relationships"><Relationship Id="rId8" Type="http://schemas.openxmlformats.org/officeDocument/2006/relationships/image" Target="../media/image53.svg"/><Relationship Id="rId13" Type="http://schemas.openxmlformats.org/officeDocument/2006/relationships/image" Target="../media/image22.png"/><Relationship Id="rId3" Type="http://schemas.openxmlformats.org/officeDocument/2006/relationships/image" Target="../media/image58.jpeg"/><Relationship Id="rId7" Type="http://schemas.openxmlformats.org/officeDocument/2006/relationships/image" Target="../media/image52.png"/><Relationship Id="rId12" Type="http://schemas.openxmlformats.org/officeDocument/2006/relationships/image" Target="../media/image57.sv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image" Target="../media/image51.svg"/><Relationship Id="rId11" Type="http://schemas.openxmlformats.org/officeDocument/2006/relationships/image" Target="../media/image56.png"/><Relationship Id="rId5" Type="http://schemas.openxmlformats.org/officeDocument/2006/relationships/image" Target="../media/image50.png"/><Relationship Id="rId10" Type="http://schemas.openxmlformats.org/officeDocument/2006/relationships/image" Target="../media/image55.svg"/><Relationship Id="rId4" Type="http://schemas.openxmlformats.org/officeDocument/2006/relationships/image" Target="../media/image49.png"/><Relationship Id="rId9" Type="http://schemas.openxmlformats.org/officeDocument/2006/relationships/image" Target="../media/image54.png"/><Relationship Id="rId14" Type="http://schemas.openxmlformats.org/officeDocument/2006/relationships/image" Target="../media/image23.svg"/></Relationships>
</file>

<file path=ppt/slides/_rels/slide12.xml.rels><?xml version="1.0" encoding="UTF-8" standalone="yes"?>
<Relationships xmlns="http://schemas.openxmlformats.org/package/2006/relationships"><Relationship Id="rId8" Type="http://schemas.openxmlformats.org/officeDocument/2006/relationships/image" Target="../media/image63.png"/><Relationship Id="rId3" Type="http://schemas.microsoft.com/office/2017/06/relationships/model3d" Target="../media/model3d1.glb"/><Relationship Id="rId7" Type="http://schemas.openxmlformats.org/officeDocument/2006/relationships/image" Target="../media/image62.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image" Target="../media/image61.jpeg"/><Relationship Id="rId5" Type="http://schemas.openxmlformats.org/officeDocument/2006/relationships/image" Target="../media/image60.jpeg"/><Relationship Id="rId10" Type="http://schemas.openxmlformats.org/officeDocument/2006/relationships/image" Target="../media/image65.svg"/><Relationship Id="rId4" Type="http://schemas.openxmlformats.org/officeDocument/2006/relationships/image" Target="../media/image59.png"/><Relationship Id="rId9" Type="http://schemas.openxmlformats.org/officeDocument/2006/relationships/image" Target="../media/image64.png"/></Relationships>
</file>

<file path=ppt/slides/_rels/slide13.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jpeg"/><Relationship Id="rId7" Type="http://schemas.openxmlformats.org/officeDocument/2006/relationships/image" Target="../media/image65.sv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64.png"/><Relationship Id="rId5" Type="http://schemas.openxmlformats.org/officeDocument/2006/relationships/image" Target="../media/image6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svg"/></Relationships>
</file>

<file path=ppt/slides/_rels/slide14.xml.rels><?xml version="1.0" encoding="UTF-8" standalone="yes"?>
<Relationships xmlns="http://schemas.openxmlformats.org/package/2006/relationships"><Relationship Id="rId8" Type="http://schemas.openxmlformats.org/officeDocument/2006/relationships/image" Target="../media/image67.svg"/><Relationship Id="rId3" Type="http://schemas.openxmlformats.org/officeDocument/2006/relationships/image" Target="../media/image68.png"/><Relationship Id="rId7" Type="http://schemas.openxmlformats.org/officeDocument/2006/relationships/image" Target="../media/image66.png"/><Relationship Id="rId12" Type="http://schemas.openxmlformats.org/officeDocument/2006/relationships/image" Target="../media/image70.sv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63.png"/><Relationship Id="rId11" Type="http://schemas.openxmlformats.org/officeDocument/2006/relationships/image" Target="../media/image69.png"/><Relationship Id="rId5" Type="http://schemas.openxmlformats.org/officeDocument/2006/relationships/image" Target="../media/image62.png"/><Relationship Id="rId10" Type="http://schemas.openxmlformats.org/officeDocument/2006/relationships/image" Target="../media/image65.svg"/><Relationship Id="rId4" Type="http://schemas.openxmlformats.org/officeDocument/2006/relationships/image" Target="../media/image61.jpeg"/><Relationship Id="rId9" Type="http://schemas.openxmlformats.org/officeDocument/2006/relationships/image" Target="../media/image64.png"/></Relationships>
</file>

<file path=ppt/slides/_rels/slide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media/image71.png"/></Relationships>
</file>

<file path=ppt/slides/_rels/slide16.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svg"/><Relationship Id="rId5" Type="http://schemas.openxmlformats.org/officeDocument/2006/relationships/image" Target="../media/image75.png"/><Relationship Id="rId4" Type="http://schemas.openxmlformats.org/officeDocument/2006/relationships/image" Target="../media/image74.svg"/></Relationships>
</file>

<file path=ppt/slides/_rels/slide18.xml.rels><?xml version="1.0" encoding="UTF-8" standalone="yes"?>
<Relationships xmlns="http://schemas.openxmlformats.org/package/2006/relationships"><Relationship Id="rId8" Type="http://schemas.openxmlformats.org/officeDocument/2006/relationships/image" Target="../media/image82.sv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notesSlide" Target="../notesSlides/notesSlide18.xml"/><Relationship Id="rId1" Type="http://schemas.openxmlformats.org/officeDocument/2006/relationships/slideLayout" Target="../slideLayouts/slideLayout6.xml"/><Relationship Id="rId6" Type="http://schemas.openxmlformats.org/officeDocument/2006/relationships/image" Target="../media/image80.svg"/><Relationship Id="rId5" Type="http://schemas.openxmlformats.org/officeDocument/2006/relationships/image" Target="../media/image79.png"/><Relationship Id="rId4" Type="http://schemas.openxmlformats.org/officeDocument/2006/relationships/image" Target="../media/image78.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83.png"/><Relationship Id="rId7"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6.xml"/><Relationship Id="rId6" Type="http://schemas.openxmlformats.org/officeDocument/2006/relationships/image" Target="../media/image86.svg"/><Relationship Id="rId5" Type="http://schemas.openxmlformats.org/officeDocument/2006/relationships/image" Target="../media/image85.png"/><Relationship Id="rId4" Type="http://schemas.openxmlformats.org/officeDocument/2006/relationships/image" Target="../media/image84.svg"/></Relationships>
</file>

<file path=ppt/slides/_rels/slide21.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93.svg"/><Relationship Id="rId3" Type="http://schemas.openxmlformats.org/officeDocument/2006/relationships/image" Target="../media/image87.png"/><Relationship Id="rId7" Type="http://schemas.openxmlformats.org/officeDocument/2006/relationships/image" Target="../media/image12.svg"/><Relationship Id="rId12" Type="http://schemas.openxmlformats.org/officeDocument/2006/relationships/image" Target="../media/image92.png"/><Relationship Id="rId2" Type="http://schemas.openxmlformats.org/officeDocument/2006/relationships/notesSlide" Target="../notesSlides/notesSlide21.xml"/><Relationship Id="rId1" Type="http://schemas.openxmlformats.org/officeDocument/2006/relationships/slideLayout" Target="../slideLayouts/slideLayout6.xml"/><Relationship Id="rId6" Type="http://schemas.openxmlformats.org/officeDocument/2006/relationships/image" Target="../media/image11.png"/><Relationship Id="rId11" Type="http://schemas.openxmlformats.org/officeDocument/2006/relationships/image" Target="../media/image91.svg"/><Relationship Id="rId5" Type="http://schemas.openxmlformats.org/officeDocument/2006/relationships/image" Target="../media/image19.svg"/><Relationship Id="rId10" Type="http://schemas.openxmlformats.org/officeDocument/2006/relationships/image" Target="../media/image90.png"/><Relationship Id="rId4" Type="http://schemas.openxmlformats.org/officeDocument/2006/relationships/image" Target="../media/image18.png"/><Relationship Id="rId9" Type="http://schemas.openxmlformats.org/officeDocument/2006/relationships/image" Target="../media/image89.svg"/></Relationships>
</file>

<file path=ppt/slides/_rels/slide22.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105.jpeg"/><Relationship Id="rId18" Type="http://schemas.openxmlformats.org/officeDocument/2006/relationships/image" Target="../media/image110.jpeg"/><Relationship Id="rId26" Type="http://schemas.openxmlformats.org/officeDocument/2006/relationships/image" Target="../media/image118.png"/><Relationship Id="rId3" Type="http://schemas.openxmlformats.org/officeDocument/2006/relationships/image" Target="../media/image95.jpeg"/><Relationship Id="rId21" Type="http://schemas.openxmlformats.org/officeDocument/2006/relationships/image" Target="../media/image113.png"/><Relationship Id="rId7" Type="http://schemas.openxmlformats.org/officeDocument/2006/relationships/image" Target="../media/image99.png"/><Relationship Id="rId12" Type="http://schemas.openxmlformats.org/officeDocument/2006/relationships/image" Target="../media/image104.png"/><Relationship Id="rId17" Type="http://schemas.openxmlformats.org/officeDocument/2006/relationships/image" Target="../media/image109.jpeg"/><Relationship Id="rId25" Type="http://schemas.openxmlformats.org/officeDocument/2006/relationships/image" Target="../media/image117.jpeg"/><Relationship Id="rId2" Type="http://schemas.openxmlformats.org/officeDocument/2006/relationships/image" Target="../media/image94.jpeg"/><Relationship Id="rId16" Type="http://schemas.openxmlformats.org/officeDocument/2006/relationships/image" Target="../media/image108.png"/><Relationship Id="rId20" Type="http://schemas.openxmlformats.org/officeDocument/2006/relationships/image" Target="../media/image112.png"/><Relationship Id="rId29" Type="http://schemas.openxmlformats.org/officeDocument/2006/relationships/image" Target="../media/image121.jpeg"/><Relationship Id="rId1" Type="http://schemas.openxmlformats.org/officeDocument/2006/relationships/slideLayout" Target="../slideLayouts/slideLayout6.xml"/><Relationship Id="rId6" Type="http://schemas.openxmlformats.org/officeDocument/2006/relationships/image" Target="../media/image98.png"/><Relationship Id="rId11" Type="http://schemas.openxmlformats.org/officeDocument/2006/relationships/image" Target="../media/image103.jpeg"/><Relationship Id="rId24" Type="http://schemas.openxmlformats.org/officeDocument/2006/relationships/image" Target="../media/image116.png"/><Relationship Id="rId5" Type="http://schemas.openxmlformats.org/officeDocument/2006/relationships/image" Target="../media/image97.png"/><Relationship Id="rId15" Type="http://schemas.openxmlformats.org/officeDocument/2006/relationships/image" Target="../media/image107.jpeg"/><Relationship Id="rId23" Type="http://schemas.openxmlformats.org/officeDocument/2006/relationships/image" Target="../media/image115.jpeg"/><Relationship Id="rId28" Type="http://schemas.openxmlformats.org/officeDocument/2006/relationships/image" Target="../media/image120.jpeg"/><Relationship Id="rId10" Type="http://schemas.openxmlformats.org/officeDocument/2006/relationships/image" Target="../media/image102.png"/><Relationship Id="rId19" Type="http://schemas.openxmlformats.org/officeDocument/2006/relationships/image" Target="../media/image111.jpeg"/><Relationship Id="rId31" Type="http://schemas.openxmlformats.org/officeDocument/2006/relationships/image" Target="../media/image123.svg"/><Relationship Id="rId4" Type="http://schemas.openxmlformats.org/officeDocument/2006/relationships/image" Target="../media/image96.jpeg"/><Relationship Id="rId9" Type="http://schemas.openxmlformats.org/officeDocument/2006/relationships/image" Target="../media/image101.png"/><Relationship Id="rId14" Type="http://schemas.openxmlformats.org/officeDocument/2006/relationships/image" Target="../media/image106.jpeg"/><Relationship Id="rId22" Type="http://schemas.openxmlformats.org/officeDocument/2006/relationships/image" Target="../media/image114.png"/><Relationship Id="rId27" Type="http://schemas.openxmlformats.org/officeDocument/2006/relationships/image" Target="../media/image119.jpeg"/><Relationship Id="rId30" Type="http://schemas.openxmlformats.org/officeDocument/2006/relationships/image" Target="../media/image1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EFFFF"/>
        </a:solidFill>
        <a:effectLst/>
      </p:bgPr>
    </p:bg>
    <p:spTree>
      <p:nvGrpSpPr>
        <p:cNvPr id="1" name=""/>
        <p:cNvGrpSpPr/>
        <p:nvPr/>
      </p:nvGrpSpPr>
      <p:grpSpPr>
        <a:xfrm>
          <a:off x="0" y="0"/>
          <a:ext cx="0" cy="0"/>
          <a:chOff x="0" y="0"/>
          <a:chExt cx="0" cy="0"/>
        </a:xfrm>
      </p:grpSpPr>
      <p:sp>
        <p:nvSpPr>
          <p:cNvPr id="148" name="Rectangle 147"/>
          <p:cNvSpPr/>
          <p:nvPr/>
        </p:nvSpPr>
        <p:spPr>
          <a:xfrm rot="10800000">
            <a:off x="9028080" y="12711600"/>
            <a:ext cx="833040" cy="21157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nSpc>
                <a:spcPct val="93000"/>
              </a:lnSpc>
              <a:spcBef>
                <a:spcPts val="74"/>
              </a:spcBef>
              <a:spcAft>
                <a:spcPts val="7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n-US" sz="1800" b="0" u="none" strike="noStrike" noProof="0" dirty="0">
              <a:solidFill>
                <a:srgbClr val="000000"/>
              </a:solidFill>
              <a:effectLst/>
              <a:uFillTx/>
              <a:latin typeface="Arial"/>
              <a:ea typeface="DejaVu Sans"/>
            </a:endParaRPr>
          </a:p>
        </p:txBody>
      </p:sp>
      <p:sp>
        <p:nvSpPr>
          <p:cNvPr id="149" name="Rectangle 148"/>
          <p:cNvSpPr/>
          <p:nvPr/>
        </p:nvSpPr>
        <p:spPr>
          <a:xfrm>
            <a:off x="4467240" y="631800"/>
            <a:ext cx="5636880" cy="158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3200" b="1" u="none" strike="noStrike" noProof="0" dirty="0">
                <a:solidFill>
                  <a:srgbClr val="980602"/>
                </a:solidFill>
                <a:effectLst/>
                <a:uFillTx/>
                <a:latin typeface="Poppins SemiBold"/>
                <a:ea typeface="Poppins SemiBold"/>
              </a:rPr>
              <a:t>Project Quark </a:t>
            </a:r>
          </a:p>
          <a:p>
            <a:pPr algn="ctr">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noProof="0" dirty="0">
                <a:solidFill>
                  <a:srgbClr val="980602"/>
                </a:solidFill>
              </a:rPr>
              <a:t>Bioinformatic operations orchestrator</a:t>
            </a:r>
            <a:endParaRPr lang="en-US" sz="2000" b="1" u="none" strike="noStrike" noProof="0" dirty="0">
              <a:solidFill>
                <a:srgbClr val="980602"/>
              </a:solidFill>
              <a:effectLst/>
              <a:uFillTx/>
              <a:latin typeface="Poppins SemiBold"/>
              <a:ea typeface="Poppins SemiBold"/>
            </a:endParaRPr>
          </a:p>
          <a:p>
            <a:pPr algn="ctr">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endParaRPr lang="en-US" sz="3200" b="0" u="none" strike="noStrike" noProof="0" dirty="0">
              <a:solidFill>
                <a:srgbClr val="000000"/>
              </a:solidFill>
              <a:effectLst/>
              <a:uFillTx/>
              <a:latin typeface="Arial"/>
            </a:endParaRPr>
          </a:p>
          <a:p>
            <a:pPr algn="ctr">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endParaRPr lang="en-US" sz="3200" b="0" u="none" strike="noStrike" noProof="0" dirty="0">
              <a:solidFill>
                <a:srgbClr val="000000"/>
              </a:solidFill>
              <a:effectLst/>
              <a:uFillTx/>
              <a:latin typeface="Arial"/>
            </a:endParaRPr>
          </a:p>
        </p:txBody>
      </p:sp>
      <p:pic>
        <p:nvPicPr>
          <p:cNvPr id="150" name="Image 149"/>
          <p:cNvPicPr/>
          <p:nvPr/>
        </p:nvPicPr>
        <p:blipFill>
          <a:blip r:embed="rId3"/>
          <a:stretch/>
        </p:blipFill>
        <p:spPr>
          <a:xfrm>
            <a:off x="5904000" y="5040360"/>
            <a:ext cx="902880" cy="607680"/>
          </a:xfrm>
          <a:prstGeom prst="rect">
            <a:avLst/>
          </a:prstGeom>
          <a:noFill/>
          <a:ln w="0">
            <a:noFill/>
          </a:ln>
        </p:spPr>
      </p:pic>
      <p:pic>
        <p:nvPicPr>
          <p:cNvPr id="151" name="Image 150"/>
          <p:cNvPicPr/>
          <p:nvPr/>
        </p:nvPicPr>
        <p:blipFill>
          <a:blip r:embed="rId4"/>
          <a:stretch/>
        </p:blipFill>
        <p:spPr>
          <a:xfrm>
            <a:off x="4824360" y="5186520"/>
            <a:ext cx="1029960" cy="393120"/>
          </a:xfrm>
          <a:prstGeom prst="rect">
            <a:avLst/>
          </a:prstGeom>
          <a:noFill/>
          <a:ln w="0">
            <a:noFill/>
          </a:ln>
        </p:spPr>
      </p:pic>
      <p:sp>
        <p:nvSpPr>
          <p:cNvPr id="152" name="Rectangle 151"/>
          <p:cNvSpPr/>
          <p:nvPr/>
        </p:nvSpPr>
        <p:spPr>
          <a:xfrm>
            <a:off x="4876920" y="3090960"/>
            <a:ext cx="5225400" cy="1191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100" b="1" u="none" strike="noStrike" noProof="0" dirty="0">
                <a:solidFill>
                  <a:srgbClr val="233348"/>
                </a:solidFill>
                <a:effectLst/>
                <a:uFillTx/>
                <a:latin typeface="Poppins Light"/>
                <a:ea typeface="Poppins Light"/>
              </a:rPr>
              <a:t>Matthieu DAMIEN</a:t>
            </a:r>
            <a:endParaRPr lang="en-US" sz="2100" b="0" u="none" strike="noStrike" noProof="0" dirty="0">
              <a:solidFill>
                <a:srgbClr val="000000"/>
              </a:solidFill>
              <a:effectLst/>
              <a:uFillTx/>
              <a:latin typeface="Arial"/>
            </a:endParaRPr>
          </a:p>
          <a:p>
            <a:pPr algn="ctr">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100" b="0" i="1" u="none" strike="noStrike" noProof="0" dirty="0">
                <a:solidFill>
                  <a:srgbClr val="233348"/>
                </a:solidFill>
                <a:effectLst/>
                <a:uFillTx/>
                <a:latin typeface="Poppins Light"/>
                <a:ea typeface="Poppins Light"/>
              </a:rPr>
              <a:t>Intern</a:t>
            </a:r>
            <a:endParaRPr lang="en-US" sz="2100" b="0" u="none" strike="noStrike" noProof="0" dirty="0">
              <a:solidFill>
                <a:srgbClr val="000000"/>
              </a:solidFill>
              <a:effectLst/>
              <a:uFillTx/>
              <a:latin typeface="Arial"/>
            </a:endParaRPr>
          </a:p>
          <a:p>
            <a:pPr algn="ctr">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100" b="0" i="1" u="none" strike="noStrike" noProof="0" dirty="0">
                <a:solidFill>
                  <a:srgbClr val="233348"/>
                </a:solidFill>
                <a:effectLst/>
                <a:uFillTx/>
                <a:latin typeface="Poppins Light"/>
                <a:ea typeface="Poppins Light"/>
              </a:rPr>
              <a:t>26/09/2025 </a:t>
            </a:r>
            <a:endParaRPr lang="en-US" sz="2100" b="0" u="none" strike="noStrike" noProof="0" dirty="0">
              <a:solidFill>
                <a:srgbClr val="000000"/>
              </a:solidFill>
              <a:effectLst/>
              <a:uFillTx/>
              <a:latin typeface="Arial"/>
            </a:endParaRPr>
          </a:p>
          <a:p>
            <a:pPr algn="ctr">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endParaRPr lang="en-US" sz="2100" b="0" u="none" strike="noStrike" noProof="0" dirty="0">
              <a:solidFill>
                <a:srgbClr val="000000"/>
              </a:solidFill>
              <a:effectLst/>
              <a:uFillTx/>
              <a:latin typeface="Arial"/>
            </a:endParaRPr>
          </a:p>
          <a:p>
            <a:pPr algn="ctr">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endParaRPr lang="en-US" sz="2100" b="0" u="none" strike="noStrike" noProof="0" dirty="0">
              <a:solidFill>
                <a:srgbClr val="000000"/>
              </a:solidFill>
              <a:effectLst/>
              <a:uFillTx/>
              <a:latin typeface="Arial"/>
            </a:endParaRPr>
          </a:p>
          <a:p>
            <a:pPr algn="ctr">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endParaRPr lang="en-US" sz="2100" b="0" u="none" strike="noStrike" noProof="0" dirty="0">
              <a:solidFill>
                <a:srgbClr val="000000"/>
              </a:solidFill>
              <a:effectLst/>
              <a:uFillTx/>
              <a:latin typeface="Arial"/>
            </a:endParaRPr>
          </a:p>
        </p:txBody>
      </p:sp>
      <p:sp>
        <p:nvSpPr>
          <p:cNvPr id="153" name="Rectangle 152"/>
          <p:cNvSpPr/>
          <p:nvPr/>
        </p:nvSpPr>
        <p:spPr>
          <a:xfrm>
            <a:off x="6767640" y="214200"/>
            <a:ext cx="3309480" cy="53640"/>
          </a:xfrm>
          <a:prstGeom prst="rect">
            <a:avLst/>
          </a:prstGeom>
          <a:solidFill>
            <a:srgbClr val="4F81BD"/>
          </a:solidFill>
          <a:ln w="0">
            <a:noFill/>
          </a:ln>
        </p:spPr>
        <p:style>
          <a:lnRef idx="0">
            <a:scrgbClr r="0" g="0" b="0"/>
          </a:lnRef>
          <a:fillRef idx="0">
            <a:scrgbClr r="0" g="0" b="0"/>
          </a:fillRef>
          <a:effectRef idx="0">
            <a:scrgbClr r="0" g="0" b="0"/>
          </a:effectRef>
          <a:fontRef idx="minor"/>
        </p:style>
        <p:txBody>
          <a:bodyPr wrap="none" lIns="90000" tIns="7200" rIns="90000" bIns="7200" anchor="ctr">
            <a:noAutofit/>
          </a:bodyPr>
          <a:lstStyle/>
          <a:p>
            <a:pPr>
              <a:lnSpc>
                <a:spcPct val="93000"/>
              </a:lnSpc>
              <a:spcBef>
                <a:spcPts val="74"/>
              </a:spcBef>
              <a:spcAft>
                <a:spcPts val="7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n-US" sz="1800" b="0" u="none" strike="noStrike" noProof="0" dirty="0">
              <a:solidFill>
                <a:srgbClr val="000000"/>
              </a:solidFill>
              <a:effectLst/>
              <a:uFillTx/>
              <a:latin typeface="Arial"/>
              <a:ea typeface="DejaVu Sans"/>
            </a:endParaRPr>
          </a:p>
        </p:txBody>
      </p:sp>
      <p:sp>
        <p:nvSpPr>
          <p:cNvPr id="154" name="Rectangle 153"/>
          <p:cNvSpPr/>
          <p:nvPr/>
        </p:nvSpPr>
        <p:spPr>
          <a:xfrm>
            <a:off x="6762600" y="155520"/>
            <a:ext cx="3309840" cy="53640"/>
          </a:xfrm>
          <a:prstGeom prst="rect">
            <a:avLst/>
          </a:prstGeom>
          <a:solidFill>
            <a:srgbClr val="920C0C"/>
          </a:solidFill>
          <a:ln w="0">
            <a:noFill/>
          </a:ln>
        </p:spPr>
        <p:style>
          <a:lnRef idx="0">
            <a:scrgbClr r="0" g="0" b="0"/>
          </a:lnRef>
          <a:fillRef idx="0">
            <a:scrgbClr r="0" g="0" b="0"/>
          </a:fillRef>
          <a:effectRef idx="0">
            <a:scrgbClr r="0" g="0" b="0"/>
          </a:effectRef>
          <a:fontRef idx="minor"/>
        </p:style>
        <p:txBody>
          <a:bodyPr wrap="none" lIns="90000" tIns="7200" rIns="90000" bIns="7200" anchor="ctr">
            <a:noAutofit/>
          </a:bodyPr>
          <a:lstStyle/>
          <a:p>
            <a:pPr>
              <a:lnSpc>
                <a:spcPct val="93000"/>
              </a:lnSpc>
              <a:spcBef>
                <a:spcPts val="74"/>
              </a:spcBef>
              <a:spcAft>
                <a:spcPts val="7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n-US" sz="1800" b="0" u="none" strike="noStrike" noProof="0" dirty="0">
              <a:solidFill>
                <a:srgbClr val="000000"/>
              </a:solidFill>
              <a:effectLst/>
              <a:uFillTx/>
              <a:latin typeface="Arial"/>
              <a:ea typeface="DejaVu Sans"/>
            </a:endParaRPr>
          </a:p>
        </p:txBody>
      </p:sp>
      <p:sp>
        <p:nvSpPr>
          <p:cNvPr id="155" name="Connecteur droit 154"/>
          <p:cNvSpPr/>
          <p:nvPr/>
        </p:nvSpPr>
        <p:spPr>
          <a:xfrm>
            <a:off x="5911920" y="4084560"/>
            <a:ext cx="2882880" cy="1800"/>
          </a:xfrm>
          <a:prstGeom prst="line">
            <a:avLst/>
          </a:prstGeom>
          <a:ln w="9360">
            <a:solidFill>
              <a:srgbClr val="4A7EB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noProof="0" dirty="0">
              <a:solidFill>
                <a:srgbClr val="000000"/>
              </a:solidFill>
              <a:effectLst/>
              <a:uFillTx/>
              <a:latin typeface="Arial"/>
              <a:ea typeface="DejaVu Sans"/>
            </a:endParaRPr>
          </a:p>
        </p:txBody>
      </p:sp>
      <p:pic>
        <p:nvPicPr>
          <p:cNvPr id="156" name="Image 155"/>
          <p:cNvPicPr/>
          <p:nvPr/>
        </p:nvPicPr>
        <p:blipFill>
          <a:blip r:embed="rId5"/>
          <a:stretch/>
        </p:blipFill>
        <p:spPr>
          <a:xfrm>
            <a:off x="0" y="0"/>
            <a:ext cx="4876560" cy="5709960"/>
          </a:xfrm>
          <a:prstGeom prst="rect">
            <a:avLst/>
          </a:prstGeom>
          <a:noFill/>
          <a:ln w="0">
            <a:noFill/>
          </a:ln>
        </p:spPr>
      </p:pic>
      <p:sp>
        <p:nvSpPr>
          <p:cNvPr id="157" name="Rectangle 156"/>
          <p:cNvSpPr/>
          <p:nvPr/>
        </p:nvSpPr>
        <p:spPr>
          <a:xfrm>
            <a:off x="6227640" y="3419640"/>
            <a:ext cx="2447640" cy="345600"/>
          </a:xfrm>
          <a:prstGeom prst="rect">
            <a:avLst/>
          </a:prstGeom>
          <a:noFill/>
          <a:ln w="0">
            <a:noFill/>
          </a:ln>
        </p:spPr>
        <p:style>
          <a:lnRef idx="0">
            <a:scrgbClr r="0" g="0" b="0"/>
          </a:lnRef>
          <a:fillRef idx="0">
            <a:scrgbClr r="0" g="0" b="0"/>
          </a:fillRef>
          <a:effectRef idx="0">
            <a:scrgbClr r="0" g="0" b="0"/>
          </a:effectRef>
          <a:fontRef idx="minor"/>
        </p:style>
        <p:txBody>
          <a:bodyPr wrap="none" lIns="90000" tIns="46800" rIns="90000" bIns="46800" anchor="ctr">
            <a:noAutofit/>
          </a:bodyPr>
          <a:lstStyle/>
          <a:p>
            <a:pPr>
              <a:lnSpc>
                <a:spcPct val="93000"/>
              </a:lnSpc>
              <a:spcBef>
                <a:spcPts val="74"/>
              </a:spcBef>
              <a:spcAft>
                <a:spcPts val="74"/>
              </a:spcAft>
              <a:tabLst>
                <a:tab pos="0" algn="l"/>
                <a:tab pos="449280" algn="l"/>
                <a:tab pos="898560" algn="l"/>
                <a:tab pos="1347840" algn="l"/>
                <a:tab pos="1797120" algn="l"/>
                <a:tab pos="2246400" algn="l"/>
                <a:tab pos="2695680" algn="l"/>
                <a:tab pos="3144960" algn="l"/>
                <a:tab pos="3594240" algn="l"/>
                <a:tab pos="4043520" algn="l"/>
                <a:tab pos="4492800" algn="l"/>
                <a:tab pos="4941720" algn="l"/>
                <a:tab pos="5391000" algn="l"/>
                <a:tab pos="5840280" algn="l"/>
                <a:tab pos="6289560" algn="l"/>
                <a:tab pos="6738840" algn="l"/>
                <a:tab pos="7188120" algn="l"/>
                <a:tab pos="7637400" algn="l"/>
                <a:tab pos="8086680" algn="l"/>
                <a:tab pos="8535960" algn="l"/>
                <a:tab pos="8985240" algn="l"/>
              </a:tabLst>
            </a:pPr>
            <a:endParaRPr lang="en-US" sz="1800" b="0" u="none" strike="noStrike" noProof="0" dirty="0">
              <a:solidFill>
                <a:srgbClr val="000000"/>
              </a:solidFill>
              <a:effectLst/>
              <a:uFillTx/>
              <a:latin typeface="Arial"/>
              <a:ea typeface="DejaVu Sans"/>
            </a:endParaRPr>
          </a:p>
        </p:txBody>
      </p:sp>
      <p:pic>
        <p:nvPicPr>
          <p:cNvPr id="158" name="Image 157"/>
          <p:cNvPicPr/>
          <p:nvPr/>
        </p:nvPicPr>
        <p:blipFill>
          <a:blip r:embed="rId6"/>
          <a:stretch/>
        </p:blipFill>
        <p:spPr>
          <a:xfrm>
            <a:off x="8064360" y="5175360"/>
            <a:ext cx="1564920" cy="404280"/>
          </a:xfrm>
          <a:prstGeom prst="rect">
            <a:avLst/>
          </a:prstGeom>
          <a:noFill/>
          <a:ln w="0">
            <a:noFill/>
          </a:ln>
        </p:spPr>
      </p:pic>
      <p:pic>
        <p:nvPicPr>
          <p:cNvPr id="159" name="Image 158"/>
          <p:cNvPicPr/>
          <p:nvPr/>
        </p:nvPicPr>
        <p:blipFill>
          <a:blip r:embed="rId7"/>
          <a:stretch/>
        </p:blipFill>
        <p:spPr>
          <a:xfrm>
            <a:off x="6659640" y="4086360"/>
            <a:ext cx="1426680" cy="772560"/>
          </a:xfrm>
          <a:prstGeom prst="rect">
            <a:avLst/>
          </a:prstGeom>
          <a:noFill/>
          <a:ln w="0">
            <a:noFill/>
          </a:ln>
        </p:spPr>
      </p:pic>
      <p:pic>
        <p:nvPicPr>
          <p:cNvPr id="160" name="Image 159"/>
          <p:cNvPicPr/>
          <p:nvPr/>
        </p:nvPicPr>
        <p:blipFill>
          <a:blip r:embed="rId8"/>
          <a:stretch/>
        </p:blipFill>
        <p:spPr>
          <a:xfrm>
            <a:off x="6788880" y="4932000"/>
            <a:ext cx="1264320" cy="720000"/>
          </a:xfrm>
          <a:prstGeom prst="rect">
            <a:avLst/>
          </a:prstGeom>
          <a:noFill/>
          <a:ln w="0">
            <a:noFill/>
          </a:ln>
        </p:spPr>
      </p:pic>
      <mc:AlternateContent xmlns:mc="http://schemas.openxmlformats.org/markup-compatibility/2006">
        <mc:Choice xmlns:am3d="http://schemas.microsoft.com/office/drawing/2017/model3d" Requires="am3d">
          <p:graphicFrame>
            <p:nvGraphicFramePr>
              <p:cNvPr id="6" name="Modèle 3D 5" descr="ADN">
                <a:extLst>
                  <a:ext uri="{FF2B5EF4-FFF2-40B4-BE49-F238E27FC236}">
                    <a16:creationId xmlns:a16="http://schemas.microsoft.com/office/drawing/2014/main" id="{6B377E7B-1830-9230-F11D-DB3991498BB1}"/>
                  </a:ext>
                </a:extLst>
              </p:cNvPr>
              <p:cNvGraphicFramePr>
                <a:graphicFrameLocks noChangeAspect="1"/>
              </p:cNvGraphicFramePr>
              <p:nvPr>
                <p:extLst>
                  <p:ext uri="{D42A27DB-BD31-4B8C-83A1-F6EECF244321}">
                    <p14:modId xmlns:p14="http://schemas.microsoft.com/office/powerpoint/2010/main" val="2442244146"/>
                  </p:ext>
                </p:extLst>
              </p:nvPr>
            </p:nvGraphicFramePr>
            <p:xfrm rot="20977348">
              <a:off x="3507141" y="-5451528"/>
              <a:ext cx="1189660" cy="5377259"/>
            </p:xfrm>
            <a:graphic>
              <a:graphicData uri="http://schemas.microsoft.com/office/drawing/2017/model3d">
                <am3d:model3d r:embed="rId9">
                  <am3d:spPr>
                    <a:xfrm rot="20977348">
                      <a:off x="0" y="0"/>
                      <a:ext cx="1189660" cy="5377259"/>
                    </a:xfrm>
                    <a:prstGeom prst="rect">
                      <a:avLst/>
                    </a:prstGeom>
                  </am3d:spPr>
                  <am3d:camera>
                    <am3d:pos x="0" y="0" z="49127550"/>
                    <am3d:up dx="0" dy="36000000" dz="0"/>
                    <am3d:lookAt x="0" y="0" z="0"/>
                    <am3d:perspective fov="2700000"/>
                  </am3d:camera>
                  <am3d:trans>
                    <am3d:meterPerModelUnit n="1724731" d="1000000"/>
                    <am3d:preTrans dx="-118" dy="-18000000" dz="-1"/>
                    <am3d:scale>
                      <am3d:sx n="1000000" d="1000000"/>
                      <am3d:sy n="1000000" d="1000000"/>
                      <am3d:sz n="1000000" d="1000000"/>
                    </am3d:scale>
                    <am3d:rot ax="10619849" ay="1225552" az="10737090"/>
                    <am3d:postTrans dx="0" dy="0" dz="0"/>
                  </am3d:trans>
                  <am3d:raster rName="Office3DRenderer" rVer="16.0.8326">
                    <am3d:blip r:embed="rId10"/>
                  </am3d:raster>
                  <am3d:objViewport viewportSz="575795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 name="Modèle 3D 5" descr="ADN">
                <a:extLst>
                  <a:ext uri="{FF2B5EF4-FFF2-40B4-BE49-F238E27FC236}">
                    <a16:creationId xmlns:a16="http://schemas.microsoft.com/office/drawing/2014/main" id="{6B377E7B-1830-9230-F11D-DB3991498BB1}"/>
                  </a:ext>
                </a:extLst>
              </p:cNvPr>
              <p:cNvPicPr>
                <a:picLocks noGrp="1" noRot="1" noChangeAspect="1" noMove="1" noResize="1" noEditPoints="1" noAdjustHandles="1" noChangeArrowheads="1" noChangeShapeType="1" noCrop="1"/>
              </p:cNvPicPr>
              <p:nvPr/>
            </p:nvPicPr>
            <p:blipFill>
              <a:blip r:embed="rId10"/>
              <a:stretch>
                <a:fillRect/>
              </a:stretch>
            </p:blipFill>
            <p:spPr>
              <a:xfrm rot="20977348">
                <a:off x="3507141" y="-5451528"/>
                <a:ext cx="1189660" cy="5377259"/>
              </a:xfrm>
              <a:prstGeom prst="rect">
                <a:avLst/>
              </a:prstGeom>
            </p:spPr>
          </p:pic>
        </mc:Fallback>
      </mc:AlternateContent>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1" name="Rectangle 160"/>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Table of content</a:t>
            </a:r>
            <a:endParaRPr lang="en-US" sz="2000" b="0" u="none" strike="noStrike" noProof="0" dirty="0">
              <a:solidFill>
                <a:srgbClr val="000000"/>
              </a:solidFill>
              <a:effectLst/>
              <a:uFillTx/>
              <a:latin typeface="Arial"/>
            </a:endParaRPr>
          </a:p>
        </p:txBody>
      </p:sp>
      <p:sp>
        <p:nvSpPr>
          <p:cNvPr id="4" name="Espace réservé du numéro de diapositive 3">
            <a:extLst>
              <a:ext uri="{FF2B5EF4-FFF2-40B4-BE49-F238E27FC236}">
                <a16:creationId xmlns:a16="http://schemas.microsoft.com/office/drawing/2014/main" id="{180E7D15-69CE-C833-5420-47AEB88247C3}"/>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2</a:t>
            </a:fld>
            <a:endParaRPr lang="en-US" sz="1200" noProof="0" dirty="0"/>
          </a:p>
        </p:txBody>
      </p:sp>
      <mc:AlternateContent xmlns:mc="http://schemas.openxmlformats.org/markup-compatibility/2006">
        <mc:Choice xmlns:am3d="http://schemas.microsoft.com/office/drawing/2017/model3d" Requires="am3d">
          <p:graphicFrame>
            <p:nvGraphicFramePr>
              <p:cNvPr id="8" name="Modèle 3D 7" descr="ADN">
                <a:extLst>
                  <a:ext uri="{FF2B5EF4-FFF2-40B4-BE49-F238E27FC236}">
                    <a16:creationId xmlns:a16="http://schemas.microsoft.com/office/drawing/2014/main" id="{677A00A0-0476-C815-36D7-313B78084169}"/>
                  </a:ext>
                </a:extLst>
              </p:cNvPr>
              <p:cNvGraphicFramePr>
                <a:graphicFrameLocks noChangeAspect="1"/>
              </p:cNvGraphicFramePr>
              <p:nvPr>
                <p:extLst>
                  <p:ext uri="{D42A27DB-BD31-4B8C-83A1-F6EECF244321}">
                    <p14:modId xmlns:p14="http://schemas.microsoft.com/office/powerpoint/2010/main" val="599427775"/>
                  </p:ext>
                </p:extLst>
              </p:nvPr>
            </p:nvGraphicFramePr>
            <p:xfrm rot="20977348">
              <a:off x="4582019" y="189354"/>
              <a:ext cx="1183836" cy="5437388"/>
            </p:xfrm>
            <a:graphic>
              <a:graphicData uri="http://schemas.microsoft.com/office/drawing/2017/model3d">
                <am3d:model3d r:embed="rId3">
                  <am3d:spPr>
                    <a:xfrm rot="20977348">
                      <a:off x="0" y="0"/>
                      <a:ext cx="1183836" cy="5437388"/>
                    </a:xfrm>
                    <a:prstGeom prst="rect">
                      <a:avLst/>
                    </a:prstGeom>
                  </am3d:spPr>
                  <am3d:camera>
                    <am3d:pos x="0" y="0" z="49127550"/>
                    <am3d:up dx="0" dy="36000000" dz="0"/>
                    <am3d:lookAt x="0" y="0" z="0"/>
                    <am3d:perspective fov="2700000"/>
                  </am3d:camera>
                  <am3d:trans>
                    <am3d:meterPerModelUnit n="1724731" d="1000000"/>
                    <am3d:preTrans dx="-118" dy="-18000000" dz="-1"/>
                    <am3d:scale>
                      <am3d:sx n="1000000" d="1000000"/>
                      <am3d:sy n="1000000" d="1000000"/>
                      <am3d:sz n="1000000" d="1000000"/>
                    </am3d:scale>
                    <am3d:rot/>
                    <am3d:postTrans dx="0" dy="0" dz="0"/>
                  </am3d:trans>
                  <am3d:raster rName="Office3DRenderer" rVer="16.0.8326">
                    <am3d:blip r:embed="rId4"/>
                  </am3d:raster>
                  <am3d:objViewport viewportSz="5757954"/>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Modèle 3D 7" descr="ADN">
                <a:extLst>
                  <a:ext uri="{FF2B5EF4-FFF2-40B4-BE49-F238E27FC236}">
                    <a16:creationId xmlns:a16="http://schemas.microsoft.com/office/drawing/2014/main" id="{677A00A0-0476-C815-36D7-313B78084169}"/>
                  </a:ext>
                </a:extLst>
              </p:cNvPr>
              <p:cNvPicPr>
                <a:picLocks noGrp="1" noRot="1" noChangeAspect="1" noMove="1" noResize="1" noEditPoints="1" noAdjustHandles="1" noChangeArrowheads="1" noChangeShapeType="1" noCrop="1"/>
              </p:cNvPicPr>
              <p:nvPr/>
            </p:nvPicPr>
            <p:blipFill>
              <a:blip r:embed="rId4"/>
              <a:stretch>
                <a:fillRect/>
              </a:stretch>
            </p:blipFill>
            <p:spPr>
              <a:xfrm rot="20977348">
                <a:off x="4582019" y="189354"/>
                <a:ext cx="1183836" cy="5437388"/>
              </a:xfrm>
              <a:prstGeom prst="rect">
                <a:avLst/>
              </a:prstGeom>
            </p:spPr>
          </p:pic>
        </mc:Fallback>
      </mc:AlternateContent>
      <p:cxnSp>
        <p:nvCxnSpPr>
          <p:cNvPr id="13" name="Connecteur droit 12">
            <a:extLst>
              <a:ext uri="{FF2B5EF4-FFF2-40B4-BE49-F238E27FC236}">
                <a16:creationId xmlns:a16="http://schemas.microsoft.com/office/drawing/2014/main" id="{9C05DEEE-AA7C-948F-D745-C9E63A8E037F}"/>
              </a:ext>
            </a:extLst>
          </p:cNvPr>
          <p:cNvCxnSpPr/>
          <p:nvPr/>
        </p:nvCxnSpPr>
        <p:spPr>
          <a:xfrm flipH="1">
            <a:off x="2745593" y="984426"/>
            <a:ext cx="1676400" cy="0"/>
          </a:xfrm>
          <a:prstGeom prst="line">
            <a:avLst/>
          </a:prstGeom>
          <a:ln w="38100">
            <a:solidFill>
              <a:srgbClr val="980602"/>
            </a:solidFill>
          </a:ln>
        </p:spPr>
        <p:style>
          <a:lnRef idx="1">
            <a:schemeClr val="accent1"/>
          </a:lnRef>
          <a:fillRef idx="0">
            <a:schemeClr val="accent1"/>
          </a:fillRef>
          <a:effectRef idx="0">
            <a:schemeClr val="accent1"/>
          </a:effectRef>
          <a:fontRef idx="minor">
            <a:schemeClr val="tx1"/>
          </a:fontRef>
        </p:style>
      </p:cxnSp>
      <p:cxnSp>
        <p:nvCxnSpPr>
          <p:cNvPr id="14" name="Connecteur droit 13">
            <a:extLst>
              <a:ext uri="{FF2B5EF4-FFF2-40B4-BE49-F238E27FC236}">
                <a16:creationId xmlns:a16="http://schemas.microsoft.com/office/drawing/2014/main" id="{C85E0B47-E9BB-CF8C-0114-35BF2AA45D2E}"/>
              </a:ext>
            </a:extLst>
          </p:cNvPr>
          <p:cNvCxnSpPr/>
          <p:nvPr/>
        </p:nvCxnSpPr>
        <p:spPr>
          <a:xfrm flipH="1">
            <a:off x="5185352" y="1900755"/>
            <a:ext cx="1676400" cy="0"/>
          </a:xfrm>
          <a:prstGeom prst="line">
            <a:avLst/>
          </a:prstGeom>
          <a:ln w="38100">
            <a:solidFill>
              <a:srgbClr val="980602"/>
            </a:solidFill>
          </a:ln>
        </p:spPr>
        <p:style>
          <a:lnRef idx="1">
            <a:schemeClr val="accent1"/>
          </a:lnRef>
          <a:fillRef idx="0">
            <a:schemeClr val="accent1"/>
          </a:fillRef>
          <a:effectRef idx="0">
            <a:schemeClr val="accent1"/>
          </a:effectRef>
          <a:fontRef idx="minor">
            <a:schemeClr val="tx1"/>
          </a:fontRef>
        </p:style>
      </p:cxnSp>
      <p:cxnSp>
        <p:nvCxnSpPr>
          <p:cNvPr id="15" name="Connecteur droit 14">
            <a:extLst>
              <a:ext uri="{FF2B5EF4-FFF2-40B4-BE49-F238E27FC236}">
                <a16:creationId xmlns:a16="http://schemas.microsoft.com/office/drawing/2014/main" id="{8E82B93B-3568-E109-A0F1-1734D00818F8}"/>
              </a:ext>
            </a:extLst>
          </p:cNvPr>
          <p:cNvCxnSpPr/>
          <p:nvPr/>
        </p:nvCxnSpPr>
        <p:spPr>
          <a:xfrm flipH="1">
            <a:off x="3141525" y="2653109"/>
            <a:ext cx="1676400" cy="0"/>
          </a:xfrm>
          <a:prstGeom prst="line">
            <a:avLst/>
          </a:prstGeom>
          <a:ln w="38100">
            <a:solidFill>
              <a:srgbClr val="980602"/>
            </a:solidFill>
          </a:ln>
        </p:spPr>
        <p:style>
          <a:lnRef idx="1">
            <a:schemeClr val="accent1"/>
          </a:lnRef>
          <a:fillRef idx="0">
            <a:schemeClr val="accent1"/>
          </a:fillRef>
          <a:effectRef idx="0">
            <a:schemeClr val="accent1"/>
          </a:effectRef>
          <a:fontRef idx="minor">
            <a:schemeClr val="tx1"/>
          </a:fontRef>
        </p:style>
      </p:cxnSp>
      <p:cxnSp>
        <p:nvCxnSpPr>
          <p:cNvPr id="16" name="Connecteur droit 15">
            <a:extLst>
              <a:ext uri="{FF2B5EF4-FFF2-40B4-BE49-F238E27FC236}">
                <a16:creationId xmlns:a16="http://schemas.microsoft.com/office/drawing/2014/main" id="{1242DCDB-456C-67C1-22CA-9A35E8B51F99}"/>
              </a:ext>
            </a:extLst>
          </p:cNvPr>
          <p:cNvCxnSpPr/>
          <p:nvPr/>
        </p:nvCxnSpPr>
        <p:spPr>
          <a:xfrm flipH="1">
            <a:off x="5407701" y="3567509"/>
            <a:ext cx="1676400" cy="0"/>
          </a:xfrm>
          <a:prstGeom prst="line">
            <a:avLst/>
          </a:prstGeom>
          <a:ln w="38100">
            <a:solidFill>
              <a:srgbClr val="980602"/>
            </a:solidFill>
          </a:ln>
        </p:spPr>
        <p:style>
          <a:lnRef idx="1">
            <a:schemeClr val="accent1"/>
          </a:lnRef>
          <a:fillRef idx="0">
            <a:schemeClr val="accent1"/>
          </a:fillRef>
          <a:effectRef idx="0">
            <a:schemeClr val="accent1"/>
          </a:effectRef>
          <a:fontRef idx="minor">
            <a:schemeClr val="tx1"/>
          </a:fontRef>
        </p:style>
      </p:cxnSp>
      <p:cxnSp>
        <p:nvCxnSpPr>
          <p:cNvPr id="17" name="Connecteur droit 16">
            <a:extLst>
              <a:ext uri="{FF2B5EF4-FFF2-40B4-BE49-F238E27FC236}">
                <a16:creationId xmlns:a16="http://schemas.microsoft.com/office/drawing/2014/main" id="{DDF674DB-BDC4-B4CE-5C46-A1F7B222B0C1}"/>
              </a:ext>
            </a:extLst>
          </p:cNvPr>
          <p:cNvCxnSpPr/>
          <p:nvPr/>
        </p:nvCxnSpPr>
        <p:spPr>
          <a:xfrm flipH="1">
            <a:off x="3508952" y="4562932"/>
            <a:ext cx="1676400" cy="0"/>
          </a:xfrm>
          <a:prstGeom prst="line">
            <a:avLst/>
          </a:prstGeom>
          <a:ln w="38100">
            <a:solidFill>
              <a:srgbClr val="980602"/>
            </a:solidFill>
          </a:ln>
        </p:spPr>
        <p:style>
          <a:lnRef idx="1">
            <a:schemeClr val="accent1"/>
          </a:lnRef>
          <a:fillRef idx="0">
            <a:schemeClr val="accent1"/>
          </a:fillRef>
          <a:effectRef idx="0">
            <a:schemeClr val="accent1"/>
          </a:effectRef>
          <a:fontRef idx="minor">
            <a:schemeClr val="tx1"/>
          </a:fontRef>
        </p:style>
      </p:cxnSp>
      <p:sp>
        <p:nvSpPr>
          <p:cNvPr id="5" name="ZoneTexte 4">
            <a:extLst>
              <a:ext uri="{FF2B5EF4-FFF2-40B4-BE49-F238E27FC236}">
                <a16:creationId xmlns:a16="http://schemas.microsoft.com/office/drawing/2014/main" id="{A054D791-4751-0B5D-0A0E-61928BA7E282}"/>
              </a:ext>
            </a:extLst>
          </p:cNvPr>
          <p:cNvSpPr txBox="1"/>
          <p:nvPr/>
        </p:nvSpPr>
        <p:spPr>
          <a:xfrm>
            <a:off x="461396" y="799760"/>
            <a:ext cx="2287806" cy="369332"/>
          </a:xfrm>
          <a:prstGeom prst="rect">
            <a:avLst/>
          </a:prstGeom>
          <a:noFill/>
        </p:spPr>
        <p:txBody>
          <a:bodyPr wrap="none" rtlCol="0">
            <a:spAutoFit/>
          </a:bodyPr>
          <a:lstStyle/>
          <a:p>
            <a:r>
              <a:rPr lang="en-US" noProof="0" dirty="0">
                <a:solidFill>
                  <a:srgbClr val="980602"/>
                </a:solidFill>
              </a:rPr>
              <a:t>Current architecture </a:t>
            </a:r>
          </a:p>
        </p:txBody>
      </p:sp>
      <p:sp>
        <p:nvSpPr>
          <p:cNvPr id="2" name="Arc 1">
            <a:extLst>
              <a:ext uri="{FF2B5EF4-FFF2-40B4-BE49-F238E27FC236}">
                <a16:creationId xmlns:a16="http://schemas.microsoft.com/office/drawing/2014/main" id="{28DE8065-0D92-A0B1-B3C8-BF1B3BCC7CD8}"/>
              </a:ext>
            </a:extLst>
          </p:cNvPr>
          <p:cNvSpPr/>
          <p:nvPr/>
        </p:nvSpPr>
        <p:spPr>
          <a:xfrm rot="5400000">
            <a:off x="1570785" y="-3975360"/>
            <a:ext cx="2830858" cy="1973962"/>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 name="Arc 2">
            <a:extLst>
              <a:ext uri="{FF2B5EF4-FFF2-40B4-BE49-F238E27FC236}">
                <a16:creationId xmlns:a16="http://schemas.microsoft.com/office/drawing/2014/main" id="{DCD25ABD-8D15-EA45-854F-E75D703089EA}"/>
              </a:ext>
            </a:extLst>
          </p:cNvPr>
          <p:cNvSpPr/>
          <p:nvPr/>
        </p:nvSpPr>
        <p:spPr>
          <a:xfrm rot="5400000">
            <a:off x="4939123" y="-3976314"/>
            <a:ext cx="2830858" cy="1973962"/>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6" name="Ellipse 5">
            <a:extLst>
              <a:ext uri="{FF2B5EF4-FFF2-40B4-BE49-F238E27FC236}">
                <a16:creationId xmlns:a16="http://schemas.microsoft.com/office/drawing/2014/main" id="{8AAAEE13-5044-1372-8085-92D3A7582FBC}"/>
              </a:ext>
            </a:extLst>
          </p:cNvPr>
          <p:cNvSpPr/>
          <p:nvPr/>
        </p:nvSpPr>
        <p:spPr>
          <a:xfrm>
            <a:off x="-217519" y="-4602594"/>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Ellipse 6">
            <a:extLst>
              <a:ext uri="{FF2B5EF4-FFF2-40B4-BE49-F238E27FC236}">
                <a16:creationId xmlns:a16="http://schemas.microsoft.com/office/drawing/2014/main" id="{99054235-91A7-AF1C-D2D2-5B866AAE8A49}"/>
              </a:ext>
            </a:extLst>
          </p:cNvPr>
          <p:cNvSpPr/>
          <p:nvPr/>
        </p:nvSpPr>
        <p:spPr>
          <a:xfrm>
            <a:off x="3156301" y="-4540427"/>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Ellipse 8">
            <a:extLst>
              <a:ext uri="{FF2B5EF4-FFF2-40B4-BE49-F238E27FC236}">
                <a16:creationId xmlns:a16="http://schemas.microsoft.com/office/drawing/2014/main" id="{C1140E27-B0E9-21CE-1E1C-BE6B99B1CF4D}"/>
              </a:ext>
            </a:extLst>
          </p:cNvPr>
          <p:cNvSpPr/>
          <p:nvPr/>
        </p:nvSpPr>
        <p:spPr>
          <a:xfrm>
            <a:off x="4843211" y="-2366893"/>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Ellipse 9">
            <a:extLst>
              <a:ext uri="{FF2B5EF4-FFF2-40B4-BE49-F238E27FC236}">
                <a16:creationId xmlns:a16="http://schemas.microsoft.com/office/drawing/2014/main" id="{A12333F2-8A02-7D3C-843C-DF5DF52B00A9}"/>
              </a:ext>
            </a:extLst>
          </p:cNvPr>
          <p:cNvSpPr/>
          <p:nvPr/>
        </p:nvSpPr>
        <p:spPr>
          <a:xfrm>
            <a:off x="6530121" y="-4540427"/>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Ellipse 11">
            <a:extLst>
              <a:ext uri="{FF2B5EF4-FFF2-40B4-BE49-F238E27FC236}">
                <a16:creationId xmlns:a16="http://schemas.microsoft.com/office/drawing/2014/main" id="{EC84F294-2A7D-8E26-1668-794B77A20ADF}"/>
              </a:ext>
            </a:extLst>
          </p:cNvPr>
          <p:cNvSpPr/>
          <p:nvPr/>
        </p:nvSpPr>
        <p:spPr>
          <a:xfrm>
            <a:off x="1469497" y="-2366893"/>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ZoneTexte 17">
            <a:extLst>
              <a:ext uri="{FF2B5EF4-FFF2-40B4-BE49-F238E27FC236}">
                <a16:creationId xmlns:a16="http://schemas.microsoft.com/office/drawing/2014/main" id="{3484EAF1-2506-C8EB-2511-6C0394FC53EF}"/>
              </a:ext>
            </a:extLst>
          </p:cNvPr>
          <p:cNvSpPr txBox="1"/>
          <p:nvPr/>
        </p:nvSpPr>
        <p:spPr>
          <a:xfrm>
            <a:off x="943218" y="-711628"/>
            <a:ext cx="2571820" cy="338554"/>
          </a:xfrm>
          <a:prstGeom prst="rect">
            <a:avLst/>
          </a:prstGeom>
          <a:noFill/>
        </p:spPr>
        <p:txBody>
          <a:bodyPr wrap="square" rtlCol="0">
            <a:spAutoFit/>
          </a:bodyPr>
          <a:lstStyle/>
          <a:p>
            <a:pPr algn="ctr"/>
            <a:r>
              <a:rPr lang="en-US" sz="1600" noProof="0" dirty="0">
                <a:solidFill>
                  <a:srgbClr val="980602"/>
                </a:solidFill>
              </a:rPr>
              <a:t>Bash interface</a:t>
            </a:r>
          </a:p>
        </p:txBody>
      </p:sp>
      <p:sp>
        <p:nvSpPr>
          <p:cNvPr id="19" name="ZoneTexte 18">
            <a:extLst>
              <a:ext uri="{FF2B5EF4-FFF2-40B4-BE49-F238E27FC236}">
                <a16:creationId xmlns:a16="http://schemas.microsoft.com/office/drawing/2014/main" id="{97F7DEDA-6E10-4C7A-D504-20F9F4BE9AD8}"/>
              </a:ext>
            </a:extLst>
          </p:cNvPr>
          <p:cNvSpPr txBox="1"/>
          <p:nvPr/>
        </p:nvSpPr>
        <p:spPr>
          <a:xfrm>
            <a:off x="2464291" y="-2887406"/>
            <a:ext cx="2903280" cy="338554"/>
          </a:xfrm>
          <a:prstGeom prst="rect">
            <a:avLst/>
          </a:prstGeom>
          <a:solidFill>
            <a:srgbClr val="FFFFFF"/>
          </a:solidFill>
        </p:spPr>
        <p:txBody>
          <a:bodyPr wrap="square" rtlCol="0">
            <a:spAutoFit/>
          </a:bodyPr>
          <a:lstStyle/>
          <a:p>
            <a:pPr algn="ctr"/>
            <a:r>
              <a:rPr lang="en-US" sz="1600" noProof="0" dirty="0">
                <a:solidFill>
                  <a:srgbClr val="980602"/>
                </a:solidFill>
              </a:rPr>
              <a:t>Pipeline manual management</a:t>
            </a:r>
          </a:p>
        </p:txBody>
      </p:sp>
      <p:sp>
        <p:nvSpPr>
          <p:cNvPr id="20" name="ZoneTexte 19">
            <a:extLst>
              <a:ext uri="{FF2B5EF4-FFF2-40B4-BE49-F238E27FC236}">
                <a16:creationId xmlns:a16="http://schemas.microsoft.com/office/drawing/2014/main" id="{DBEFB8AB-C85A-4116-54A5-AF8BDF4C6659}"/>
              </a:ext>
            </a:extLst>
          </p:cNvPr>
          <p:cNvSpPr txBox="1"/>
          <p:nvPr/>
        </p:nvSpPr>
        <p:spPr>
          <a:xfrm>
            <a:off x="5942643" y="-2884242"/>
            <a:ext cx="2684221" cy="584775"/>
          </a:xfrm>
          <a:prstGeom prst="rect">
            <a:avLst/>
          </a:prstGeom>
          <a:solidFill>
            <a:srgbClr val="FFFFFF"/>
          </a:solidFill>
        </p:spPr>
        <p:txBody>
          <a:bodyPr wrap="square" rtlCol="0">
            <a:spAutoFit/>
          </a:bodyPr>
          <a:lstStyle/>
          <a:p>
            <a:pPr algn="ctr"/>
            <a:r>
              <a:rPr lang="en-US" sz="1600" noProof="0" dirty="0">
                <a:solidFill>
                  <a:srgbClr val="980602"/>
                </a:solidFill>
              </a:rPr>
              <a:t>Monitoring &amp; debugging difficulties</a:t>
            </a:r>
          </a:p>
        </p:txBody>
      </p:sp>
      <p:pic>
        <p:nvPicPr>
          <p:cNvPr id="21" name="Graphique 20" descr="Fusée avec un remplissage uni">
            <a:extLst>
              <a:ext uri="{FF2B5EF4-FFF2-40B4-BE49-F238E27FC236}">
                <a16:creationId xmlns:a16="http://schemas.microsoft.com/office/drawing/2014/main" id="{7AA85624-14DC-C6AD-923C-FF7B162BD30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757" y="-4300313"/>
            <a:ext cx="914400" cy="914400"/>
          </a:xfrm>
          <a:prstGeom prst="rect">
            <a:avLst/>
          </a:prstGeom>
        </p:spPr>
      </p:pic>
      <p:pic>
        <p:nvPicPr>
          <p:cNvPr id="22" name="Graphique 21" descr="Terminal Cmd avec un remplissage uni">
            <a:extLst>
              <a:ext uri="{FF2B5EF4-FFF2-40B4-BE49-F238E27FC236}">
                <a16:creationId xmlns:a16="http://schemas.microsoft.com/office/drawing/2014/main" id="{EA70A9EF-1C7A-B641-E361-334F0B2FA0C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774901" y="-2067651"/>
            <a:ext cx="914400" cy="914400"/>
          </a:xfrm>
          <a:prstGeom prst="rect">
            <a:avLst/>
          </a:prstGeom>
        </p:spPr>
      </p:pic>
      <p:sp>
        <p:nvSpPr>
          <p:cNvPr id="23" name="ZoneTexte 22">
            <a:extLst>
              <a:ext uri="{FF2B5EF4-FFF2-40B4-BE49-F238E27FC236}">
                <a16:creationId xmlns:a16="http://schemas.microsoft.com/office/drawing/2014/main" id="{CB1E3B5A-0875-9550-2C0F-72342F886EBB}"/>
              </a:ext>
            </a:extLst>
          </p:cNvPr>
          <p:cNvSpPr txBox="1"/>
          <p:nvPr/>
        </p:nvSpPr>
        <p:spPr>
          <a:xfrm>
            <a:off x="4374144" y="-711969"/>
            <a:ext cx="2457394" cy="584775"/>
          </a:xfrm>
          <a:prstGeom prst="rect">
            <a:avLst/>
          </a:prstGeom>
          <a:noFill/>
        </p:spPr>
        <p:txBody>
          <a:bodyPr wrap="square" rtlCol="0">
            <a:spAutoFit/>
          </a:bodyPr>
          <a:lstStyle/>
          <a:p>
            <a:pPr algn="ctr"/>
            <a:r>
              <a:rPr lang="en-US" sz="1600" noProof="0" dirty="0">
                <a:solidFill>
                  <a:srgbClr val="980602"/>
                </a:solidFill>
              </a:rPr>
              <a:t>Lack of visibility on current analysis state</a:t>
            </a:r>
          </a:p>
        </p:txBody>
      </p:sp>
      <p:grpSp>
        <p:nvGrpSpPr>
          <p:cNvPr id="24" name="Groupe 23">
            <a:extLst>
              <a:ext uri="{FF2B5EF4-FFF2-40B4-BE49-F238E27FC236}">
                <a16:creationId xmlns:a16="http://schemas.microsoft.com/office/drawing/2014/main" id="{79B61DC9-DE2D-B6A8-19B2-658A23ED7DCE}"/>
              </a:ext>
            </a:extLst>
          </p:cNvPr>
          <p:cNvGrpSpPr/>
          <p:nvPr/>
        </p:nvGrpSpPr>
        <p:grpSpPr>
          <a:xfrm>
            <a:off x="3444669" y="-4036431"/>
            <a:ext cx="925035" cy="553419"/>
            <a:chOff x="4561053" y="1350510"/>
            <a:chExt cx="1062710" cy="686173"/>
          </a:xfrm>
        </p:grpSpPr>
        <p:sp>
          <p:nvSpPr>
            <p:cNvPr id="25" name="Rectangle 24">
              <a:extLst>
                <a:ext uri="{FF2B5EF4-FFF2-40B4-BE49-F238E27FC236}">
                  <a16:creationId xmlns:a16="http://schemas.microsoft.com/office/drawing/2014/main" id="{830770AD-FE0F-92E2-174D-3D286930DDCF}"/>
                </a:ext>
              </a:extLst>
            </p:cNvPr>
            <p:cNvSpPr/>
            <p:nvPr/>
          </p:nvSpPr>
          <p:spPr>
            <a:xfrm rot="315670">
              <a:off x="4721320" y="1390909"/>
              <a:ext cx="787609" cy="575300"/>
            </a:xfrm>
            <a:prstGeom prst="rect">
              <a:avLst/>
            </a:prstGeom>
            <a:solidFill>
              <a:srgbClr val="98060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Ellipse 25">
              <a:extLst>
                <a:ext uri="{FF2B5EF4-FFF2-40B4-BE49-F238E27FC236}">
                  <a16:creationId xmlns:a16="http://schemas.microsoft.com/office/drawing/2014/main" id="{814BF2F3-E38E-7DAF-0BE8-E94F1F503A4D}"/>
                </a:ext>
              </a:extLst>
            </p:cNvPr>
            <p:cNvSpPr/>
            <p:nvPr/>
          </p:nvSpPr>
          <p:spPr>
            <a:xfrm>
              <a:off x="5299396" y="1377797"/>
              <a:ext cx="324367" cy="658886"/>
            </a:xfrm>
            <a:prstGeom prst="ellipse">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Ellipse 26">
              <a:extLst>
                <a:ext uri="{FF2B5EF4-FFF2-40B4-BE49-F238E27FC236}">
                  <a16:creationId xmlns:a16="http://schemas.microsoft.com/office/drawing/2014/main" id="{6444EEFE-9DE2-FFA2-DB6A-4BA0D788FBEA}"/>
                </a:ext>
              </a:extLst>
            </p:cNvPr>
            <p:cNvSpPr/>
            <p:nvPr/>
          </p:nvSpPr>
          <p:spPr>
            <a:xfrm>
              <a:off x="5343500" y="1422816"/>
              <a:ext cx="272415" cy="578517"/>
            </a:xfrm>
            <a:prstGeom prst="ellipse">
              <a:avLst/>
            </a:prstGeom>
            <a:solidFill>
              <a:srgbClr val="98060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Ellipse 27">
              <a:extLst>
                <a:ext uri="{FF2B5EF4-FFF2-40B4-BE49-F238E27FC236}">
                  <a16:creationId xmlns:a16="http://schemas.microsoft.com/office/drawing/2014/main" id="{238B6A89-D813-D050-D5D1-522F65C9D320}"/>
                </a:ext>
              </a:extLst>
            </p:cNvPr>
            <p:cNvSpPr/>
            <p:nvPr/>
          </p:nvSpPr>
          <p:spPr>
            <a:xfrm rot="310180">
              <a:off x="4561053" y="1350510"/>
              <a:ext cx="347580" cy="580654"/>
            </a:xfrm>
            <a:prstGeom prst="ellipse">
              <a:avLst/>
            </a:prstGeom>
            <a:solidFill>
              <a:srgbClr val="98060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pic>
        <p:nvPicPr>
          <p:cNvPr id="29" name="Graphique 28" descr="Scarabée avec un remplissage uni">
            <a:extLst>
              <a:ext uri="{FF2B5EF4-FFF2-40B4-BE49-F238E27FC236}">
                <a16:creationId xmlns:a16="http://schemas.microsoft.com/office/drawing/2014/main" id="{9408B35B-63F2-FD3E-3C3E-EBA6E3D2BFB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827553" y="-4242556"/>
            <a:ext cx="914400" cy="914400"/>
          </a:xfrm>
          <a:prstGeom prst="rect">
            <a:avLst/>
          </a:prstGeom>
        </p:spPr>
      </p:pic>
      <p:sp>
        <p:nvSpPr>
          <p:cNvPr id="30" name="Arc 29">
            <a:extLst>
              <a:ext uri="{FF2B5EF4-FFF2-40B4-BE49-F238E27FC236}">
                <a16:creationId xmlns:a16="http://schemas.microsoft.com/office/drawing/2014/main" id="{E07BCFC0-96FC-FBA8-46C6-8F14A282A27A}"/>
              </a:ext>
            </a:extLst>
          </p:cNvPr>
          <p:cNvSpPr/>
          <p:nvPr/>
        </p:nvSpPr>
        <p:spPr>
          <a:xfrm>
            <a:off x="5794455" y="-3838354"/>
            <a:ext cx="4582219" cy="2801394"/>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1" name="Arc 30">
            <a:extLst>
              <a:ext uri="{FF2B5EF4-FFF2-40B4-BE49-F238E27FC236}">
                <a16:creationId xmlns:a16="http://schemas.microsoft.com/office/drawing/2014/main" id="{BAE6BF18-7D48-9462-F9DF-7627344570D6}"/>
              </a:ext>
            </a:extLst>
          </p:cNvPr>
          <p:cNvSpPr/>
          <p:nvPr/>
        </p:nvSpPr>
        <p:spPr>
          <a:xfrm rot="16200000" flipV="1">
            <a:off x="-143712" y="-3323391"/>
            <a:ext cx="2913233" cy="1873788"/>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32" name="Arc 31">
            <a:extLst>
              <a:ext uri="{FF2B5EF4-FFF2-40B4-BE49-F238E27FC236}">
                <a16:creationId xmlns:a16="http://schemas.microsoft.com/office/drawing/2014/main" id="{6C72E5DD-F89A-2131-D10C-C5DDEC1A2462}"/>
              </a:ext>
            </a:extLst>
          </p:cNvPr>
          <p:cNvSpPr/>
          <p:nvPr/>
        </p:nvSpPr>
        <p:spPr>
          <a:xfrm rot="16200000" flipV="1">
            <a:off x="3224595" y="-3293896"/>
            <a:ext cx="2913233" cy="1873788"/>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pic>
        <p:nvPicPr>
          <p:cNvPr id="34" name="Graphique 33" descr="Non voyant avec un remplissage uni">
            <a:extLst>
              <a:ext uri="{FF2B5EF4-FFF2-40B4-BE49-F238E27FC236}">
                <a16:creationId xmlns:a16="http://schemas.microsoft.com/office/drawing/2014/main" id="{E5019104-4E68-CD79-B0FF-1A01D030E04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145641" y="-2054594"/>
            <a:ext cx="914400" cy="914400"/>
          </a:xfrm>
          <a:prstGeom prst="rect">
            <a:avLst/>
          </a:prstGeom>
        </p:spPr>
      </p:pic>
      <p:sp>
        <p:nvSpPr>
          <p:cNvPr id="35" name="Rectangle 34">
            <a:extLst>
              <a:ext uri="{FF2B5EF4-FFF2-40B4-BE49-F238E27FC236}">
                <a16:creationId xmlns:a16="http://schemas.microsoft.com/office/drawing/2014/main" id="{BCB8C2AD-2DE9-33B3-1FC5-D77F83E63E57}"/>
              </a:ext>
            </a:extLst>
          </p:cNvPr>
          <p:cNvSpPr/>
          <p:nvPr/>
        </p:nvSpPr>
        <p:spPr>
          <a:xfrm>
            <a:off x="-957501" y="-5342081"/>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Overview</a:t>
            </a:r>
            <a:endParaRPr lang="en-US" sz="2000" b="0" u="none" strike="noStrike" noProof="0" dirty="0">
              <a:solidFill>
                <a:srgbClr val="000000"/>
              </a:solidFill>
              <a:effectLst/>
              <a:uFillTx/>
              <a:latin typeface="Arial"/>
            </a:endParaRPr>
          </a:p>
        </p:txBody>
      </p:sp>
      <p:sp>
        <p:nvSpPr>
          <p:cNvPr id="37" name="ZoneTexte 36">
            <a:extLst>
              <a:ext uri="{FF2B5EF4-FFF2-40B4-BE49-F238E27FC236}">
                <a16:creationId xmlns:a16="http://schemas.microsoft.com/office/drawing/2014/main" id="{2ECD7DB4-B422-0D6F-0D0B-455C5F4EA94A}"/>
              </a:ext>
            </a:extLst>
          </p:cNvPr>
          <p:cNvSpPr txBox="1"/>
          <p:nvPr/>
        </p:nvSpPr>
        <p:spPr>
          <a:xfrm>
            <a:off x="6939096" y="1716089"/>
            <a:ext cx="1018227" cy="369332"/>
          </a:xfrm>
          <a:prstGeom prst="rect">
            <a:avLst/>
          </a:prstGeom>
          <a:noFill/>
        </p:spPr>
        <p:txBody>
          <a:bodyPr wrap="none" rtlCol="0">
            <a:spAutoFit/>
          </a:bodyPr>
          <a:lstStyle/>
          <a:p>
            <a:r>
              <a:rPr lang="en-US" noProof="0" dirty="0">
                <a:solidFill>
                  <a:srgbClr val="980602"/>
                </a:solidFill>
              </a:rPr>
              <a:t>Solution</a:t>
            </a:r>
          </a:p>
        </p:txBody>
      </p:sp>
      <p:sp>
        <p:nvSpPr>
          <p:cNvPr id="38" name="ZoneTexte 37">
            <a:extLst>
              <a:ext uri="{FF2B5EF4-FFF2-40B4-BE49-F238E27FC236}">
                <a16:creationId xmlns:a16="http://schemas.microsoft.com/office/drawing/2014/main" id="{DD608C1D-4B72-8815-D1D7-267CBA3381E2}"/>
              </a:ext>
            </a:extLst>
          </p:cNvPr>
          <p:cNvSpPr txBox="1"/>
          <p:nvPr/>
        </p:nvSpPr>
        <p:spPr>
          <a:xfrm>
            <a:off x="1903866" y="2465943"/>
            <a:ext cx="1082348" cy="369332"/>
          </a:xfrm>
          <a:prstGeom prst="rect">
            <a:avLst/>
          </a:prstGeom>
          <a:noFill/>
        </p:spPr>
        <p:txBody>
          <a:bodyPr wrap="none" rtlCol="0">
            <a:spAutoFit/>
          </a:bodyPr>
          <a:lstStyle/>
          <a:p>
            <a:r>
              <a:rPr lang="en-US" noProof="0" dirty="0">
                <a:solidFill>
                  <a:srgbClr val="980602"/>
                </a:solidFill>
              </a:rPr>
              <a:t>Example</a:t>
            </a:r>
          </a:p>
        </p:txBody>
      </p:sp>
      <p:sp>
        <p:nvSpPr>
          <p:cNvPr id="39" name="ZoneTexte 38">
            <a:extLst>
              <a:ext uri="{FF2B5EF4-FFF2-40B4-BE49-F238E27FC236}">
                <a16:creationId xmlns:a16="http://schemas.microsoft.com/office/drawing/2014/main" id="{8E2DB4C4-1D63-3FFA-6E49-968B0E084DFD}"/>
              </a:ext>
            </a:extLst>
          </p:cNvPr>
          <p:cNvSpPr txBox="1"/>
          <p:nvPr/>
        </p:nvSpPr>
        <p:spPr>
          <a:xfrm>
            <a:off x="7143089" y="3382843"/>
            <a:ext cx="2492990" cy="369332"/>
          </a:xfrm>
          <a:prstGeom prst="rect">
            <a:avLst/>
          </a:prstGeom>
          <a:noFill/>
        </p:spPr>
        <p:txBody>
          <a:bodyPr wrap="none" rtlCol="0">
            <a:spAutoFit/>
          </a:bodyPr>
          <a:lstStyle/>
          <a:p>
            <a:r>
              <a:rPr lang="en-US" noProof="0" dirty="0">
                <a:solidFill>
                  <a:srgbClr val="980602"/>
                </a:solidFill>
              </a:rPr>
              <a:t>Current Functionalities</a:t>
            </a:r>
          </a:p>
        </p:txBody>
      </p:sp>
      <p:sp>
        <p:nvSpPr>
          <p:cNvPr id="40" name="ZoneTexte 39">
            <a:extLst>
              <a:ext uri="{FF2B5EF4-FFF2-40B4-BE49-F238E27FC236}">
                <a16:creationId xmlns:a16="http://schemas.microsoft.com/office/drawing/2014/main" id="{EAA7698F-5DD6-EB8E-F0BD-1D591B31E7A7}"/>
              </a:ext>
            </a:extLst>
          </p:cNvPr>
          <p:cNvSpPr txBox="1"/>
          <p:nvPr/>
        </p:nvSpPr>
        <p:spPr>
          <a:xfrm>
            <a:off x="2274583" y="4378266"/>
            <a:ext cx="1082348" cy="369332"/>
          </a:xfrm>
          <a:prstGeom prst="rect">
            <a:avLst/>
          </a:prstGeom>
          <a:noFill/>
        </p:spPr>
        <p:txBody>
          <a:bodyPr wrap="none" rtlCol="0">
            <a:spAutoFit/>
          </a:bodyPr>
          <a:lstStyle/>
          <a:p>
            <a:r>
              <a:rPr lang="en-US" noProof="0" dirty="0">
                <a:solidFill>
                  <a:srgbClr val="980602"/>
                </a:solidFill>
              </a:rPr>
              <a:t>Planning</a:t>
            </a:r>
          </a:p>
        </p:txBody>
      </p:sp>
      <p:sp>
        <p:nvSpPr>
          <p:cNvPr id="33" name="ZoneTexte 32">
            <a:extLst>
              <a:ext uri="{FF2B5EF4-FFF2-40B4-BE49-F238E27FC236}">
                <a16:creationId xmlns:a16="http://schemas.microsoft.com/office/drawing/2014/main" id="{DF01E053-0E95-D3AF-62BE-07FE8E654AC9}"/>
              </a:ext>
            </a:extLst>
          </p:cNvPr>
          <p:cNvSpPr txBox="1"/>
          <p:nvPr/>
        </p:nvSpPr>
        <p:spPr>
          <a:xfrm>
            <a:off x="-746880" y="-3035989"/>
            <a:ext cx="2566768" cy="584775"/>
          </a:xfrm>
          <a:prstGeom prst="rect">
            <a:avLst/>
          </a:prstGeom>
          <a:noFill/>
        </p:spPr>
        <p:txBody>
          <a:bodyPr wrap="square" rtlCol="0">
            <a:spAutoFit/>
          </a:bodyPr>
          <a:lstStyle/>
          <a:p>
            <a:pPr algn="ctr"/>
            <a:r>
              <a:rPr lang="en-US" sz="1600" noProof="0" dirty="0">
                <a:solidFill>
                  <a:srgbClr val="980602"/>
                </a:solidFill>
              </a:rPr>
              <a:t>Existing </a:t>
            </a:r>
            <a:r>
              <a:rPr lang="en-US" sz="1600" noProof="0" dirty="0" err="1">
                <a:solidFill>
                  <a:srgbClr val="980602"/>
                </a:solidFill>
              </a:rPr>
              <a:t>autolauncher</a:t>
            </a:r>
            <a:r>
              <a:rPr lang="en-US" sz="1600" noProof="0" dirty="0">
                <a:solidFill>
                  <a:srgbClr val="980602"/>
                </a:solidFill>
              </a:rPr>
              <a:t> is</a:t>
            </a:r>
            <a:r>
              <a:rPr lang="en-US" sz="1600" dirty="0">
                <a:solidFill>
                  <a:srgbClr val="980602"/>
                </a:solidFill>
              </a:rPr>
              <a:t> functional but</a:t>
            </a:r>
            <a:r>
              <a:rPr lang="en-US" sz="1600" noProof="0" dirty="0">
                <a:solidFill>
                  <a:srgbClr val="980602"/>
                </a:solidFill>
              </a:rPr>
              <a:t> unoptimized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right)">
                                      <p:cBhvr>
                                        <p:cTn id="7" dur="500"/>
                                        <p:tgtEl>
                                          <p:spTgt spid="13"/>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right)">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wipe(left)">
                                      <p:cBhvr>
                                        <p:cTn id="20" dur="500"/>
                                        <p:tgtEl>
                                          <p:spTgt spid="3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wipe(right)">
                                      <p:cBhvr>
                                        <p:cTn id="25" dur="500"/>
                                        <p:tgtEl>
                                          <p:spTgt spid="15"/>
                                        </p:tgtEl>
                                      </p:cBhvr>
                                    </p:animEffect>
                                  </p:childTnLst>
                                </p:cTn>
                              </p:par>
                            </p:childTnLst>
                          </p:cTn>
                        </p:par>
                        <p:par>
                          <p:cTn id="26" fill="hold">
                            <p:stCondLst>
                              <p:cond delay="500"/>
                            </p:stCondLst>
                            <p:childTnLst>
                              <p:par>
                                <p:cTn id="27" presetID="22" presetClass="entr" presetSubtype="2" fill="hold" grpId="0" nodeType="afterEffect">
                                  <p:stCondLst>
                                    <p:cond delay="0"/>
                                  </p:stCondLst>
                                  <p:childTnLst>
                                    <p:set>
                                      <p:cBhvr>
                                        <p:cTn id="28" dur="1" fill="hold">
                                          <p:stCondLst>
                                            <p:cond delay="0"/>
                                          </p:stCondLst>
                                        </p:cTn>
                                        <p:tgtEl>
                                          <p:spTgt spid="38"/>
                                        </p:tgtEl>
                                        <p:attrNameLst>
                                          <p:attrName>style.visibility</p:attrName>
                                        </p:attrNameLst>
                                      </p:cBhvr>
                                      <p:to>
                                        <p:strVal val="visible"/>
                                      </p:to>
                                    </p:set>
                                    <p:animEffect transition="in" filter="wipe(right)">
                                      <p:cBhvr>
                                        <p:cTn id="29" dur="500"/>
                                        <p:tgtEl>
                                          <p:spTgt spid="38"/>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left)">
                                      <p:cBhvr>
                                        <p:cTn id="34" dur="500"/>
                                        <p:tgtEl>
                                          <p:spTgt spid="16"/>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39"/>
                                        </p:tgtEl>
                                        <p:attrNameLst>
                                          <p:attrName>style.visibility</p:attrName>
                                        </p:attrNameLst>
                                      </p:cBhvr>
                                      <p:to>
                                        <p:strVal val="visible"/>
                                      </p:to>
                                    </p:set>
                                    <p:animEffect transition="in" filter="wipe(left)">
                                      <p:cBhvr>
                                        <p:cTn id="38" dur="500"/>
                                        <p:tgtEl>
                                          <p:spTgt spid="3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right)">
                                      <p:cBhvr>
                                        <p:cTn id="43" dur="500"/>
                                        <p:tgtEl>
                                          <p:spTgt spid="17"/>
                                        </p:tgtEl>
                                      </p:cBhvr>
                                    </p:animEffect>
                                  </p:childTnLst>
                                </p:cTn>
                              </p:par>
                            </p:childTnLst>
                          </p:cTn>
                        </p:par>
                        <p:par>
                          <p:cTn id="44" fill="hold">
                            <p:stCondLst>
                              <p:cond delay="500"/>
                            </p:stCondLst>
                            <p:childTnLst>
                              <p:par>
                                <p:cTn id="45" presetID="22" presetClass="entr" presetSubtype="2" fill="hold" grpId="0" nodeType="after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wipe(right)">
                                      <p:cBhvr>
                                        <p:cTn id="4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7" grpId="0"/>
      <p:bldP spid="38" grpId="0"/>
      <p:bldP spid="39" grpId="0"/>
      <p:bldP spid="40"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D0E8C56-A549-DB6A-A3D3-658DF051D703}"/>
            </a:ext>
          </a:extLst>
        </p:cNvPr>
        <p:cNvGrpSpPr/>
        <p:nvPr/>
      </p:nvGrpSpPr>
      <p:grpSpPr>
        <a:xfrm>
          <a:off x="0" y="0"/>
          <a:ext cx="0" cy="0"/>
          <a:chOff x="0" y="0"/>
          <a:chExt cx="0" cy="0"/>
        </a:xfrm>
      </p:grpSpPr>
      <p:sp>
        <p:nvSpPr>
          <p:cNvPr id="135" name="Arc 134">
            <a:extLst>
              <a:ext uri="{FF2B5EF4-FFF2-40B4-BE49-F238E27FC236}">
                <a16:creationId xmlns:a16="http://schemas.microsoft.com/office/drawing/2014/main" id="{5A47CF8D-72EC-8106-9739-F2AE4C872407}"/>
              </a:ext>
            </a:extLst>
          </p:cNvPr>
          <p:cNvSpPr/>
          <p:nvPr/>
        </p:nvSpPr>
        <p:spPr>
          <a:xfrm rot="5400000">
            <a:off x="2752326" y="1486113"/>
            <a:ext cx="2830858" cy="1973962"/>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34" name="Arc 133">
            <a:extLst>
              <a:ext uri="{FF2B5EF4-FFF2-40B4-BE49-F238E27FC236}">
                <a16:creationId xmlns:a16="http://schemas.microsoft.com/office/drawing/2014/main" id="{00543103-405E-0B9D-A0B9-EE0AFBC5239E}"/>
              </a:ext>
            </a:extLst>
          </p:cNvPr>
          <p:cNvSpPr/>
          <p:nvPr/>
        </p:nvSpPr>
        <p:spPr>
          <a:xfrm rot="5400000">
            <a:off x="6120664" y="1485159"/>
            <a:ext cx="2830858" cy="1973962"/>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61" name="Rectangle 160">
            <a:extLst>
              <a:ext uri="{FF2B5EF4-FFF2-40B4-BE49-F238E27FC236}">
                <a16:creationId xmlns:a16="http://schemas.microsoft.com/office/drawing/2014/main" id="{33B02D42-ADB2-6DF7-7403-F8AE023E0F9C}"/>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Overview of the current architecture </a:t>
            </a:r>
            <a:endParaRPr lang="en-US" sz="2000" b="0" u="none" strike="noStrike" noProof="0" dirty="0">
              <a:solidFill>
                <a:srgbClr val="000000"/>
              </a:solidFill>
              <a:effectLst/>
              <a:uFillTx/>
              <a:latin typeface="Arial"/>
            </a:endParaRPr>
          </a:p>
        </p:txBody>
      </p:sp>
      <p:sp>
        <p:nvSpPr>
          <p:cNvPr id="4" name="Espace réservé du numéro de diapositive 3">
            <a:extLst>
              <a:ext uri="{FF2B5EF4-FFF2-40B4-BE49-F238E27FC236}">
                <a16:creationId xmlns:a16="http://schemas.microsoft.com/office/drawing/2014/main" id="{D93A2DCB-BB20-F6A2-408B-7A3C63CAD4B1}"/>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3</a:t>
            </a:fld>
            <a:endParaRPr lang="en-US" sz="1200" noProof="0" dirty="0"/>
          </a:p>
        </p:txBody>
      </p:sp>
      <mc:AlternateContent xmlns:mc="http://schemas.openxmlformats.org/markup-compatibility/2006">
        <mc:Choice xmlns:am3d="http://schemas.microsoft.com/office/drawing/2017/model3d" Requires="am3d">
          <p:graphicFrame>
            <p:nvGraphicFramePr>
              <p:cNvPr id="11" name="Modèle 3D 10" descr="ADN">
                <a:extLst>
                  <a:ext uri="{FF2B5EF4-FFF2-40B4-BE49-F238E27FC236}">
                    <a16:creationId xmlns:a16="http://schemas.microsoft.com/office/drawing/2014/main" id="{3CD41F4D-3D9F-3D19-267B-D70067EACF93}"/>
                  </a:ext>
                </a:extLst>
              </p:cNvPr>
              <p:cNvGraphicFramePr>
                <a:graphicFrameLocks noChangeAspect="1"/>
              </p:cNvGraphicFramePr>
              <p:nvPr>
                <p:extLst>
                  <p:ext uri="{D42A27DB-BD31-4B8C-83A1-F6EECF244321}">
                    <p14:modId xmlns:p14="http://schemas.microsoft.com/office/powerpoint/2010/main" val="2439129593"/>
                  </p:ext>
                </p:extLst>
              </p:nvPr>
            </p:nvGraphicFramePr>
            <p:xfrm rot="20977348">
              <a:off x="5846984" y="6061872"/>
              <a:ext cx="1170624" cy="5548568"/>
            </p:xfrm>
            <a:graphic>
              <a:graphicData uri="http://schemas.microsoft.com/office/drawing/2017/model3d">
                <am3d:model3d r:embed="rId3">
                  <am3d:spPr>
                    <a:xfrm rot="20977348">
                      <a:off x="0" y="0"/>
                      <a:ext cx="1170624" cy="5548568"/>
                    </a:xfrm>
                    <a:prstGeom prst="rect">
                      <a:avLst/>
                    </a:prstGeom>
                  </am3d:spPr>
                  <am3d:camera>
                    <am3d:pos x="0" y="0" z="49127550"/>
                    <am3d:up dx="0" dy="36000000" dz="0"/>
                    <am3d:lookAt x="0" y="0" z="0"/>
                    <am3d:perspective fov="2700000"/>
                  </am3d:camera>
                  <am3d:trans>
                    <am3d:meterPerModelUnit n="1724731" d="1000000"/>
                    <am3d:preTrans dx="-118" dy="-18000000" dz="-1"/>
                    <am3d:scale>
                      <am3d:sx n="1000000" d="1000000"/>
                      <am3d:sy n="1000000" d="1000000"/>
                      <am3d:sz n="1000000" d="1000000"/>
                    </am3d:scale>
                    <am3d:rot ax="-10731045" ay="-1442202" az="10771908"/>
                    <am3d:postTrans dx="0" dy="0" dz="0"/>
                  </am3d:trans>
                  <am3d:raster rName="Office3DRenderer" rVer="16.0.8326">
                    <am3d:blip r:embed="rId4"/>
                  </am3d:raster>
                  <am3d:objViewport viewportSz="575794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1" name="Modèle 3D 10" descr="ADN">
                <a:extLst>
                  <a:ext uri="{FF2B5EF4-FFF2-40B4-BE49-F238E27FC236}">
                    <a16:creationId xmlns:a16="http://schemas.microsoft.com/office/drawing/2014/main" id="{3CD41F4D-3D9F-3D19-267B-D70067EACF93}"/>
                  </a:ext>
                </a:extLst>
              </p:cNvPr>
              <p:cNvPicPr>
                <a:picLocks noGrp="1" noRot="1" noChangeAspect="1" noMove="1" noResize="1" noEditPoints="1" noAdjustHandles="1" noChangeArrowheads="1" noChangeShapeType="1" noCrop="1"/>
              </p:cNvPicPr>
              <p:nvPr/>
            </p:nvPicPr>
            <p:blipFill>
              <a:blip r:embed="rId4"/>
              <a:stretch>
                <a:fillRect/>
              </a:stretch>
            </p:blipFill>
            <p:spPr>
              <a:xfrm rot="20977348">
                <a:off x="5846984" y="6061872"/>
                <a:ext cx="1170624" cy="5548568"/>
              </a:xfrm>
              <a:prstGeom prst="rect">
                <a:avLst/>
              </a:prstGeom>
            </p:spPr>
          </p:pic>
        </mc:Fallback>
      </mc:AlternateContent>
      <p:sp>
        <p:nvSpPr>
          <p:cNvPr id="2" name="Ellipse 1">
            <a:extLst>
              <a:ext uri="{FF2B5EF4-FFF2-40B4-BE49-F238E27FC236}">
                <a16:creationId xmlns:a16="http://schemas.microsoft.com/office/drawing/2014/main" id="{9C3466E4-67EB-C081-E211-BB8AFC7314D1}"/>
              </a:ext>
            </a:extLst>
          </p:cNvPr>
          <p:cNvSpPr/>
          <p:nvPr/>
        </p:nvSpPr>
        <p:spPr>
          <a:xfrm>
            <a:off x="964022" y="858879"/>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Ellipse 6">
            <a:extLst>
              <a:ext uri="{FF2B5EF4-FFF2-40B4-BE49-F238E27FC236}">
                <a16:creationId xmlns:a16="http://schemas.microsoft.com/office/drawing/2014/main" id="{234914F4-5564-D835-B9C6-BD333CA8BD42}"/>
              </a:ext>
            </a:extLst>
          </p:cNvPr>
          <p:cNvSpPr/>
          <p:nvPr/>
        </p:nvSpPr>
        <p:spPr>
          <a:xfrm>
            <a:off x="4337842" y="921046"/>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Ellipse 7">
            <a:extLst>
              <a:ext uri="{FF2B5EF4-FFF2-40B4-BE49-F238E27FC236}">
                <a16:creationId xmlns:a16="http://schemas.microsoft.com/office/drawing/2014/main" id="{A05BB651-B360-629B-A987-2087F0F344AC}"/>
              </a:ext>
            </a:extLst>
          </p:cNvPr>
          <p:cNvSpPr/>
          <p:nvPr/>
        </p:nvSpPr>
        <p:spPr>
          <a:xfrm>
            <a:off x="6024752" y="3094580"/>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Ellipse 8">
            <a:extLst>
              <a:ext uri="{FF2B5EF4-FFF2-40B4-BE49-F238E27FC236}">
                <a16:creationId xmlns:a16="http://schemas.microsoft.com/office/drawing/2014/main" id="{957C879D-6C10-1FFF-91B0-4C6F124023C5}"/>
              </a:ext>
            </a:extLst>
          </p:cNvPr>
          <p:cNvSpPr/>
          <p:nvPr/>
        </p:nvSpPr>
        <p:spPr>
          <a:xfrm>
            <a:off x="7711662" y="921046"/>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ZoneTexte 15">
            <a:extLst>
              <a:ext uri="{FF2B5EF4-FFF2-40B4-BE49-F238E27FC236}">
                <a16:creationId xmlns:a16="http://schemas.microsoft.com/office/drawing/2014/main" id="{B48CEE6E-57E7-4C79-7C71-9557F2FA071D}"/>
              </a:ext>
            </a:extLst>
          </p:cNvPr>
          <p:cNvSpPr txBox="1"/>
          <p:nvPr/>
        </p:nvSpPr>
        <p:spPr>
          <a:xfrm>
            <a:off x="440375" y="2567774"/>
            <a:ext cx="2566768" cy="584775"/>
          </a:xfrm>
          <a:prstGeom prst="rect">
            <a:avLst/>
          </a:prstGeom>
          <a:noFill/>
        </p:spPr>
        <p:txBody>
          <a:bodyPr wrap="square" rtlCol="0">
            <a:spAutoFit/>
          </a:bodyPr>
          <a:lstStyle/>
          <a:p>
            <a:pPr algn="ctr"/>
            <a:r>
              <a:rPr lang="en-US" sz="1600" noProof="0" dirty="0">
                <a:solidFill>
                  <a:srgbClr val="980602"/>
                </a:solidFill>
              </a:rPr>
              <a:t>Existing </a:t>
            </a:r>
            <a:r>
              <a:rPr lang="en-US" sz="1600" noProof="0" dirty="0" err="1">
                <a:solidFill>
                  <a:srgbClr val="980602"/>
                </a:solidFill>
              </a:rPr>
              <a:t>autolauncher</a:t>
            </a:r>
            <a:r>
              <a:rPr lang="en-US" sz="1600" noProof="0" dirty="0">
                <a:solidFill>
                  <a:srgbClr val="980602"/>
                </a:solidFill>
              </a:rPr>
              <a:t> is</a:t>
            </a:r>
            <a:r>
              <a:rPr lang="en-US" sz="1600" dirty="0">
                <a:solidFill>
                  <a:srgbClr val="980602"/>
                </a:solidFill>
              </a:rPr>
              <a:t> functional but</a:t>
            </a:r>
            <a:r>
              <a:rPr lang="en-US" sz="1600" noProof="0" dirty="0">
                <a:solidFill>
                  <a:srgbClr val="980602"/>
                </a:solidFill>
              </a:rPr>
              <a:t> unoptimized</a:t>
            </a:r>
          </a:p>
        </p:txBody>
      </p:sp>
      <p:sp>
        <p:nvSpPr>
          <p:cNvPr id="25" name="Ellipse 24">
            <a:extLst>
              <a:ext uri="{FF2B5EF4-FFF2-40B4-BE49-F238E27FC236}">
                <a16:creationId xmlns:a16="http://schemas.microsoft.com/office/drawing/2014/main" id="{0E045D6F-9012-01F9-D5E6-24CB8FD40E73}"/>
              </a:ext>
            </a:extLst>
          </p:cNvPr>
          <p:cNvSpPr/>
          <p:nvPr/>
        </p:nvSpPr>
        <p:spPr>
          <a:xfrm>
            <a:off x="2651038" y="3094580"/>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ZoneTexte 26">
            <a:extLst>
              <a:ext uri="{FF2B5EF4-FFF2-40B4-BE49-F238E27FC236}">
                <a16:creationId xmlns:a16="http://schemas.microsoft.com/office/drawing/2014/main" id="{DE5385DF-FEA8-865A-78C7-C166AA6D2A6B}"/>
              </a:ext>
            </a:extLst>
          </p:cNvPr>
          <p:cNvSpPr txBox="1"/>
          <p:nvPr/>
        </p:nvSpPr>
        <p:spPr>
          <a:xfrm>
            <a:off x="2124759" y="4749845"/>
            <a:ext cx="2571820" cy="338554"/>
          </a:xfrm>
          <a:prstGeom prst="rect">
            <a:avLst/>
          </a:prstGeom>
          <a:noFill/>
        </p:spPr>
        <p:txBody>
          <a:bodyPr wrap="square" rtlCol="0">
            <a:spAutoFit/>
          </a:bodyPr>
          <a:lstStyle/>
          <a:p>
            <a:pPr algn="ctr"/>
            <a:r>
              <a:rPr lang="en-US" sz="1600" noProof="0" dirty="0">
                <a:solidFill>
                  <a:srgbClr val="980602"/>
                </a:solidFill>
              </a:rPr>
              <a:t>Bash interface</a:t>
            </a:r>
          </a:p>
        </p:txBody>
      </p:sp>
      <p:sp>
        <p:nvSpPr>
          <p:cNvPr id="17" name="ZoneTexte 16">
            <a:extLst>
              <a:ext uri="{FF2B5EF4-FFF2-40B4-BE49-F238E27FC236}">
                <a16:creationId xmlns:a16="http://schemas.microsoft.com/office/drawing/2014/main" id="{BBE81260-AC1A-7E17-5AB0-AF3D43E9E1C8}"/>
              </a:ext>
            </a:extLst>
          </p:cNvPr>
          <p:cNvSpPr txBox="1"/>
          <p:nvPr/>
        </p:nvSpPr>
        <p:spPr>
          <a:xfrm>
            <a:off x="3645832" y="2574067"/>
            <a:ext cx="2903280" cy="338554"/>
          </a:xfrm>
          <a:prstGeom prst="rect">
            <a:avLst/>
          </a:prstGeom>
          <a:solidFill>
            <a:srgbClr val="FFFFFF"/>
          </a:solidFill>
        </p:spPr>
        <p:txBody>
          <a:bodyPr wrap="square" rtlCol="0">
            <a:spAutoFit/>
          </a:bodyPr>
          <a:lstStyle/>
          <a:p>
            <a:pPr algn="ctr"/>
            <a:r>
              <a:rPr lang="en-US" sz="1600" noProof="0" dirty="0">
                <a:solidFill>
                  <a:srgbClr val="980602"/>
                </a:solidFill>
              </a:rPr>
              <a:t>Pipeline manual management</a:t>
            </a:r>
          </a:p>
        </p:txBody>
      </p:sp>
      <p:sp>
        <p:nvSpPr>
          <p:cNvPr id="18" name="ZoneTexte 17">
            <a:extLst>
              <a:ext uri="{FF2B5EF4-FFF2-40B4-BE49-F238E27FC236}">
                <a16:creationId xmlns:a16="http://schemas.microsoft.com/office/drawing/2014/main" id="{9F0DBAD1-DED8-9F55-DA3F-BB7AF60E1287}"/>
              </a:ext>
            </a:extLst>
          </p:cNvPr>
          <p:cNvSpPr txBox="1"/>
          <p:nvPr/>
        </p:nvSpPr>
        <p:spPr>
          <a:xfrm>
            <a:off x="7124184" y="2577231"/>
            <a:ext cx="2684221" cy="584775"/>
          </a:xfrm>
          <a:prstGeom prst="rect">
            <a:avLst/>
          </a:prstGeom>
          <a:solidFill>
            <a:srgbClr val="FFFFFF"/>
          </a:solidFill>
        </p:spPr>
        <p:txBody>
          <a:bodyPr wrap="square" rtlCol="0">
            <a:spAutoFit/>
          </a:bodyPr>
          <a:lstStyle/>
          <a:p>
            <a:pPr algn="ctr"/>
            <a:r>
              <a:rPr lang="en-US" sz="1600" noProof="0" dirty="0">
                <a:solidFill>
                  <a:srgbClr val="980602"/>
                </a:solidFill>
              </a:rPr>
              <a:t>Monitoring &amp; debugging difficulties</a:t>
            </a:r>
          </a:p>
        </p:txBody>
      </p:sp>
      <p:pic>
        <p:nvPicPr>
          <p:cNvPr id="34" name="Graphique 33" descr="Fusée avec un remplissage uni">
            <a:extLst>
              <a:ext uri="{FF2B5EF4-FFF2-40B4-BE49-F238E27FC236}">
                <a16:creationId xmlns:a16="http://schemas.microsoft.com/office/drawing/2014/main" id="{F2E8BCA2-FA0E-BBCD-E4FC-BFC48529D02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65298" y="1161160"/>
            <a:ext cx="914400" cy="914400"/>
          </a:xfrm>
          <a:prstGeom prst="rect">
            <a:avLst/>
          </a:prstGeom>
        </p:spPr>
      </p:pic>
      <p:pic>
        <p:nvPicPr>
          <p:cNvPr id="35" name="Graphique 34" descr="Terminal Cmd avec un remplissage uni">
            <a:extLst>
              <a:ext uri="{FF2B5EF4-FFF2-40B4-BE49-F238E27FC236}">
                <a16:creationId xmlns:a16="http://schemas.microsoft.com/office/drawing/2014/main" id="{F5191E4D-9082-1E76-53CB-AC48DF24931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56442" y="3393822"/>
            <a:ext cx="914400" cy="914400"/>
          </a:xfrm>
          <a:prstGeom prst="rect">
            <a:avLst/>
          </a:prstGeom>
        </p:spPr>
      </p:pic>
      <p:sp>
        <p:nvSpPr>
          <p:cNvPr id="36" name="ZoneTexte 35">
            <a:extLst>
              <a:ext uri="{FF2B5EF4-FFF2-40B4-BE49-F238E27FC236}">
                <a16:creationId xmlns:a16="http://schemas.microsoft.com/office/drawing/2014/main" id="{A6987647-227E-8C44-C0B1-78D405BE6741}"/>
              </a:ext>
            </a:extLst>
          </p:cNvPr>
          <p:cNvSpPr txBox="1"/>
          <p:nvPr/>
        </p:nvSpPr>
        <p:spPr>
          <a:xfrm>
            <a:off x="5555685" y="4749504"/>
            <a:ext cx="2457394" cy="584775"/>
          </a:xfrm>
          <a:prstGeom prst="rect">
            <a:avLst/>
          </a:prstGeom>
          <a:noFill/>
        </p:spPr>
        <p:txBody>
          <a:bodyPr wrap="square" rtlCol="0">
            <a:spAutoFit/>
          </a:bodyPr>
          <a:lstStyle/>
          <a:p>
            <a:pPr algn="ctr"/>
            <a:r>
              <a:rPr lang="en-US" sz="1600" noProof="0" dirty="0">
                <a:solidFill>
                  <a:srgbClr val="980602"/>
                </a:solidFill>
              </a:rPr>
              <a:t>Lack of visibility on current analysis state</a:t>
            </a:r>
          </a:p>
        </p:txBody>
      </p:sp>
      <p:grpSp>
        <p:nvGrpSpPr>
          <p:cNvPr id="46" name="Groupe 45">
            <a:extLst>
              <a:ext uri="{FF2B5EF4-FFF2-40B4-BE49-F238E27FC236}">
                <a16:creationId xmlns:a16="http://schemas.microsoft.com/office/drawing/2014/main" id="{497841F1-C5A7-D6AD-5A99-E6FAE728D0C4}"/>
              </a:ext>
            </a:extLst>
          </p:cNvPr>
          <p:cNvGrpSpPr/>
          <p:nvPr/>
        </p:nvGrpSpPr>
        <p:grpSpPr>
          <a:xfrm>
            <a:off x="4626210" y="1425042"/>
            <a:ext cx="925035" cy="553419"/>
            <a:chOff x="4561053" y="1350510"/>
            <a:chExt cx="1062710" cy="686173"/>
          </a:xfrm>
        </p:grpSpPr>
        <p:sp>
          <p:nvSpPr>
            <p:cNvPr id="43" name="Rectangle 42">
              <a:extLst>
                <a:ext uri="{FF2B5EF4-FFF2-40B4-BE49-F238E27FC236}">
                  <a16:creationId xmlns:a16="http://schemas.microsoft.com/office/drawing/2014/main" id="{8EAA4E99-103E-C4D5-79D8-A285BA9584A6}"/>
                </a:ext>
              </a:extLst>
            </p:cNvPr>
            <p:cNvSpPr/>
            <p:nvPr/>
          </p:nvSpPr>
          <p:spPr>
            <a:xfrm rot="315670">
              <a:off x="4721320" y="1390909"/>
              <a:ext cx="787609" cy="575300"/>
            </a:xfrm>
            <a:prstGeom prst="rect">
              <a:avLst/>
            </a:prstGeom>
            <a:solidFill>
              <a:srgbClr val="98060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2" name="Ellipse 41">
              <a:extLst>
                <a:ext uri="{FF2B5EF4-FFF2-40B4-BE49-F238E27FC236}">
                  <a16:creationId xmlns:a16="http://schemas.microsoft.com/office/drawing/2014/main" id="{53D5F6C7-649F-97FE-8B9C-EE6F186A0D80}"/>
                </a:ext>
              </a:extLst>
            </p:cNvPr>
            <p:cNvSpPr/>
            <p:nvPr/>
          </p:nvSpPr>
          <p:spPr>
            <a:xfrm>
              <a:off x="5299396" y="1377797"/>
              <a:ext cx="324367" cy="658886"/>
            </a:xfrm>
            <a:prstGeom prst="ellipse">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0" name="Ellipse 39">
              <a:extLst>
                <a:ext uri="{FF2B5EF4-FFF2-40B4-BE49-F238E27FC236}">
                  <a16:creationId xmlns:a16="http://schemas.microsoft.com/office/drawing/2014/main" id="{D0A11100-324D-59AA-7577-983B193036B9}"/>
                </a:ext>
              </a:extLst>
            </p:cNvPr>
            <p:cNvSpPr/>
            <p:nvPr/>
          </p:nvSpPr>
          <p:spPr>
            <a:xfrm>
              <a:off x="5343500" y="1422816"/>
              <a:ext cx="272415" cy="578517"/>
            </a:xfrm>
            <a:prstGeom prst="ellipse">
              <a:avLst/>
            </a:prstGeom>
            <a:solidFill>
              <a:srgbClr val="98060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5" name="Ellipse 44">
              <a:extLst>
                <a:ext uri="{FF2B5EF4-FFF2-40B4-BE49-F238E27FC236}">
                  <a16:creationId xmlns:a16="http://schemas.microsoft.com/office/drawing/2014/main" id="{16BB145D-B38D-2A20-62EB-FA1E31A5B5F6}"/>
                </a:ext>
              </a:extLst>
            </p:cNvPr>
            <p:cNvSpPr/>
            <p:nvPr/>
          </p:nvSpPr>
          <p:spPr>
            <a:xfrm rot="310180">
              <a:off x="4561053" y="1350510"/>
              <a:ext cx="347580" cy="580654"/>
            </a:xfrm>
            <a:prstGeom prst="ellipse">
              <a:avLst/>
            </a:prstGeom>
            <a:solidFill>
              <a:srgbClr val="98060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pic>
        <p:nvPicPr>
          <p:cNvPr id="48" name="Graphique 47" descr="Scarabée avec un remplissage uni">
            <a:extLst>
              <a:ext uri="{FF2B5EF4-FFF2-40B4-BE49-F238E27FC236}">
                <a16:creationId xmlns:a16="http://schemas.microsoft.com/office/drawing/2014/main" id="{47242672-D0FC-F4AE-A6D7-39AC1D92DDA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009094" y="1218917"/>
            <a:ext cx="914400" cy="914400"/>
          </a:xfrm>
          <a:prstGeom prst="rect">
            <a:avLst/>
          </a:prstGeom>
        </p:spPr>
      </p:pic>
      <p:sp>
        <p:nvSpPr>
          <p:cNvPr id="133" name="Arc 132">
            <a:extLst>
              <a:ext uri="{FF2B5EF4-FFF2-40B4-BE49-F238E27FC236}">
                <a16:creationId xmlns:a16="http://schemas.microsoft.com/office/drawing/2014/main" id="{49D55E93-962F-7DB2-454F-222A13C9247B}"/>
              </a:ext>
            </a:extLst>
          </p:cNvPr>
          <p:cNvSpPr/>
          <p:nvPr/>
        </p:nvSpPr>
        <p:spPr>
          <a:xfrm>
            <a:off x="6975996" y="1623119"/>
            <a:ext cx="4582219" cy="2801394"/>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37" name="Arc 136">
            <a:extLst>
              <a:ext uri="{FF2B5EF4-FFF2-40B4-BE49-F238E27FC236}">
                <a16:creationId xmlns:a16="http://schemas.microsoft.com/office/drawing/2014/main" id="{58B924D0-610E-8F2E-04DE-2A5F93696119}"/>
              </a:ext>
            </a:extLst>
          </p:cNvPr>
          <p:cNvSpPr/>
          <p:nvPr/>
        </p:nvSpPr>
        <p:spPr>
          <a:xfrm rot="16200000" flipV="1">
            <a:off x="1037829" y="2138082"/>
            <a:ext cx="2913233" cy="1873788"/>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38" name="Arc 137">
            <a:extLst>
              <a:ext uri="{FF2B5EF4-FFF2-40B4-BE49-F238E27FC236}">
                <a16:creationId xmlns:a16="http://schemas.microsoft.com/office/drawing/2014/main" id="{52E5AB5F-BFB7-1844-F743-76A759867F0F}"/>
              </a:ext>
            </a:extLst>
          </p:cNvPr>
          <p:cNvSpPr/>
          <p:nvPr/>
        </p:nvSpPr>
        <p:spPr>
          <a:xfrm rot="16200000" flipV="1">
            <a:off x="4406136" y="2167577"/>
            <a:ext cx="2913233" cy="1873788"/>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39" name="Arc 138">
            <a:extLst>
              <a:ext uri="{FF2B5EF4-FFF2-40B4-BE49-F238E27FC236}">
                <a16:creationId xmlns:a16="http://schemas.microsoft.com/office/drawing/2014/main" id="{3C63F994-0754-116F-0B79-F68726050DD2}"/>
              </a:ext>
            </a:extLst>
          </p:cNvPr>
          <p:cNvSpPr/>
          <p:nvPr/>
        </p:nvSpPr>
        <p:spPr>
          <a:xfrm rot="5400000">
            <a:off x="14248845" y="1435562"/>
            <a:ext cx="2830858" cy="1973962"/>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40" name="Arc 139">
            <a:extLst>
              <a:ext uri="{FF2B5EF4-FFF2-40B4-BE49-F238E27FC236}">
                <a16:creationId xmlns:a16="http://schemas.microsoft.com/office/drawing/2014/main" id="{FE3E365E-AC62-BA6A-AE34-B67C8565D730}"/>
              </a:ext>
            </a:extLst>
          </p:cNvPr>
          <p:cNvSpPr/>
          <p:nvPr/>
        </p:nvSpPr>
        <p:spPr>
          <a:xfrm rot="5400000">
            <a:off x="10884836" y="1442668"/>
            <a:ext cx="2830858" cy="1973962"/>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41" name="Ellipse 140">
            <a:extLst>
              <a:ext uri="{FF2B5EF4-FFF2-40B4-BE49-F238E27FC236}">
                <a16:creationId xmlns:a16="http://schemas.microsoft.com/office/drawing/2014/main" id="{735AC149-6123-8085-8A6E-ACFD8D5172FA}"/>
              </a:ext>
            </a:extLst>
          </p:cNvPr>
          <p:cNvSpPr/>
          <p:nvPr/>
        </p:nvSpPr>
        <p:spPr>
          <a:xfrm>
            <a:off x="10800171" y="3012332"/>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42" name="Graphique 141" descr="Interface utilisateur ou expérience utilisateur avec un remplissage uni">
            <a:extLst>
              <a:ext uri="{FF2B5EF4-FFF2-40B4-BE49-F238E27FC236}">
                <a16:creationId xmlns:a16="http://schemas.microsoft.com/office/drawing/2014/main" id="{E7DE49B2-B9E4-F4C2-6B18-DE27E05A195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085482" y="3300190"/>
            <a:ext cx="943246" cy="943246"/>
          </a:xfrm>
          <a:prstGeom prst="rect">
            <a:avLst/>
          </a:prstGeom>
        </p:spPr>
      </p:pic>
      <p:sp>
        <p:nvSpPr>
          <p:cNvPr id="143" name="Ellipse 142">
            <a:extLst>
              <a:ext uri="{FF2B5EF4-FFF2-40B4-BE49-F238E27FC236}">
                <a16:creationId xmlns:a16="http://schemas.microsoft.com/office/drawing/2014/main" id="{38953FBF-E56D-319F-3797-A61A27872157}"/>
              </a:ext>
            </a:extLst>
          </p:cNvPr>
          <p:cNvSpPr/>
          <p:nvPr/>
        </p:nvSpPr>
        <p:spPr>
          <a:xfrm>
            <a:off x="12487081" y="910388"/>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4" name="Ellipse 143">
            <a:extLst>
              <a:ext uri="{FF2B5EF4-FFF2-40B4-BE49-F238E27FC236}">
                <a16:creationId xmlns:a16="http://schemas.microsoft.com/office/drawing/2014/main" id="{A3762F21-F7A4-1A73-AE3C-A3A582490D37}"/>
              </a:ext>
            </a:extLst>
          </p:cNvPr>
          <p:cNvSpPr/>
          <p:nvPr/>
        </p:nvSpPr>
        <p:spPr>
          <a:xfrm>
            <a:off x="14173991" y="3074499"/>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5" name="Ellipse 144">
            <a:extLst>
              <a:ext uri="{FF2B5EF4-FFF2-40B4-BE49-F238E27FC236}">
                <a16:creationId xmlns:a16="http://schemas.microsoft.com/office/drawing/2014/main" id="{AA0A092C-F32E-8E01-3427-4DECFDE1C002}"/>
              </a:ext>
            </a:extLst>
          </p:cNvPr>
          <p:cNvSpPr/>
          <p:nvPr/>
        </p:nvSpPr>
        <p:spPr>
          <a:xfrm>
            <a:off x="15860901" y="913427"/>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6" name="Ellipse 145">
            <a:extLst>
              <a:ext uri="{FF2B5EF4-FFF2-40B4-BE49-F238E27FC236}">
                <a16:creationId xmlns:a16="http://schemas.microsoft.com/office/drawing/2014/main" id="{F3611065-5697-E8A0-392C-8B0932A78FAA}"/>
              </a:ext>
            </a:extLst>
          </p:cNvPr>
          <p:cNvSpPr/>
          <p:nvPr/>
        </p:nvSpPr>
        <p:spPr>
          <a:xfrm>
            <a:off x="17547811" y="3074499"/>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47" name="Graphique 146" descr="Terminal Cmd avec un remplissage uni">
            <a:extLst>
              <a:ext uri="{FF2B5EF4-FFF2-40B4-BE49-F238E27FC236}">
                <a16:creationId xmlns:a16="http://schemas.microsoft.com/office/drawing/2014/main" id="{95CBD4E9-8B60-409D-0642-648CF0B0207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2792591" y="1212669"/>
            <a:ext cx="914400" cy="914400"/>
          </a:xfrm>
          <a:prstGeom prst="rect">
            <a:avLst/>
          </a:prstGeom>
        </p:spPr>
      </p:pic>
      <p:pic>
        <p:nvPicPr>
          <p:cNvPr id="148" name="Graphique 147" descr="Fermer avec un remplissage uni">
            <a:extLst>
              <a:ext uri="{FF2B5EF4-FFF2-40B4-BE49-F238E27FC236}">
                <a16:creationId xmlns:a16="http://schemas.microsoft.com/office/drawing/2014/main" id="{CF4A16F1-120D-7814-975F-BEBD8F2A787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4476421" y="3374406"/>
            <a:ext cx="914400" cy="914400"/>
          </a:xfrm>
          <a:prstGeom prst="rect">
            <a:avLst/>
          </a:prstGeom>
        </p:spPr>
      </p:pic>
      <p:pic>
        <p:nvPicPr>
          <p:cNvPr id="149" name="Graphique 148" descr="Processeur avec un remplissage uni">
            <a:extLst>
              <a:ext uri="{FF2B5EF4-FFF2-40B4-BE49-F238E27FC236}">
                <a16:creationId xmlns:a16="http://schemas.microsoft.com/office/drawing/2014/main" id="{6759A2FC-EA22-0688-C8CD-7CE20FE9840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6163331" y="1212669"/>
            <a:ext cx="914400" cy="914400"/>
          </a:xfrm>
          <a:prstGeom prst="rect">
            <a:avLst/>
          </a:prstGeom>
        </p:spPr>
      </p:pic>
      <p:pic>
        <p:nvPicPr>
          <p:cNvPr id="150" name="Graphique 149" descr="Aléatoire avec un remplissage uni">
            <a:extLst>
              <a:ext uri="{FF2B5EF4-FFF2-40B4-BE49-F238E27FC236}">
                <a16:creationId xmlns:a16="http://schemas.microsoft.com/office/drawing/2014/main" id="{82A2F34D-5D4D-D536-5840-AF34212FBDFE}"/>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7850241" y="3374406"/>
            <a:ext cx="914400" cy="914400"/>
          </a:xfrm>
          <a:prstGeom prst="rect">
            <a:avLst/>
          </a:prstGeom>
        </p:spPr>
      </p:pic>
      <p:sp>
        <p:nvSpPr>
          <p:cNvPr id="151" name="ZoneTexte 150">
            <a:extLst>
              <a:ext uri="{FF2B5EF4-FFF2-40B4-BE49-F238E27FC236}">
                <a16:creationId xmlns:a16="http://schemas.microsoft.com/office/drawing/2014/main" id="{3BAE925E-BCD7-33A4-A277-008ABEB61864}"/>
              </a:ext>
            </a:extLst>
          </p:cNvPr>
          <p:cNvSpPr txBox="1"/>
          <p:nvPr/>
        </p:nvSpPr>
        <p:spPr>
          <a:xfrm>
            <a:off x="10333171" y="4650174"/>
            <a:ext cx="2459420" cy="338554"/>
          </a:xfrm>
          <a:prstGeom prst="rect">
            <a:avLst/>
          </a:prstGeom>
          <a:noFill/>
        </p:spPr>
        <p:txBody>
          <a:bodyPr wrap="square" rtlCol="0">
            <a:spAutoFit/>
          </a:bodyPr>
          <a:lstStyle/>
          <a:p>
            <a:pPr algn="ctr"/>
            <a:r>
              <a:rPr lang="en-US" sz="1600" noProof="0" dirty="0">
                <a:solidFill>
                  <a:srgbClr val="980602"/>
                </a:solidFill>
              </a:rPr>
              <a:t>No real-time overview</a:t>
            </a:r>
          </a:p>
        </p:txBody>
      </p:sp>
      <p:sp>
        <p:nvSpPr>
          <p:cNvPr id="152" name="ZoneTexte 151">
            <a:extLst>
              <a:ext uri="{FF2B5EF4-FFF2-40B4-BE49-F238E27FC236}">
                <a16:creationId xmlns:a16="http://schemas.microsoft.com/office/drawing/2014/main" id="{BE432671-E2BD-C0FE-5D26-4830C24311D4}"/>
              </a:ext>
            </a:extLst>
          </p:cNvPr>
          <p:cNvSpPr txBox="1"/>
          <p:nvPr/>
        </p:nvSpPr>
        <p:spPr>
          <a:xfrm>
            <a:off x="13481981" y="4647281"/>
            <a:ext cx="2903280" cy="338554"/>
          </a:xfrm>
          <a:prstGeom prst="rect">
            <a:avLst/>
          </a:prstGeom>
          <a:noFill/>
        </p:spPr>
        <p:txBody>
          <a:bodyPr wrap="square" rtlCol="0">
            <a:spAutoFit/>
          </a:bodyPr>
          <a:lstStyle/>
          <a:p>
            <a:pPr algn="ctr"/>
            <a:r>
              <a:rPr lang="en-US" sz="1600" noProof="0" dirty="0">
                <a:solidFill>
                  <a:srgbClr val="980602"/>
                </a:solidFill>
              </a:rPr>
              <a:t>Complex errors management</a:t>
            </a:r>
          </a:p>
        </p:txBody>
      </p:sp>
      <p:sp>
        <p:nvSpPr>
          <p:cNvPr id="153" name="ZoneTexte 152">
            <a:extLst>
              <a:ext uri="{FF2B5EF4-FFF2-40B4-BE49-F238E27FC236}">
                <a16:creationId xmlns:a16="http://schemas.microsoft.com/office/drawing/2014/main" id="{20A2DEAC-24C3-595B-6B02-ADF28A0AF78C}"/>
              </a:ext>
            </a:extLst>
          </p:cNvPr>
          <p:cNvSpPr txBox="1"/>
          <p:nvPr/>
        </p:nvSpPr>
        <p:spPr>
          <a:xfrm>
            <a:off x="16553961" y="4650174"/>
            <a:ext cx="2684221" cy="338554"/>
          </a:xfrm>
          <a:prstGeom prst="rect">
            <a:avLst/>
          </a:prstGeom>
          <a:noFill/>
        </p:spPr>
        <p:txBody>
          <a:bodyPr wrap="square" rtlCol="0">
            <a:spAutoFit/>
          </a:bodyPr>
          <a:lstStyle/>
          <a:p>
            <a:pPr algn="ctr"/>
            <a:r>
              <a:rPr lang="en-US" sz="1600" noProof="0" dirty="0">
                <a:solidFill>
                  <a:srgbClr val="980602"/>
                </a:solidFill>
              </a:rPr>
              <a:t>No centralized traceability</a:t>
            </a:r>
          </a:p>
        </p:txBody>
      </p:sp>
      <p:sp>
        <p:nvSpPr>
          <p:cNvPr id="154" name="ZoneTexte 153">
            <a:extLst>
              <a:ext uri="{FF2B5EF4-FFF2-40B4-BE49-F238E27FC236}">
                <a16:creationId xmlns:a16="http://schemas.microsoft.com/office/drawing/2014/main" id="{079C956D-EC76-C188-0648-ABFCBF863B11}"/>
              </a:ext>
            </a:extLst>
          </p:cNvPr>
          <p:cNvSpPr txBox="1"/>
          <p:nvPr/>
        </p:nvSpPr>
        <p:spPr>
          <a:xfrm>
            <a:off x="15334622" y="2568692"/>
            <a:ext cx="2571820" cy="584775"/>
          </a:xfrm>
          <a:prstGeom prst="rect">
            <a:avLst/>
          </a:prstGeom>
          <a:solidFill>
            <a:srgbClr val="FFFFFF"/>
          </a:solidFill>
        </p:spPr>
        <p:txBody>
          <a:bodyPr wrap="square" rtlCol="0">
            <a:spAutoFit/>
          </a:bodyPr>
          <a:lstStyle/>
          <a:p>
            <a:pPr algn="ctr"/>
            <a:r>
              <a:rPr lang="en-US" sz="1600" noProof="0" dirty="0">
                <a:solidFill>
                  <a:srgbClr val="980602"/>
                </a:solidFill>
              </a:rPr>
              <a:t>Need of an optimization of our limited resources</a:t>
            </a:r>
          </a:p>
        </p:txBody>
      </p:sp>
      <p:sp>
        <p:nvSpPr>
          <p:cNvPr id="155" name="ZoneTexte 154">
            <a:extLst>
              <a:ext uri="{FF2B5EF4-FFF2-40B4-BE49-F238E27FC236}">
                <a16:creationId xmlns:a16="http://schemas.microsoft.com/office/drawing/2014/main" id="{FFD82D51-1878-F220-072B-276038B5FC88}"/>
              </a:ext>
            </a:extLst>
          </p:cNvPr>
          <p:cNvSpPr txBox="1"/>
          <p:nvPr/>
        </p:nvSpPr>
        <p:spPr>
          <a:xfrm>
            <a:off x="11904601" y="2548230"/>
            <a:ext cx="2684221" cy="338554"/>
          </a:xfrm>
          <a:prstGeom prst="rect">
            <a:avLst/>
          </a:prstGeom>
          <a:solidFill>
            <a:srgbClr val="FFFFFF"/>
          </a:solidFill>
        </p:spPr>
        <p:txBody>
          <a:bodyPr wrap="square" rtlCol="0">
            <a:spAutoFit/>
          </a:bodyPr>
          <a:lstStyle/>
          <a:p>
            <a:pPr algn="ctr"/>
            <a:r>
              <a:rPr lang="en-US" sz="1600" noProof="0" dirty="0">
                <a:solidFill>
                  <a:srgbClr val="980602"/>
                </a:solidFill>
              </a:rPr>
              <a:t>Repetitive bash commands</a:t>
            </a:r>
          </a:p>
        </p:txBody>
      </p:sp>
      <p:sp>
        <p:nvSpPr>
          <p:cNvPr id="156" name="Arc 155">
            <a:extLst>
              <a:ext uri="{FF2B5EF4-FFF2-40B4-BE49-F238E27FC236}">
                <a16:creationId xmlns:a16="http://schemas.microsoft.com/office/drawing/2014/main" id="{560053B0-58CF-79E6-4D18-11973D4595FF}"/>
              </a:ext>
            </a:extLst>
          </p:cNvPr>
          <p:cNvSpPr/>
          <p:nvPr/>
        </p:nvSpPr>
        <p:spPr>
          <a:xfrm rot="16200000" flipV="1">
            <a:off x="12567479" y="2153522"/>
            <a:ext cx="2913233" cy="1873788"/>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57" name="Arc 156">
            <a:extLst>
              <a:ext uri="{FF2B5EF4-FFF2-40B4-BE49-F238E27FC236}">
                <a16:creationId xmlns:a16="http://schemas.microsoft.com/office/drawing/2014/main" id="{08F3490C-9C66-6FE6-82BC-210C2F0ABBF1}"/>
              </a:ext>
            </a:extLst>
          </p:cNvPr>
          <p:cNvSpPr/>
          <p:nvPr/>
        </p:nvSpPr>
        <p:spPr>
          <a:xfrm rot="16200000" flipV="1">
            <a:off x="15915517" y="2160869"/>
            <a:ext cx="2913233" cy="1873788"/>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pic>
        <p:nvPicPr>
          <p:cNvPr id="160" name="Graphique 159" descr="Non voyant avec un remplissage uni">
            <a:extLst>
              <a:ext uri="{FF2B5EF4-FFF2-40B4-BE49-F238E27FC236}">
                <a16:creationId xmlns:a16="http://schemas.microsoft.com/office/drawing/2014/main" id="{A8ACA425-C1D6-233B-3533-CF3EED48232A}"/>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327182" y="3406879"/>
            <a:ext cx="914400" cy="914400"/>
          </a:xfrm>
          <a:prstGeom prst="rect">
            <a:avLst/>
          </a:prstGeom>
        </p:spPr>
      </p:pic>
      <p:pic>
        <p:nvPicPr>
          <p:cNvPr id="163" name="Graphique 162" descr="Un microscope">
            <a:extLst>
              <a:ext uri="{FF2B5EF4-FFF2-40B4-BE49-F238E27FC236}">
                <a16:creationId xmlns:a16="http://schemas.microsoft.com/office/drawing/2014/main" id="{A630B303-491F-4199-BD03-849F1356D8F4}"/>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flipH="1">
            <a:off x="18167661" y="860023"/>
            <a:ext cx="1519261" cy="1519261"/>
          </a:xfrm>
          <a:prstGeom prst="rect">
            <a:avLst/>
          </a:prstGeom>
        </p:spPr>
      </p:pic>
      <p:sp>
        <p:nvSpPr>
          <p:cNvPr id="3" name="ZoneTexte 2">
            <a:extLst>
              <a:ext uri="{FF2B5EF4-FFF2-40B4-BE49-F238E27FC236}">
                <a16:creationId xmlns:a16="http://schemas.microsoft.com/office/drawing/2014/main" id="{C780C163-E949-3025-E268-336ECC64D320}"/>
              </a:ext>
            </a:extLst>
          </p:cNvPr>
          <p:cNvSpPr txBox="1"/>
          <p:nvPr/>
        </p:nvSpPr>
        <p:spPr>
          <a:xfrm>
            <a:off x="292658" y="373579"/>
            <a:ext cx="5091344" cy="369332"/>
          </a:xfrm>
          <a:prstGeom prst="rect">
            <a:avLst/>
          </a:prstGeom>
          <a:noFill/>
        </p:spPr>
        <p:txBody>
          <a:bodyPr wrap="square">
            <a:spAutoFit/>
          </a:bodyPr>
          <a:lstStyle/>
          <a:p>
            <a:r>
              <a:rPr lang="en-US" noProof="0" dirty="0"/>
              <a:t>Current situation</a:t>
            </a:r>
          </a:p>
        </p:txBody>
      </p:sp>
    </p:spTree>
    <p:extLst>
      <p:ext uri="{BB962C8B-B14F-4D97-AF65-F5344CB8AC3E}">
        <p14:creationId xmlns:p14="http://schemas.microsoft.com/office/powerpoint/2010/main" val="40676416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B7019B0-B371-81D6-F984-C64E037DD2C1}"/>
            </a:ext>
          </a:extLst>
        </p:cNvPr>
        <p:cNvGrpSpPr/>
        <p:nvPr/>
      </p:nvGrpSpPr>
      <p:grpSpPr>
        <a:xfrm>
          <a:off x="0" y="0"/>
          <a:ext cx="0" cy="0"/>
          <a:chOff x="0" y="0"/>
          <a:chExt cx="0" cy="0"/>
        </a:xfrm>
      </p:grpSpPr>
      <p:sp>
        <p:nvSpPr>
          <p:cNvPr id="161" name="Rectangle 160">
            <a:extLst>
              <a:ext uri="{FF2B5EF4-FFF2-40B4-BE49-F238E27FC236}">
                <a16:creationId xmlns:a16="http://schemas.microsoft.com/office/drawing/2014/main" id="{AC2E2BD4-6316-FD16-F586-60EC9473B8C2}"/>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Overview of the current architecture </a:t>
            </a:r>
            <a:endParaRPr lang="en-US" sz="2000" noProof="0" dirty="0">
              <a:solidFill>
                <a:srgbClr val="000000"/>
              </a:solidFill>
            </a:endParaRPr>
          </a:p>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endParaRPr lang="en-US" sz="2000" b="0" u="none" strike="noStrike" noProof="0" dirty="0">
              <a:solidFill>
                <a:srgbClr val="000000"/>
              </a:solidFill>
              <a:effectLst/>
              <a:uFillTx/>
              <a:latin typeface="Arial"/>
            </a:endParaRPr>
          </a:p>
        </p:txBody>
      </p:sp>
      <p:sp>
        <p:nvSpPr>
          <p:cNvPr id="4" name="Espace réservé du numéro de diapositive 3">
            <a:extLst>
              <a:ext uri="{FF2B5EF4-FFF2-40B4-BE49-F238E27FC236}">
                <a16:creationId xmlns:a16="http://schemas.microsoft.com/office/drawing/2014/main" id="{37EA259B-DFD7-6C01-13F6-E774FEA1A658}"/>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4</a:t>
            </a:fld>
            <a:endParaRPr lang="en-US" sz="1200" noProof="0" dirty="0"/>
          </a:p>
        </p:txBody>
      </p:sp>
      <p:pic>
        <p:nvPicPr>
          <p:cNvPr id="20" name="Graphique 19" descr="Un microscope">
            <a:extLst>
              <a:ext uri="{FF2B5EF4-FFF2-40B4-BE49-F238E27FC236}">
                <a16:creationId xmlns:a16="http://schemas.microsoft.com/office/drawing/2014/main" id="{B594BB0A-72D2-79AC-CA8D-10FE56C71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8378297" y="860023"/>
            <a:ext cx="1519261" cy="1519261"/>
          </a:xfrm>
          <a:prstGeom prst="rect">
            <a:avLst/>
          </a:prstGeom>
        </p:spPr>
      </p:pic>
      <p:sp>
        <p:nvSpPr>
          <p:cNvPr id="179" name="Arc 178">
            <a:extLst>
              <a:ext uri="{FF2B5EF4-FFF2-40B4-BE49-F238E27FC236}">
                <a16:creationId xmlns:a16="http://schemas.microsoft.com/office/drawing/2014/main" id="{6C110338-185C-32C9-3531-C7987A5F83E5}"/>
              </a:ext>
            </a:extLst>
          </p:cNvPr>
          <p:cNvSpPr/>
          <p:nvPr/>
        </p:nvSpPr>
        <p:spPr>
          <a:xfrm rot="5400000">
            <a:off x="-6954381" y="1486113"/>
            <a:ext cx="2830858" cy="1973962"/>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80" name="Arc 179">
            <a:extLst>
              <a:ext uri="{FF2B5EF4-FFF2-40B4-BE49-F238E27FC236}">
                <a16:creationId xmlns:a16="http://schemas.microsoft.com/office/drawing/2014/main" id="{11467604-77D5-5B49-7D4D-80ECF2827AA8}"/>
              </a:ext>
            </a:extLst>
          </p:cNvPr>
          <p:cNvSpPr/>
          <p:nvPr/>
        </p:nvSpPr>
        <p:spPr>
          <a:xfrm rot="5400000">
            <a:off x="-3586043" y="1485159"/>
            <a:ext cx="2830858" cy="1973962"/>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81" name="Ellipse 180">
            <a:extLst>
              <a:ext uri="{FF2B5EF4-FFF2-40B4-BE49-F238E27FC236}">
                <a16:creationId xmlns:a16="http://schemas.microsoft.com/office/drawing/2014/main" id="{2B068C30-E6D5-571D-B0A8-CDCE5EA8DA09}"/>
              </a:ext>
            </a:extLst>
          </p:cNvPr>
          <p:cNvSpPr/>
          <p:nvPr/>
        </p:nvSpPr>
        <p:spPr>
          <a:xfrm>
            <a:off x="-8742685" y="858879"/>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2" name="Ellipse 181">
            <a:extLst>
              <a:ext uri="{FF2B5EF4-FFF2-40B4-BE49-F238E27FC236}">
                <a16:creationId xmlns:a16="http://schemas.microsoft.com/office/drawing/2014/main" id="{F24C4916-0B3A-C79F-23F0-46CAB9C293B7}"/>
              </a:ext>
            </a:extLst>
          </p:cNvPr>
          <p:cNvSpPr/>
          <p:nvPr/>
        </p:nvSpPr>
        <p:spPr>
          <a:xfrm>
            <a:off x="-5368865" y="921046"/>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3" name="Ellipse 182">
            <a:extLst>
              <a:ext uri="{FF2B5EF4-FFF2-40B4-BE49-F238E27FC236}">
                <a16:creationId xmlns:a16="http://schemas.microsoft.com/office/drawing/2014/main" id="{E57A561F-E7EC-B723-4678-2D6D3F8A5BD9}"/>
              </a:ext>
            </a:extLst>
          </p:cNvPr>
          <p:cNvSpPr/>
          <p:nvPr/>
        </p:nvSpPr>
        <p:spPr>
          <a:xfrm>
            <a:off x="-3681955" y="3094580"/>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4" name="Ellipse 183">
            <a:extLst>
              <a:ext uri="{FF2B5EF4-FFF2-40B4-BE49-F238E27FC236}">
                <a16:creationId xmlns:a16="http://schemas.microsoft.com/office/drawing/2014/main" id="{90557101-77E3-8900-7AE3-C7EF099F536A}"/>
              </a:ext>
            </a:extLst>
          </p:cNvPr>
          <p:cNvSpPr/>
          <p:nvPr/>
        </p:nvSpPr>
        <p:spPr>
          <a:xfrm>
            <a:off x="-1995045" y="921046"/>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5" name="ZoneTexte 184">
            <a:extLst>
              <a:ext uri="{FF2B5EF4-FFF2-40B4-BE49-F238E27FC236}">
                <a16:creationId xmlns:a16="http://schemas.microsoft.com/office/drawing/2014/main" id="{CB1D3A02-F24D-536B-22E3-EDDEF8A48098}"/>
              </a:ext>
            </a:extLst>
          </p:cNvPr>
          <p:cNvSpPr txBox="1"/>
          <p:nvPr/>
        </p:nvSpPr>
        <p:spPr>
          <a:xfrm>
            <a:off x="-9209685" y="2578301"/>
            <a:ext cx="2459420" cy="584775"/>
          </a:xfrm>
          <a:prstGeom prst="rect">
            <a:avLst/>
          </a:prstGeom>
          <a:noFill/>
        </p:spPr>
        <p:txBody>
          <a:bodyPr wrap="square" rtlCol="0">
            <a:spAutoFit/>
          </a:bodyPr>
          <a:lstStyle/>
          <a:p>
            <a:pPr algn="ctr"/>
            <a:r>
              <a:rPr lang="en-US" sz="1600" noProof="0" dirty="0">
                <a:solidFill>
                  <a:srgbClr val="980602"/>
                </a:solidFill>
              </a:rPr>
              <a:t>Existing </a:t>
            </a:r>
            <a:r>
              <a:rPr lang="en-US" sz="1600" noProof="0" dirty="0" err="1">
                <a:solidFill>
                  <a:srgbClr val="980602"/>
                </a:solidFill>
              </a:rPr>
              <a:t>autolauncher</a:t>
            </a:r>
            <a:r>
              <a:rPr lang="en-US" sz="1600" noProof="0" dirty="0">
                <a:solidFill>
                  <a:srgbClr val="980602"/>
                </a:solidFill>
              </a:rPr>
              <a:t> is unoptimized</a:t>
            </a:r>
          </a:p>
        </p:txBody>
      </p:sp>
      <p:sp>
        <p:nvSpPr>
          <p:cNvPr id="186" name="Ellipse 185">
            <a:extLst>
              <a:ext uri="{FF2B5EF4-FFF2-40B4-BE49-F238E27FC236}">
                <a16:creationId xmlns:a16="http://schemas.microsoft.com/office/drawing/2014/main" id="{7016863D-EE14-E0A2-5421-C56A7E219227}"/>
              </a:ext>
            </a:extLst>
          </p:cNvPr>
          <p:cNvSpPr/>
          <p:nvPr/>
        </p:nvSpPr>
        <p:spPr>
          <a:xfrm>
            <a:off x="-7055669" y="3094580"/>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7" name="ZoneTexte 186">
            <a:extLst>
              <a:ext uri="{FF2B5EF4-FFF2-40B4-BE49-F238E27FC236}">
                <a16:creationId xmlns:a16="http://schemas.microsoft.com/office/drawing/2014/main" id="{F8380ADF-6B91-7850-05D3-64407C9C4237}"/>
              </a:ext>
            </a:extLst>
          </p:cNvPr>
          <p:cNvSpPr txBox="1"/>
          <p:nvPr/>
        </p:nvSpPr>
        <p:spPr>
          <a:xfrm>
            <a:off x="-7581948" y="4749845"/>
            <a:ext cx="2571820" cy="338554"/>
          </a:xfrm>
          <a:prstGeom prst="rect">
            <a:avLst/>
          </a:prstGeom>
          <a:noFill/>
        </p:spPr>
        <p:txBody>
          <a:bodyPr wrap="square" rtlCol="0">
            <a:spAutoFit/>
          </a:bodyPr>
          <a:lstStyle/>
          <a:p>
            <a:pPr algn="ctr"/>
            <a:r>
              <a:rPr lang="en-US" sz="1600" noProof="0" dirty="0">
                <a:solidFill>
                  <a:srgbClr val="980602"/>
                </a:solidFill>
              </a:rPr>
              <a:t>Bash interface</a:t>
            </a:r>
          </a:p>
        </p:txBody>
      </p:sp>
      <p:sp>
        <p:nvSpPr>
          <p:cNvPr id="188" name="ZoneTexte 187">
            <a:extLst>
              <a:ext uri="{FF2B5EF4-FFF2-40B4-BE49-F238E27FC236}">
                <a16:creationId xmlns:a16="http://schemas.microsoft.com/office/drawing/2014/main" id="{E770B36F-5EA8-F6D4-A012-46394EDA1576}"/>
              </a:ext>
            </a:extLst>
          </p:cNvPr>
          <p:cNvSpPr txBox="1"/>
          <p:nvPr/>
        </p:nvSpPr>
        <p:spPr>
          <a:xfrm>
            <a:off x="-6060875" y="2574067"/>
            <a:ext cx="2903280" cy="338554"/>
          </a:xfrm>
          <a:prstGeom prst="rect">
            <a:avLst/>
          </a:prstGeom>
          <a:solidFill>
            <a:srgbClr val="FFFFFF"/>
          </a:solidFill>
        </p:spPr>
        <p:txBody>
          <a:bodyPr wrap="square" rtlCol="0">
            <a:spAutoFit/>
          </a:bodyPr>
          <a:lstStyle/>
          <a:p>
            <a:pPr algn="ctr"/>
            <a:r>
              <a:rPr lang="en-US" sz="1600" noProof="0" dirty="0">
                <a:solidFill>
                  <a:srgbClr val="980602"/>
                </a:solidFill>
              </a:rPr>
              <a:t>Pipeline manual management</a:t>
            </a:r>
          </a:p>
        </p:txBody>
      </p:sp>
      <p:sp>
        <p:nvSpPr>
          <p:cNvPr id="189" name="ZoneTexte 188">
            <a:extLst>
              <a:ext uri="{FF2B5EF4-FFF2-40B4-BE49-F238E27FC236}">
                <a16:creationId xmlns:a16="http://schemas.microsoft.com/office/drawing/2014/main" id="{983C60EF-851E-6A6C-7302-7CE12D41D98C}"/>
              </a:ext>
            </a:extLst>
          </p:cNvPr>
          <p:cNvSpPr txBox="1"/>
          <p:nvPr/>
        </p:nvSpPr>
        <p:spPr>
          <a:xfrm>
            <a:off x="-2582523" y="2577231"/>
            <a:ext cx="2684221" cy="584775"/>
          </a:xfrm>
          <a:prstGeom prst="rect">
            <a:avLst/>
          </a:prstGeom>
          <a:solidFill>
            <a:srgbClr val="FFFFFF"/>
          </a:solidFill>
        </p:spPr>
        <p:txBody>
          <a:bodyPr wrap="square" rtlCol="0">
            <a:spAutoFit/>
          </a:bodyPr>
          <a:lstStyle/>
          <a:p>
            <a:pPr algn="ctr"/>
            <a:r>
              <a:rPr lang="en-US" sz="1600" noProof="0" dirty="0">
                <a:solidFill>
                  <a:srgbClr val="980602"/>
                </a:solidFill>
              </a:rPr>
              <a:t>Monitoring &amp; debugging difficulties</a:t>
            </a:r>
          </a:p>
        </p:txBody>
      </p:sp>
      <p:pic>
        <p:nvPicPr>
          <p:cNvPr id="190" name="Graphique 189" descr="Fusée avec un remplissage uni">
            <a:extLst>
              <a:ext uri="{FF2B5EF4-FFF2-40B4-BE49-F238E27FC236}">
                <a16:creationId xmlns:a16="http://schemas.microsoft.com/office/drawing/2014/main" id="{C8B1418A-6B48-A71A-3444-F567D555400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41409" y="1161160"/>
            <a:ext cx="914400" cy="914400"/>
          </a:xfrm>
          <a:prstGeom prst="rect">
            <a:avLst/>
          </a:prstGeom>
        </p:spPr>
      </p:pic>
      <p:pic>
        <p:nvPicPr>
          <p:cNvPr id="191" name="Graphique 190" descr="Terminal Cmd avec un remplissage uni">
            <a:extLst>
              <a:ext uri="{FF2B5EF4-FFF2-40B4-BE49-F238E27FC236}">
                <a16:creationId xmlns:a16="http://schemas.microsoft.com/office/drawing/2014/main" id="{FB22F1A8-5A80-9B00-AF03-45AE924A610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50265" y="3393822"/>
            <a:ext cx="914400" cy="914400"/>
          </a:xfrm>
          <a:prstGeom prst="rect">
            <a:avLst/>
          </a:prstGeom>
        </p:spPr>
      </p:pic>
      <p:sp>
        <p:nvSpPr>
          <p:cNvPr id="192" name="ZoneTexte 191">
            <a:extLst>
              <a:ext uri="{FF2B5EF4-FFF2-40B4-BE49-F238E27FC236}">
                <a16:creationId xmlns:a16="http://schemas.microsoft.com/office/drawing/2014/main" id="{B6514049-7B8A-2379-1CCB-B6BD40A14015}"/>
              </a:ext>
            </a:extLst>
          </p:cNvPr>
          <p:cNvSpPr txBox="1"/>
          <p:nvPr/>
        </p:nvSpPr>
        <p:spPr>
          <a:xfrm>
            <a:off x="-4151022" y="4749504"/>
            <a:ext cx="2457394" cy="584775"/>
          </a:xfrm>
          <a:prstGeom prst="rect">
            <a:avLst/>
          </a:prstGeom>
          <a:noFill/>
        </p:spPr>
        <p:txBody>
          <a:bodyPr wrap="square" rtlCol="0">
            <a:spAutoFit/>
          </a:bodyPr>
          <a:lstStyle/>
          <a:p>
            <a:pPr algn="ctr"/>
            <a:r>
              <a:rPr lang="en-US" sz="1600" noProof="0" dirty="0">
                <a:solidFill>
                  <a:srgbClr val="980602"/>
                </a:solidFill>
              </a:rPr>
              <a:t>Lack of visibility on current analysis state</a:t>
            </a:r>
          </a:p>
        </p:txBody>
      </p:sp>
      <p:grpSp>
        <p:nvGrpSpPr>
          <p:cNvPr id="193" name="Groupe 192">
            <a:extLst>
              <a:ext uri="{FF2B5EF4-FFF2-40B4-BE49-F238E27FC236}">
                <a16:creationId xmlns:a16="http://schemas.microsoft.com/office/drawing/2014/main" id="{FE32E030-7196-7653-CE54-00AD6656C408}"/>
              </a:ext>
            </a:extLst>
          </p:cNvPr>
          <p:cNvGrpSpPr/>
          <p:nvPr/>
        </p:nvGrpSpPr>
        <p:grpSpPr>
          <a:xfrm>
            <a:off x="-5080497" y="1425042"/>
            <a:ext cx="925035" cy="553419"/>
            <a:chOff x="4561053" y="1350510"/>
            <a:chExt cx="1062710" cy="686173"/>
          </a:xfrm>
        </p:grpSpPr>
        <p:sp>
          <p:nvSpPr>
            <p:cNvPr id="194" name="Rectangle 193">
              <a:extLst>
                <a:ext uri="{FF2B5EF4-FFF2-40B4-BE49-F238E27FC236}">
                  <a16:creationId xmlns:a16="http://schemas.microsoft.com/office/drawing/2014/main" id="{C92058B1-AED8-31FA-A3F8-A98B7FB4FA08}"/>
                </a:ext>
              </a:extLst>
            </p:cNvPr>
            <p:cNvSpPr/>
            <p:nvPr/>
          </p:nvSpPr>
          <p:spPr>
            <a:xfrm rot="315670">
              <a:off x="4721320" y="1390909"/>
              <a:ext cx="787609" cy="575300"/>
            </a:xfrm>
            <a:prstGeom prst="rect">
              <a:avLst/>
            </a:prstGeom>
            <a:solidFill>
              <a:srgbClr val="98060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5" name="Ellipse 194">
              <a:extLst>
                <a:ext uri="{FF2B5EF4-FFF2-40B4-BE49-F238E27FC236}">
                  <a16:creationId xmlns:a16="http://schemas.microsoft.com/office/drawing/2014/main" id="{FAF402CB-53D4-E592-465B-EB9DEE57D98C}"/>
                </a:ext>
              </a:extLst>
            </p:cNvPr>
            <p:cNvSpPr/>
            <p:nvPr/>
          </p:nvSpPr>
          <p:spPr>
            <a:xfrm>
              <a:off x="5299396" y="1377797"/>
              <a:ext cx="324367" cy="658886"/>
            </a:xfrm>
            <a:prstGeom prst="ellipse">
              <a:avLst/>
            </a:prstGeom>
            <a:solidFill>
              <a:srgbClr val="FFFFFF"/>
            </a:solidFill>
            <a:ln>
              <a:solidFill>
                <a:srgbClr val="FFFF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6" name="Ellipse 195">
              <a:extLst>
                <a:ext uri="{FF2B5EF4-FFF2-40B4-BE49-F238E27FC236}">
                  <a16:creationId xmlns:a16="http://schemas.microsoft.com/office/drawing/2014/main" id="{D6427A55-39F5-163F-1375-CE821D5D207C}"/>
                </a:ext>
              </a:extLst>
            </p:cNvPr>
            <p:cNvSpPr/>
            <p:nvPr/>
          </p:nvSpPr>
          <p:spPr>
            <a:xfrm>
              <a:off x="5343500" y="1422816"/>
              <a:ext cx="272415" cy="578517"/>
            </a:xfrm>
            <a:prstGeom prst="ellipse">
              <a:avLst/>
            </a:prstGeom>
            <a:solidFill>
              <a:srgbClr val="98060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7" name="Ellipse 196">
              <a:extLst>
                <a:ext uri="{FF2B5EF4-FFF2-40B4-BE49-F238E27FC236}">
                  <a16:creationId xmlns:a16="http://schemas.microsoft.com/office/drawing/2014/main" id="{CDD0B8D9-5A18-31CC-D48D-4494254DE846}"/>
                </a:ext>
              </a:extLst>
            </p:cNvPr>
            <p:cNvSpPr/>
            <p:nvPr/>
          </p:nvSpPr>
          <p:spPr>
            <a:xfrm rot="310180">
              <a:off x="4561053" y="1350510"/>
              <a:ext cx="347580" cy="580654"/>
            </a:xfrm>
            <a:prstGeom prst="ellipse">
              <a:avLst/>
            </a:prstGeom>
            <a:solidFill>
              <a:srgbClr val="98060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pic>
        <p:nvPicPr>
          <p:cNvPr id="198" name="Graphique 197" descr="Scarabée avec un remplissage uni">
            <a:extLst>
              <a:ext uri="{FF2B5EF4-FFF2-40B4-BE49-F238E27FC236}">
                <a16:creationId xmlns:a16="http://schemas.microsoft.com/office/drawing/2014/main" id="{F18E83BE-0B46-F124-E97A-C558DAAC2A4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97613" y="1218917"/>
            <a:ext cx="914400" cy="914400"/>
          </a:xfrm>
          <a:prstGeom prst="rect">
            <a:avLst/>
          </a:prstGeom>
        </p:spPr>
      </p:pic>
      <p:sp>
        <p:nvSpPr>
          <p:cNvPr id="199" name="Arc 198">
            <a:extLst>
              <a:ext uri="{FF2B5EF4-FFF2-40B4-BE49-F238E27FC236}">
                <a16:creationId xmlns:a16="http://schemas.microsoft.com/office/drawing/2014/main" id="{CF076167-CC56-1232-F725-82A6BCCAE32B}"/>
              </a:ext>
            </a:extLst>
          </p:cNvPr>
          <p:cNvSpPr/>
          <p:nvPr/>
        </p:nvSpPr>
        <p:spPr>
          <a:xfrm>
            <a:off x="-2730711" y="1623119"/>
            <a:ext cx="4582219" cy="2801394"/>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200" name="Arc 199">
            <a:extLst>
              <a:ext uri="{FF2B5EF4-FFF2-40B4-BE49-F238E27FC236}">
                <a16:creationId xmlns:a16="http://schemas.microsoft.com/office/drawing/2014/main" id="{73082C26-D1CD-236B-8F58-1055372FC8BA}"/>
              </a:ext>
            </a:extLst>
          </p:cNvPr>
          <p:cNvSpPr/>
          <p:nvPr/>
        </p:nvSpPr>
        <p:spPr>
          <a:xfrm rot="16200000" flipV="1">
            <a:off x="-8668878" y="2138082"/>
            <a:ext cx="2913233" cy="1873788"/>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201" name="Arc 200">
            <a:extLst>
              <a:ext uri="{FF2B5EF4-FFF2-40B4-BE49-F238E27FC236}">
                <a16:creationId xmlns:a16="http://schemas.microsoft.com/office/drawing/2014/main" id="{D5284B4F-3FAE-C9A5-774E-FBBB2CF52B85}"/>
              </a:ext>
            </a:extLst>
          </p:cNvPr>
          <p:cNvSpPr/>
          <p:nvPr/>
        </p:nvSpPr>
        <p:spPr>
          <a:xfrm rot="16200000" flipV="1">
            <a:off x="-5300571" y="2167577"/>
            <a:ext cx="2913233" cy="1873788"/>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202" name="Arc 201">
            <a:extLst>
              <a:ext uri="{FF2B5EF4-FFF2-40B4-BE49-F238E27FC236}">
                <a16:creationId xmlns:a16="http://schemas.microsoft.com/office/drawing/2014/main" id="{17FFB348-3E24-3188-CA47-2F92CB6DC098}"/>
              </a:ext>
            </a:extLst>
          </p:cNvPr>
          <p:cNvSpPr/>
          <p:nvPr/>
        </p:nvSpPr>
        <p:spPr>
          <a:xfrm rot="5400000">
            <a:off x="4542138" y="1435562"/>
            <a:ext cx="2830858" cy="1973962"/>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203" name="Arc 202">
            <a:extLst>
              <a:ext uri="{FF2B5EF4-FFF2-40B4-BE49-F238E27FC236}">
                <a16:creationId xmlns:a16="http://schemas.microsoft.com/office/drawing/2014/main" id="{6E7255E1-BEB3-54D5-5198-A3CBF98C68E2}"/>
              </a:ext>
            </a:extLst>
          </p:cNvPr>
          <p:cNvSpPr/>
          <p:nvPr/>
        </p:nvSpPr>
        <p:spPr>
          <a:xfrm rot="5400000">
            <a:off x="1178129" y="1442668"/>
            <a:ext cx="2830858" cy="1973962"/>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204" name="Ellipse 203">
            <a:extLst>
              <a:ext uri="{FF2B5EF4-FFF2-40B4-BE49-F238E27FC236}">
                <a16:creationId xmlns:a16="http://schemas.microsoft.com/office/drawing/2014/main" id="{AEF941E9-EC61-4AB8-31B7-1ADFAE2EFAA5}"/>
              </a:ext>
            </a:extLst>
          </p:cNvPr>
          <p:cNvSpPr/>
          <p:nvPr/>
        </p:nvSpPr>
        <p:spPr>
          <a:xfrm>
            <a:off x="1093464" y="3012332"/>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05" name="Graphique 204" descr="Interface utilisateur ou expérience utilisateur avec un remplissage uni">
            <a:extLst>
              <a:ext uri="{FF2B5EF4-FFF2-40B4-BE49-F238E27FC236}">
                <a16:creationId xmlns:a16="http://schemas.microsoft.com/office/drawing/2014/main" id="{0559140B-0B86-D740-21E7-3FC4342ACDF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78775" y="3300190"/>
            <a:ext cx="943246" cy="943246"/>
          </a:xfrm>
          <a:prstGeom prst="rect">
            <a:avLst/>
          </a:prstGeom>
        </p:spPr>
      </p:pic>
      <p:sp>
        <p:nvSpPr>
          <p:cNvPr id="206" name="Ellipse 205">
            <a:extLst>
              <a:ext uri="{FF2B5EF4-FFF2-40B4-BE49-F238E27FC236}">
                <a16:creationId xmlns:a16="http://schemas.microsoft.com/office/drawing/2014/main" id="{9ACAF625-5756-24E0-D29F-FA1EFA877029}"/>
              </a:ext>
            </a:extLst>
          </p:cNvPr>
          <p:cNvSpPr/>
          <p:nvPr/>
        </p:nvSpPr>
        <p:spPr>
          <a:xfrm>
            <a:off x="2780374" y="910388"/>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7" name="Ellipse 206">
            <a:extLst>
              <a:ext uri="{FF2B5EF4-FFF2-40B4-BE49-F238E27FC236}">
                <a16:creationId xmlns:a16="http://schemas.microsoft.com/office/drawing/2014/main" id="{C972395D-D962-703B-F526-CC1EF3FA237F}"/>
              </a:ext>
            </a:extLst>
          </p:cNvPr>
          <p:cNvSpPr/>
          <p:nvPr/>
        </p:nvSpPr>
        <p:spPr>
          <a:xfrm>
            <a:off x="4467284" y="3074499"/>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8" name="Ellipse 207">
            <a:extLst>
              <a:ext uri="{FF2B5EF4-FFF2-40B4-BE49-F238E27FC236}">
                <a16:creationId xmlns:a16="http://schemas.microsoft.com/office/drawing/2014/main" id="{4D887F63-5680-1F6D-4B2E-D4EDA0A12ED0}"/>
              </a:ext>
            </a:extLst>
          </p:cNvPr>
          <p:cNvSpPr/>
          <p:nvPr/>
        </p:nvSpPr>
        <p:spPr>
          <a:xfrm>
            <a:off x="6154194" y="913427"/>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9" name="Ellipse 208">
            <a:extLst>
              <a:ext uri="{FF2B5EF4-FFF2-40B4-BE49-F238E27FC236}">
                <a16:creationId xmlns:a16="http://schemas.microsoft.com/office/drawing/2014/main" id="{5D145343-5FAE-9E04-A504-95524869DC33}"/>
              </a:ext>
            </a:extLst>
          </p:cNvPr>
          <p:cNvSpPr/>
          <p:nvPr/>
        </p:nvSpPr>
        <p:spPr>
          <a:xfrm>
            <a:off x="7841104" y="3074499"/>
            <a:ext cx="1519261" cy="1519261"/>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10" name="Graphique 209" descr="Terminal Cmd avec un remplissage uni">
            <a:extLst>
              <a:ext uri="{FF2B5EF4-FFF2-40B4-BE49-F238E27FC236}">
                <a16:creationId xmlns:a16="http://schemas.microsoft.com/office/drawing/2014/main" id="{416DA409-F356-029B-2000-E3135A87E7C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085884" y="1212669"/>
            <a:ext cx="914400" cy="914400"/>
          </a:xfrm>
          <a:prstGeom prst="rect">
            <a:avLst/>
          </a:prstGeom>
        </p:spPr>
      </p:pic>
      <p:pic>
        <p:nvPicPr>
          <p:cNvPr id="211" name="Graphique 210" descr="Fermer avec un remplissage uni">
            <a:extLst>
              <a:ext uri="{FF2B5EF4-FFF2-40B4-BE49-F238E27FC236}">
                <a16:creationId xmlns:a16="http://schemas.microsoft.com/office/drawing/2014/main" id="{38F72A9C-D3F9-6240-1D45-34E20CB7BEE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769714" y="3374406"/>
            <a:ext cx="914400" cy="914400"/>
          </a:xfrm>
          <a:prstGeom prst="rect">
            <a:avLst/>
          </a:prstGeom>
        </p:spPr>
      </p:pic>
      <p:pic>
        <p:nvPicPr>
          <p:cNvPr id="212" name="Graphique 211" descr="Processeur avec un remplissage uni">
            <a:extLst>
              <a:ext uri="{FF2B5EF4-FFF2-40B4-BE49-F238E27FC236}">
                <a16:creationId xmlns:a16="http://schemas.microsoft.com/office/drawing/2014/main" id="{877E51C8-96D6-4B28-9827-5EA1A01152F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456624" y="1212669"/>
            <a:ext cx="914400" cy="914400"/>
          </a:xfrm>
          <a:prstGeom prst="rect">
            <a:avLst/>
          </a:prstGeom>
        </p:spPr>
      </p:pic>
      <p:pic>
        <p:nvPicPr>
          <p:cNvPr id="213" name="Graphique 212" descr="Aléatoire avec un remplissage uni">
            <a:extLst>
              <a:ext uri="{FF2B5EF4-FFF2-40B4-BE49-F238E27FC236}">
                <a16:creationId xmlns:a16="http://schemas.microsoft.com/office/drawing/2014/main" id="{D76B9638-A8F4-454B-EF7A-436346402A5D}"/>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143534" y="3374406"/>
            <a:ext cx="914400" cy="914400"/>
          </a:xfrm>
          <a:prstGeom prst="rect">
            <a:avLst/>
          </a:prstGeom>
        </p:spPr>
      </p:pic>
      <p:sp>
        <p:nvSpPr>
          <p:cNvPr id="214" name="ZoneTexte 213">
            <a:extLst>
              <a:ext uri="{FF2B5EF4-FFF2-40B4-BE49-F238E27FC236}">
                <a16:creationId xmlns:a16="http://schemas.microsoft.com/office/drawing/2014/main" id="{7C63377D-5684-76AF-ABAD-B7B48B4B08B5}"/>
              </a:ext>
            </a:extLst>
          </p:cNvPr>
          <p:cNvSpPr txBox="1"/>
          <p:nvPr/>
        </p:nvSpPr>
        <p:spPr>
          <a:xfrm>
            <a:off x="626464" y="4650174"/>
            <a:ext cx="2459420" cy="338554"/>
          </a:xfrm>
          <a:prstGeom prst="rect">
            <a:avLst/>
          </a:prstGeom>
          <a:noFill/>
        </p:spPr>
        <p:txBody>
          <a:bodyPr wrap="square" rtlCol="0">
            <a:spAutoFit/>
          </a:bodyPr>
          <a:lstStyle/>
          <a:p>
            <a:pPr algn="ctr"/>
            <a:r>
              <a:rPr lang="en-US" sz="1600" noProof="0" dirty="0">
                <a:solidFill>
                  <a:srgbClr val="980602"/>
                </a:solidFill>
              </a:rPr>
              <a:t>No real-time overview</a:t>
            </a:r>
          </a:p>
        </p:txBody>
      </p:sp>
      <p:sp>
        <p:nvSpPr>
          <p:cNvPr id="215" name="ZoneTexte 214">
            <a:extLst>
              <a:ext uri="{FF2B5EF4-FFF2-40B4-BE49-F238E27FC236}">
                <a16:creationId xmlns:a16="http://schemas.microsoft.com/office/drawing/2014/main" id="{F0182597-BC3B-6D9B-084A-22F37A761B83}"/>
              </a:ext>
            </a:extLst>
          </p:cNvPr>
          <p:cNvSpPr txBox="1"/>
          <p:nvPr/>
        </p:nvSpPr>
        <p:spPr>
          <a:xfrm>
            <a:off x="3775274" y="4647281"/>
            <a:ext cx="2903280" cy="338554"/>
          </a:xfrm>
          <a:prstGeom prst="rect">
            <a:avLst/>
          </a:prstGeom>
          <a:noFill/>
        </p:spPr>
        <p:txBody>
          <a:bodyPr wrap="square" rtlCol="0">
            <a:spAutoFit/>
          </a:bodyPr>
          <a:lstStyle/>
          <a:p>
            <a:pPr algn="ctr"/>
            <a:r>
              <a:rPr lang="en-US" sz="1600" noProof="0" dirty="0">
                <a:solidFill>
                  <a:srgbClr val="980602"/>
                </a:solidFill>
              </a:rPr>
              <a:t>Complex errors management</a:t>
            </a:r>
          </a:p>
        </p:txBody>
      </p:sp>
      <p:sp>
        <p:nvSpPr>
          <p:cNvPr id="216" name="ZoneTexte 215">
            <a:extLst>
              <a:ext uri="{FF2B5EF4-FFF2-40B4-BE49-F238E27FC236}">
                <a16:creationId xmlns:a16="http://schemas.microsoft.com/office/drawing/2014/main" id="{848C419A-C77E-05AB-B513-13DBA74B6746}"/>
              </a:ext>
            </a:extLst>
          </p:cNvPr>
          <p:cNvSpPr txBox="1"/>
          <p:nvPr/>
        </p:nvSpPr>
        <p:spPr>
          <a:xfrm>
            <a:off x="7258623" y="4650174"/>
            <a:ext cx="2684221" cy="338554"/>
          </a:xfrm>
          <a:prstGeom prst="rect">
            <a:avLst/>
          </a:prstGeom>
          <a:noFill/>
        </p:spPr>
        <p:txBody>
          <a:bodyPr wrap="square" rtlCol="0">
            <a:spAutoFit/>
          </a:bodyPr>
          <a:lstStyle/>
          <a:p>
            <a:pPr algn="ctr"/>
            <a:r>
              <a:rPr lang="en-US" sz="1600" noProof="0" dirty="0">
                <a:solidFill>
                  <a:srgbClr val="980602"/>
                </a:solidFill>
              </a:rPr>
              <a:t>No centralized traceability</a:t>
            </a:r>
          </a:p>
        </p:txBody>
      </p:sp>
      <p:sp>
        <p:nvSpPr>
          <p:cNvPr id="217" name="ZoneTexte 216">
            <a:extLst>
              <a:ext uri="{FF2B5EF4-FFF2-40B4-BE49-F238E27FC236}">
                <a16:creationId xmlns:a16="http://schemas.microsoft.com/office/drawing/2014/main" id="{2D93F998-AA5C-3552-53DD-D392DE27DF2E}"/>
              </a:ext>
            </a:extLst>
          </p:cNvPr>
          <p:cNvSpPr txBox="1"/>
          <p:nvPr/>
        </p:nvSpPr>
        <p:spPr>
          <a:xfrm>
            <a:off x="5627915" y="2568692"/>
            <a:ext cx="2571820" cy="584775"/>
          </a:xfrm>
          <a:prstGeom prst="rect">
            <a:avLst/>
          </a:prstGeom>
          <a:solidFill>
            <a:srgbClr val="FFFFFF"/>
          </a:solidFill>
        </p:spPr>
        <p:txBody>
          <a:bodyPr wrap="square" rtlCol="0">
            <a:spAutoFit/>
          </a:bodyPr>
          <a:lstStyle/>
          <a:p>
            <a:pPr algn="ctr"/>
            <a:r>
              <a:rPr lang="en-US" sz="1600" noProof="0" dirty="0">
                <a:solidFill>
                  <a:srgbClr val="980602"/>
                </a:solidFill>
              </a:rPr>
              <a:t>Need of an optimization of our limited resources</a:t>
            </a:r>
          </a:p>
        </p:txBody>
      </p:sp>
      <p:sp>
        <p:nvSpPr>
          <p:cNvPr id="218" name="ZoneTexte 217">
            <a:extLst>
              <a:ext uri="{FF2B5EF4-FFF2-40B4-BE49-F238E27FC236}">
                <a16:creationId xmlns:a16="http://schemas.microsoft.com/office/drawing/2014/main" id="{B8C6D90D-B047-FC50-4ABE-1DBF784C464F}"/>
              </a:ext>
            </a:extLst>
          </p:cNvPr>
          <p:cNvSpPr txBox="1"/>
          <p:nvPr/>
        </p:nvSpPr>
        <p:spPr>
          <a:xfrm>
            <a:off x="2197894" y="2548230"/>
            <a:ext cx="2684221" cy="338554"/>
          </a:xfrm>
          <a:prstGeom prst="rect">
            <a:avLst/>
          </a:prstGeom>
          <a:solidFill>
            <a:srgbClr val="FFFFFF"/>
          </a:solidFill>
        </p:spPr>
        <p:txBody>
          <a:bodyPr wrap="square" rtlCol="0">
            <a:spAutoFit/>
          </a:bodyPr>
          <a:lstStyle/>
          <a:p>
            <a:pPr algn="ctr"/>
            <a:r>
              <a:rPr lang="en-US" sz="1600" noProof="0" dirty="0">
                <a:solidFill>
                  <a:srgbClr val="980602"/>
                </a:solidFill>
              </a:rPr>
              <a:t>Repetitive bash commands</a:t>
            </a:r>
          </a:p>
        </p:txBody>
      </p:sp>
      <p:sp>
        <p:nvSpPr>
          <p:cNvPr id="219" name="Arc 218">
            <a:extLst>
              <a:ext uri="{FF2B5EF4-FFF2-40B4-BE49-F238E27FC236}">
                <a16:creationId xmlns:a16="http://schemas.microsoft.com/office/drawing/2014/main" id="{5D1AC456-41C5-BB22-ED82-A815A094B3A5}"/>
              </a:ext>
            </a:extLst>
          </p:cNvPr>
          <p:cNvSpPr/>
          <p:nvPr/>
        </p:nvSpPr>
        <p:spPr>
          <a:xfrm rot="16200000" flipV="1">
            <a:off x="2860772" y="2153522"/>
            <a:ext cx="2913233" cy="1873788"/>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220" name="Arc 219">
            <a:extLst>
              <a:ext uri="{FF2B5EF4-FFF2-40B4-BE49-F238E27FC236}">
                <a16:creationId xmlns:a16="http://schemas.microsoft.com/office/drawing/2014/main" id="{F945D8BA-6428-EAA7-D956-D7350831D531}"/>
              </a:ext>
            </a:extLst>
          </p:cNvPr>
          <p:cNvSpPr/>
          <p:nvPr/>
        </p:nvSpPr>
        <p:spPr>
          <a:xfrm rot="16200000" flipV="1">
            <a:off x="6208810" y="2160869"/>
            <a:ext cx="2913233" cy="1873788"/>
          </a:xfrm>
          <a:prstGeom prst="arc">
            <a:avLst/>
          </a:prstGeom>
          <a:ln w="57150">
            <a:solidFill>
              <a:srgbClr val="98060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pic>
        <p:nvPicPr>
          <p:cNvPr id="221" name="Graphique 220" descr="Non voyant avec un remplissage uni">
            <a:extLst>
              <a:ext uri="{FF2B5EF4-FFF2-40B4-BE49-F238E27FC236}">
                <a16:creationId xmlns:a16="http://schemas.microsoft.com/office/drawing/2014/main" id="{C4F6C245-EF91-2D17-6B12-F185DF5B77F9}"/>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384010" y="3406879"/>
            <a:ext cx="914400" cy="914400"/>
          </a:xfrm>
          <a:prstGeom prst="rect">
            <a:avLst/>
          </a:prstGeom>
        </p:spPr>
      </p:pic>
      <p:sp>
        <p:nvSpPr>
          <p:cNvPr id="2" name="ZoneTexte 1">
            <a:extLst>
              <a:ext uri="{FF2B5EF4-FFF2-40B4-BE49-F238E27FC236}">
                <a16:creationId xmlns:a16="http://schemas.microsoft.com/office/drawing/2014/main" id="{C218B629-0AB5-E632-E6F2-52A3CA870812}"/>
              </a:ext>
            </a:extLst>
          </p:cNvPr>
          <p:cNvSpPr txBox="1"/>
          <p:nvPr/>
        </p:nvSpPr>
        <p:spPr>
          <a:xfrm>
            <a:off x="292658" y="373579"/>
            <a:ext cx="5091344" cy="369332"/>
          </a:xfrm>
          <a:prstGeom prst="rect">
            <a:avLst/>
          </a:prstGeom>
          <a:noFill/>
        </p:spPr>
        <p:txBody>
          <a:bodyPr wrap="square">
            <a:spAutoFit/>
          </a:bodyPr>
          <a:lstStyle/>
          <a:p>
            <a:r>
              <a:rPr lang="en-US" dirty="0"/>
              <a:t>Limitations Identified</a:t>
            </a:r>
            <a:endParaRPr lang="en-US" noProof="0" dirty="0"/>
          </a:p>
        </p:txBody>
      </p:sp>
      <p:pic>
        <p:nvPicPr>
          <p:cNvPr id="3" name="Graphique 2" descr="Boîte à archives avec un remplissage uni">
            <a:extLst>
              <a:ext uri="{FF2B5EF4-FFF2-40B4-BE49-F238E27FC236}">
                <a16:creationId xmlns:a16="http://schemas.microsoft.com/office/drawing/2014/main" id="{5D0595B5-103A-608C-8098-D8D5E3375AD2}"/>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4327825" y="2027125"/>
            <a:ext cx="1558696" cy="1558696"/>
          </a:xfrm>
          <a:prstGeom prst="rect">
            <a:avLst/>
          </a:prstGeom>
        </p:spPr>
      </p:pic>
      <p:pic>
        <p:nvPicPr>
          <p:cNvPr id="5" name="Graphique 4" descr="Papier avec un remplissage uni">
            <a:extLst>
              <a:ext uri="{FF2B5EF4-FFF2-40B4-BE49-F238E27FC236}">
                <a16:creationId xmlns:a16="http://schemas.microsoft.com/office/drawing/2014/main" id="{0F4894A3-71D5-87BB-04E9-D47516C39547}"/>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0581107" y="2204718"/>
            <a:ext cx="1261114" cy="1261114"/>
          </a:xfrm>
          <a:prstGeom prst="rect">
            <a:avLst/>
          </a:prstGeom>
        </p:spPr>
      </p:pic>
      <p:sp>
        <p:nvSpPr>
          <p:cNvPr id="7" name="ZoneTexte 6">
            <a:extLst>
              <a:ext uri="{FF2B5EF4-FFF2-40B4-BE49-F238E27FC236}">
                <a16:creationId xmlns:a16="http://schemas.microsoft.com/office/drawing/2014/main" id="{F887E4B0-E364-01EC-6797-F4F09C96B247}"/>
              </a:ext>
            </a:extLst>
          </p:cNvPr>
          <p:cNvSpPr txBox="1"/>
          <p:nvPr/>
        </p:nvSpPr>
        <p:spPr>
          <a:xfrm>
            <a:off x="11747977" y="2573665"/>
            <a:ext cx="1741990" cy="523220"/>
          </a:xfrm>
          <a:prstGeom prst="rect">
            <a:avLst/>
          </a:prstGeom>
          <a:noFill/>
        </p:spPr>
        <p:txBody>
          <a:bodyPr wrap="square" rtlCol="0">
            <a:spAutoFit/>
          </a:bodyPr>
          <a:lstStyle/>
          <a:p>
            <a:r>
              <a:rPr lang="en-US" sz="2800" noProof="0" dirty="0">
                <a:solidFill>
                  <a:srgbClr val="980602"/>
                </a:solidFill>
              </a:rPr>
              <a:t>Little task</a:t>
            </a:r>
          </a:p>
        </p:txBody>
      </p:sp>
      <p:sp>
        <p:nvSpPr>
          <p:cNvPr id="8" name="ZoneTexte 7">
            <a:extLst>
              <a:ext uri="{FF2B5EF4-FFF2-40B4-BE49-F238E27FC236}">
                <a16:creationId xmlns:a16="http://schemas.microsoft.com/office/drawing/2014/main" id="{9BB81F2B-400B-DAA4-05AF-45F470BE42FB}"/>
              </a:ext>
            </a:extLst>
          </p:cNvPr>
          <p:cNvSpPr txBox="1"/>
          <p:nvPr/>
        </p:nvSpPr>
        <p:spPr>
          <a:xfrm>
            <a:off x="15853384" y="2573665"/>
            <a:ext cx="1741990" cy="523220"/>
          </a:xfrm>
          <a:prstGeom prst="rect">
            <a:avLst/>
          </a:prstGeom>
          <a:noFill/>
        </p:spPr>
        <p:txBody>
          <a:bodyPr wrap="square" rtlCol="0">
            <a:spAutoFit/>
          </a:bodyPr>
          <a:lstStyle/>
          <a:p>
            <a:r>
              <a:rPr lang="en-US" sz="2800" noProof="0" dirty="0">
                <a:solidFill>
                  <a:srgbClr val="980602"/>
                </a:solidFill>
              </a:rPr>
              <a:t>Big task</a:t>
            </a:r>
          </a:p>
        </p:txBody>
      </p:sp>
    </p:spTree>
    <p:extLst>
      <p:ext uri="{BB962C8B-B14F-4D97-AF65-F5344CB8AC3E}">
        <p14:creationId xmlns:p14="http://schemas.microsoft.com/office/powerpoint/2010/main" val="38089775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54546DF-9938-C348-C85E-44150C324FE9}"/>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Overview of the current architecture </a:t>
            </a:r>
            <a:endParaRPr lang="en-US" sz="2000" noProof="0" dirty="0">
              <a:solidFill>
                <a:srgbClr val="000000"/>
              </a:solidFill>
            </a:endParaRPr>
          </a:p>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endParaRPr lang="en-US" sz="2000" b="0" u="none" strike="noStrike" noProof="0" dirty="0">
              <a:solidFill>
                <a:srgbClr val="000000"/>
              </a:solidFill>
              <a:effectLst/>
              <a:uFillTx/>
              <a:latin typeface="Arial"/>
            </a:endParaRPr>
          </a:p>
        </p:txBody>
      </p:sp>
      <p:pic>
        <p:nvPicPr>
          <p:cNvPr id="6" name="Graphique 5" descr="Boîte à archives avec un remplissage uni">
            <a:extLst>
              <a:ext uri="{FF2B5EF4-FFF2-40B4-BE49-F238E27FC236}">
                <a16:creationId xmlns:a16="http://schemas.microsoft.com/office/drawing/2014/main" id="{69AECC79-264F-CE4A-30F3-EC3FF185A4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79897" y="2027125"/>
            <a:ext cx="1558696" cy="1558696"/>
          </a:xfrm>
          <a:prstGeom prst="rect">
            <a:avLst/>
          </a:prstGeom>
        </p:spPr>
      </p:pic>
      <p:pic>
        <p:nvPicPr>
          <p:cNvPr id="8" name="Graphique 7" descr="Papier avec un remplissage uni">
            <a:extLst>
              <a:ext uri="{FF2B5EF4-FFF2-40B4-BE49-F238E27FC236}">
                <a16:creationId xmlns:a16="http://schemas.microsoft.com/office/drawing/2014/main" id="{E4A28486-0B54-228B-0D88-C2C7C217BD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33179" y="2204718"/>
            <a:ext cx="1261114" cy="1261114"/>
          </a:xfrm>
          <a:prstGeom prst="rect">
            <a:avLst/>
          </a:prstGeom>
        </p:spPr>
      </p:pic>
      <p:sp>
        <p:nvSpPr>
          <p:cNvPr id="9" name="Espace réservé du numéro de diapositive 3">
            <a:extLst>
              <a:ext uri="{FF2B5EF4-FFF2-40B4-BE49-F238E27FC236}">
                <a16:creationId xmlns:a16="http://schemas.microsoft.com/office/drawing/2014/main" id="{3669C41F-9824-6B58-52C4-7B963437B869}"/>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5</a:t>
            </a:fld>
            <a:endParaRPr lang="en-US" sz="1200" noProof="0" dirty="0"/>
          </a:p>
        </p:txBody>
      </p:sp>
      <p:sp>
        <p:nvSpPr>
          <p:cNvPr id="10" name="ZoneTexte 9">
            <a:extLst>
              <a:ext uri="{FF2B5EF4-FFF2-40B4-BE49-F238E27FC236}">
                <a16:creationId xmlns:a16="http://schemas.microsoft.com/office/drawing/2014/main" id="{47722010-E2CC-C01B-50B6-31B3CC0E2723}"/>
              </a:ext>
            </a:extLst>
          </p:cNvPr>
          <p:cNvSpPr txBox="1"/>
          <p:nvPr/>
        </p:nvSpPr>
        <p:spPr>
          <a:xfrm>
            <a:off x="2700049" y="2573665"/>
            <a:ext cx="1741990" cy="523220"/>
          </a:xfrm>
          <a:prstGeom prst="rect">
            <a:avLst/>
          </a:prstGeom>
          <a:noFill/>
        </p:spPr>
        <p:txBody>
          <a:bodyPr wrap="square" rtlCol="0">
            <a:spAutoFit/>
          </a:bodyPr>
          <a:lstStyle/>
          <a:p>
            <a:r>
              <a:rPr lang="en-US" sz="2800" noProof="0" dirty="0">
                <a:solidFill>
                  <a:srgbClr val="980602"/>
                </a:solidFill>
              </a:rPr>
              <a:t>Little task</a:t>
            </a:r>
          </a:p>
        </p:txBody>
      </p:sp>
      <p:sp>
        <p:nvSpPr>
          <p:cNvPr id="11" name="ZoneTexte 10">
            <a:extLst>
              <a:ext uri="{FF2B5EF4-FFF2-40B4-BE49-F238E27FC236}">
                <a16:creationId xmlns:a16="http://schemas.microsoft.com/office/drawing/2014/main" id="{0F03A27F-84EE-B899-075C-EA5DF123D5EC}"/>
              </a:ext>
            </a:extLst>
          </p:cNvPr>
          <p:cNvSpPr txBox="1"/>
          <p:nvPr/>
        </p:nvSpPr>
        <p:spPr>
          <a:xfrm>
            <a:off x="6805456" y="2573665"/>
            <a:ext cx="1741990" cy="523220"/>
          </a:xfrm>
          <a:prstGeom prst="rect">
            <a:avLst/>
          </a:prstGeom>
          <a:noFill/>
        </p:spPr>
        <p:txBody>
          <a:bodyPr wrap="square" rtlCol="0">
            <a:spAutoFit/>
          </a:bodyPr>
          <a:lstStyle/>
          <a:p>
            <a:r>
              <a:rPr lang="en-US" sz="2800" noProof="0" dirty="0">
                <a:solidFill>
                  <a:srgbClr val="980602"/>
                </a:solidFill>
              </a:rPr>
              <a:t>Big task</a:t>
            </a:r>
          </a:p>
        </p:txBody>
      </p:sp>
      <p:sp>
        <p:nvSpPr>
          <p:cNvPr id="17" name="ZoneTexte 16">
            <a:extLst>
              <a:ext uri="{FF2B5EF4-FFF2-40B4-BE49-F238E27FC236}">
                <a16:creationId xmlns:a16="http://schemas.microsoft.com/office/drawing/2014/main" id="{6980B733-A340-863A-7F91-2FE942930316}"/>
              </a:ext>
            </a:extLst>
          </p:cNvPr>
          <p:cNvSpPr txBox="1"/>
          <p:nvPr/>
        </p:nvSpPr>
        <p:spPr>
          <a:xfrm>
            <a:off x="292658" y="373579"/>
            <a:ext cx="5091344" cy="369332"/>
          </a:xfrm>
          <a:prstGeom prst="rect">
            <a:avLst/>
          </a:prstGeom>
          <a:noFill/>
        </p:spPr>
        <p:txBody>
          <a:bodyPr wrap="square">
            <a:spAutoFit/>
          </a:bodyPr>
          <a:lstStyle/>
          <a:p>
            <a:r>
              <a:rPr lang="en-US" noProof="0" dirty="0"/>
              <a:t>Example</a:t>
            </a:r>
          </a:p>
        </p:txBody>
      </p:sp>
      <p:pic>
        <p:nvPicPr>
          <p:cNvPr id="19" name="Graphique 18" descr="Signe de la main avec un remplissage uni">
            <a:extLst>
              <a:ext uri="{FF2B5EF4-FFF2-40B4-BE49-F238E27FC236}">
                <a16:creationId xmlns:a16="http://schemas.microsoft.com/office/drawing/2014/main" id="{68665A02-863B-CD57-7443-C5B22C9FCBF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87658" y="3788244"/>
            <a:ext cx="552156" cy="552156"/>
          </a:xfrm>
          <a:prstGeom prst="rect">
            <a:avLst/>
          </a:prstGeom>
        </p:spPr>
      </p:pic>
      <p:sp>
        <p:nvSpPr>
          <p:cNvPr id="20" name="ZoneTexte 19">
            <a:extLst>
              <a:ext uri="{FF2B5EF4-FFF2-40B4-BE49-F238E27FC236}">
                <a16:creationId xmlns:a16="http://schemas.microsoft.com/office/drawing/2014/main" id="{1D0EC95B-D9C2-EE12-9FA2-45BB7F4321EC}"/>
              </a:ext>
            </a:extLst>
          </p:cNvPr>
          <p:cNvSpPr txBox="1"/>
          <p:nvPr/>
        </p:nvSpPr>
        <p:spPr>
          <a:xfrm>
            <a:off x="2504029" y="3879656"/>
            <a:ext cx="1643605" cy="369332"/>
          </a:xfrm>
          <a:prstGeom prst="rect">
            <a:avLst/>
          </a:prstGeom>
          <a:noFill/>
        </p:spPr>
        <p:txBody>
          <a:bodyPr wrap="square" rtlCol="0">
            <a:spAutoFit/>
          </a:bodyPr>
          <a:lstStyle/>
          <a:p>
            <a:r>
              <a:rPr lang="en-US" noProof="0" dirty="0">
                <a:solidFill>
                  <a:srgbClr val="980602"/>
                </a:solidFill>
              </a:rPr>
              <a:t>Say « Hello »</a:t>
            </a:r>
          </a:p>
        </p:txBody>
      </p:sp>
      <p:pic>
        <p:nvPicPr>
          <p:cNvPr id="22" name="Graphique 21" descr="Système solaire avec un remplissage uni">
            <a:extLst>
              <a:ext uri="{FF2B5EF4-FFF2-40B4-BE49-F238E27FC236}">
                <a16:creationId xmlns:a16="http://schemas.microsoft.com/office/drawing/2014/main" id="{BC34452F-F1D3-D550-0453-3EDFE6525AC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602045" y="3556227"/>
            <a:ext cx="914400" cy="914400"/>
          </a:xfrm>
          <a:prstGeom prst="rect">
            <a:avLst/>
          </a:prstGeom>
        </p:spPr>
      </p:pic>
      <p:sp>
        <p:nvSpPr>
          <p:cNvPr id="23" name="ZoneTexte 22">
            <a:extLst>
              <a:ext uri="{FF2B5EF4-FFF2-40B4-BE49-F238E27FC236}">
                <a16:creationId xmlns:a16="http://schemas.microsoft.com/office/drawing/2014/main" id="{D2465578-85D3-21A6-F8B7-92C06A3A9DF8}"/>
              </a:ext>
            </a:extLst>
          </p:cNvPr>
          <p:cNvSpPr txBox="1"/>
          <p:nvPr/>
        </p:nvSpPr>
        <p:spPr>
          <a:xfrm>
            <a:off x="6516445" y="3705058"/>
            <a:ext cx="2743200" cy="646331"/>
          </a:xfrm>
          <a:prstGeom prst="rect">
            <a:avLst/>
          </a:prstGeom>
          <a:noFill/>
        </p:spPr>
        <p:txBody>
          <a:bodyPr wrap="square" rtlCol="0">
            <a:spAutoFit/>
          </a:bodyPr>
          <a:lstStyle/>
          <a:p>
            <a:pPr algn="ctr"/>
            <a:r>
              <a:rPr lang="en-US" noProof="0" dirty="0">
                <a:solidFill>
                  <a:srgbClr val="980602"/>
                </a:solidFill>
              </a:rPr>
              <a:t>Calculate the number of atoms in the universe </a:t>
            </a:r>
          </a:p>
        </p:txBody>
      </p:sp>
      <p:pic>
        <p:nvPicPr>
          <p:cNvPr id="24" name="Graphique 23" descr="Tête avec engrenages avec un remplissage uni">
            <a:extLst>
              <a:ext uri="{FF2B5EF4-FFF2-40B4-BE49-F238E27FC236}">
                <a16:creationId xmlns:a16="http://schemas.microsoft.com/office/drawing/2014/main" id="{C1137228-9CE2-DF24-E202-F7C07FD9255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926802" y="5999729"/>
            <a:ext cx="914400" cy="914400"/>
          </a:xfrm>
          <a:prstGeom prst="rect">
            <a:avLst/>
          </a:prstGeom>
        </p:spPr>
      </p:pic>
    </p:spTree>
    <p:extLst>
      <p:ext uri="{BB962C8B-B14F-4D97-AF65-F5344CB8AC3E}">
        <p14:creationId xmlns:p14="http://schemas.microsoft.com/office/powerpoint/2010/main" val="40674573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1000"/>
                                        <p:tgtEl>
                                          <p:spTgt spid="19"/>
                                        </p:tgtEl>
                                      </p:cBhvr>
                                    </p:animEffect>
                                    <p:anim calcmode="lin" valueType="num">
                                      <p:cBhvr>
                                        <p:cTn id="8" dur="1000" fill="hold"/>
                                        <p:tgtEl>
                                          <p:spTgt spid="19"/>
                                        </p:tgtEl>
                                        <p:attrNameLst>
                                          <p:attrName>ppt_x</p:attrName>
                                        </p:attrNameLst>
                                      </p:cBhvr>
                                      <p:tavLst>
                                        <p:tav tm="0">
                                          <p:val>
                                            <p:strVal val="#ppt_x"/>
                                          </p:val>
                                        </p:tav>
                                        <p:tav tm="100000">
                                          <p:val>
                                            <p:strVal val="#ppt_x"/>
                                          </p:val>
                                        </p:tav>
                                      </p:tavLst>
                                    </p:anim>
                                    <p:anim calcmode="lin" valueType="num">
                                      <p:cBhvr>
                                        <p:cTn id="9" dur="1000" fill="hold"/>
                                        <p:tgtEl>
                                          <p:spTgt spid="19"/>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1000"/>
                                        <p:tgtEl>
                                          <p:spTgt spid="20"/>
                                        </p:tgtEl>
                                      </p:cBhvr>
                                    </p:animEffect>
                                    <p:anim calcmode="lin" valueType="num">
                                      <p:cBhvr>
                                        <p:cTn id="13" dur="1000" fill="hold"/>
                                        <p:tgtEl>
                                          <p:spTgt spid="20"/>
                                        </p:tgtEl>
                                        <p:attrNameLst>
                                          <p:attrName>ppt_x</p:attrName>
                                        </p:attrNameLst>
                                      </p:cBhvr>
                                      <p:tavLst>
                                        <p:tav tm="0">
                                          <p:val>
                                            <p:strVal val="#ppt_x"/>
                                          </p:val>
                                        </p:tav>
                                        <p:tav tm="100000">
                                          <p:val>
                                            <p:strVal val="#ppt_x"/>
                                          </p:val>
                                        </p:tav>
                                      </p:tavLst>
                                    </p:anim>
                                    <p:anim calcmode="lin" valueType="num">
                                      <p:cBhvr>
                                        <p:cTn id="14"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7" presetClass="entr" presetSubtype="0" fill="hold" nodeType="click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1000"/>
                                        <p:tgtEl>
                                          <p:spTgt spid="22"/>
                                        </p:tgtEl>
                                      </p:cBhvr>
                                    </p:animEffect>
                                    <p:anim calcmode="lin" valueType="num">
                                      <p:cBhvr>
                                        <p:cTn id="20" dur="1000" fill="hold"/>
                                        <p:tgtEl>
                                          <p:spTgt spid="22"/>
                                        </p:tgtEl>
                                        <p:attrNameLst>
                                          <p:attrName>ppt_x</p:attrName>
                                        </p:attrNameLst>
                                      </p:cBhvr>
                                      <p:tavLst>
                                        <p:tav tm="0">
                                          <p:val>
                                            <p:strVal val="#ppt_x"/>
                                          </p:val>
                                        </p:tav>
                                        <p:tav tm="100000">
                                          <p:val>
                                            <p:strVal val="#ppt_x"/>
                                          </p:val>
                                        </p:tav>
                                      </p:tavLst>
                                    </p:anim>
                                    <p:anim calcmode="lin" valueType="num">
                                      <p:cBhvr>
                                        <p:cTn id="21" dur="1000" fill="hold"/>
                                        <p:tgtEl>
                                          <p:spTgt spid="22"/>
                                        </p:tgtEl>
                                        <p:attrNameLst>
                                          <p:attrName>ppt_y</p:attrName>
                                        </p:attrNameLst>
                                      </p:cBhvr>
                                      <p:tavLst>
                                        <p:tav tm="0">
                                          <p:val>
                                            <p:strVal val="#ppt_y-.1"/>
                                          </p:val>
                                        </p:tav>
                                        <p:tav tm="100000">
                                          <p:val>
                                            <p:strVal val="#ppt_y"/>
                                          </p:val>
                                        </p:tav>
                                      </p:tavLst>
                                    </p:anim>
                                  </p:childTnLst>
                                </p:cTn>
                              </p:par>
                              <p:par>
                                <p:cTn id="22" presetID="47" presetClass="entr" presetSubtype="0" fill="hold" grpId="0"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1000"/>
                                        <p:tgtEl>
                                          <p:spTgt spid="23"/>
                                        </p:tgtEl>
                                      </p:cBhvr>
                                    </p:animEffect>
                                    <p:anim calcmode="lin" valueType="num">
                                      <p:cBhvr>
                                        <p:cTn id="25" dur="1000" fill="hold"/>
                                        <p:tgtEl>
                                          <p:spTgt spid="23"/>
                                        </p:tgtEl>
                                        <p:attrNameLst>
                                          <p:attrName>ppt_x</p:attrName>
                                        </p:attrNameLst>
                                      </p:cBhvr>
                                      <p:tavLst>
                                        <p:tav tm="0">
                                          <p:val>
                                            <p:strVal val="#ppt_x"/>
                                          </p:val>
                                        </p:tav>
                                        <p:tav tm="100000">
                                          <p:val>
                                            <p:strVal val="#ppt_x"/>
                                          </p:val>
                                        </p:tav>
                                      </p:tavLst>
                                    </p:anim>
                                    <p:anim calcmode="lin" valueType="num">
                                      <p:cBhvr>
                                        <p:cTn id="26"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43588-1D30-55F7-7FD1-205E9E2DCC5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30380DE-741B-CD07-36B5-2FE48C843099}"/>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Overview of the current architecture </a:t>
            </a:r>
            <a:endParaRPr lang="en-US" sz="2000" noProof="0" dirty="0">
              <a:solidFill>
                <a:srgbClr val="000000"/>
              </a:solidFill>
            </a:endParaRPr>
          </a:p>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endParaRPr lang="en-US" sz="2000" b="0" u="none" strike="noStrike" noProof="0" dirty="0">
              <a:solidFill>
                <a:srgbClr val="000000"/>
              </a:solidFill>
              <a:effectLst/>
              <a:uFillTx/>
              <a:latin typeface="Arial"/>
            </a:endParaRPr>
          </a:p>
        </p:txBody>
      </p:sp>
      <p:pic>
        <p:nvPicPr>
          <p:cNvPr id="6" name="Graphique 5" descr="Boîte à archives avec un remplissage uni">
            <a:extLst>
              <a:ext uri="{FF2B5EF4-FFF2-40B4-BE49-F238E27FC236}">
                <a16:creationId xmlns:a16="http://schemas.microsoft.com/office/drawing/2014/main" id="{9620D7D5-624F-165E-1DF3-4CA6EC89F78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2658" y="2573665"/>
            <a:ext cx="875341" cy="875341"/>
          </a:xfrm>
          <a:prstGeom prst="rect">
            <a:avLst/>
          </a:prstGeom>
        </p:spPr>
      </p:pic>
      <p:pic>
        <p:nvPicPr>
          <p:cNvPr id="8" name="Graphique 7" descr="Papier avec un remplissage uni">
            <a:extLst>
              <a:ext uri="{FF2B5EF4-FFF2-40B4-BE49-F238E27FC236}">
                <a16:creationId xmlns:a16="http://schemas.microsoft.com/office/drawing/2014/main" id="{4E94573E-5909-C251-8F26-FCD6DBB1C70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7978" y="1178712"/>
            <a:ext cx="804700" cy="804700"/>
          </a:xfrm>
          <a:prstGeom prst="rect">
            <a:avLst/>
          </a:prstGeom>
        </p:spPr>
      </p:pic>
      <p:sp>
        <p:nvSpPr>
          <p:cNvPr id="9" name="Espace réservé du numéro de diapositive 3">
            <a:extLst>
              <a:ext uri="{FF2B5EF4-FFF2-40B4-BE49-F238E27FC236}">
                <a16:creationId xmlns:a16="http://schemas.microsoft.com/office/drawing/2014/main" id="{58792C97-E2CB-B06E-5F5B-529BA8E6E8A9}"/>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6</a:t>
            </a:fld>
            <a:endParaRPr lang="en-US" sz="1200" noProof="0" dirty="0"/>
          </a:p>
        </p:txBody>
      </p:sp>
      <p:sp>
        <p:nvSpPr>
          <p:cNvPr id="17" name="ZoneTexte 16">
            <a:extLst>
              <a:ext uri="{FF2B5EF4-FFF2-40B4-BE49-F238E27FC236}">
                <a16:creationId xmlns:a16="http://schemas.microsoft.com/office/drawing/2014/main" id="{CD73F7CE-6AA8-C4D7-4DD6-12843C70AD5B}"/>
              </a:ext>
            </a:extLst>
          </p:cNvPr>
          <p:cNvSpPr txBox="1"/>
          <p:nvPr/>
        </p:nvSpPr>
        <p:spPr>
          <a:xfrm>
            <a:off x="292658" y="373579"/>
            <a:ext cx="5091344" cy="369332"/>
          </a:xfrm>
          <a:prstGeom prst="rect">
            <a:avLst/>
          </a:prstGeom>
          <a:noFill/>
        </p:spPr>
        <p:txBody>
          <a:bodyPr wrap="square">
            <a:spAutoFit/>
          </a:bodyPr>
          <a:lstStyle/>
          <a:p>
            <a:r>
              <a:rPr lang="en-US" noProof="0" dirty="0"/>
              <a:t>Example</a:t>
            </a:r>
          </a:p>
        </p:txBody>
      </p:sp>
      <p:pic>
        <p:nvPicPr>
          <p:cNvPr id="5" name="Graphique 4" descr="Tête avec engrenages avec un remplissage uni">
            <a:extLst>
              <a:ext uri="{FF2B5EF4-FFF2-40B4-BE49-F238E27FC236}">
                <a16:creationId xmlns:a16="http://schemas.microsoft.com/office/drawing/2014/main" id="{E5BB6C1C-3209-448B-1277-9E9A8DB138C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26802" y="4196760"/>
            <a:ext cx="914400" cy="914400"/>
          </a:xfrm>
          <a:prstGeom prst="rect">
            <a:avLst/>
          </a:prstGeom>
        </p:spPr>
      </p:pic>
      <p:sp>
        <p:nvSpPr>
          <p:cNvPr id="7" name="ZoneTexte 6">
            <a:extLst>
              <a:ext uri="{FF2B5EF4-FFF2-40B4-BE49-F238E27FC236}">
                <a16:creationId xmlns:a16="http://schemas.microsoft.com/office/drawing/2014/main" id="{024B8331-D6E3-71C3-C0CF-6B20A1A114A3}"/>
              </a:ext>
            </a:extLst>
          </p:cNvPr>
          <p:cNvSpPr txBox="1"/>
          <p:nvPr/>
        </p:nvSpPr>
        <p:spPr>
          <a:xfrm>
            <a:off x="4562199" y="5112305"/>
            <a:ext cx="1643605" cy="369332"/>
          </a:xfrm>
          <a:prstGeom prst="rect">
            <a:avLst/>
          </a:prstGeom>
          <a:noFill/>
        </p:spPr>
        <p:txBody>
          <a:bodyPr wrap="square" rtlCol="0">
            <a:spAutoFit/>
          </a:bodyPr>
          <a:lstStyle/>
          <a:p>
            <a:pPr algn="ctr"/>
            <a:r>
              <a:rPr lang="en-US" noProof="0" dirty="0">
                <a:solidFill>
                  <a:srgbClr val="980602"/>
                </a:solidFill>
              </a:rPr>
              <a:t>48</a:t>
            </a:r>
          </a:p>
        </p:txBody>
      </p:sp>
      <p:sp>
        <p:nvSpPr>
          <p:cNvPr id="12" name="ZoneTexte 11">
            <a:extLst>
              <a:ext uri="{FF2B5EF4-FFF2-40B4-BE49-F238E27FC236}">
                <a16:creationId xmlns:a16="http://schemas.microsoft.com/office/drawing/2014/main" id="{BDE25B1B-8C95-F458-205D-509D9621C9FD}"/>
              </a:ext>
            </a:extLst>
          </p:cNvPr>
          <p:cNvSpPr txBox="1"/>
          <p:nvPr/>
        </p:nvSpPr>
        <p:spPr>
          <a:xfrm>
            <a:off x="1333294" y="1473622"/>
            <a:ext cx="437672" cy="369332"/>
          </a:xfrm>
          <a:prstGeom prst="rect">
            <a:avLst/>
          </a:prstGeom>
          <a:noFill/>
        </p:spPr>
        <p:txBody>
          <a:bodyPr wrap="square" rtlCol="0">
            <a:spAutoFit/>
          </a:bodyPr>
          <a:lstStyle/>
          <a:p>
            <a:pPr algn="ctr"/>
            <a:r>
              <a:rPr lang="en-US" noProof="0" dirty="0">
                <a:solidFill>
                  <a:srgbClr val="980602"/>
                </a:solidFill>
              </a:rPr>
              <a:t>1</a:t>
            </a:r>
          </a:p>
        </p:txBody>
      </p:sp>
      <p:sp>
        <p:nvSpPr>
          <p:cNvPr id="13" name="ZoneTexte 12">
            <a:extLst>
              <a:ext uri="{FF2B5EF4-FFF2-40B4-BE49-F238E27FC236}">
                <a16:creationId xmlns:a16="http://schemas.microsoft.com/office/drawing/2014/main" id="{688E6673-98C9-62B3-F114-0D94024B3940}"/>
              </a:ext>
            </a:extLst>
          </p:cNvPr>
          <p:cNvSpPr txBox="1"/>
          <p:nvPr/>
        </p:nvSpPr>
        <p:spPr>
          <a:xfrm>
            <a:off x="1114459" y="2826669"/>
            <a:ext cx="875341" cy="369332"/>
          </a:xfrm>
          <a:prstGeom prst="rect">
            <a:avLst/>
          </a:prstGeom>
          <a:noFill/>
        </p:spPr>
        <p:txBody>
          <a:bodyPr wrap="square" rtlCol="0">
            <a:spAutoFit/>
          </a:bodyPr>
          <a:lstStyle/>
          <a:p>
            <a:pPr algn="ctr"/>
            <a:r>
              <a:rPr lang="en-US" dirty="0">
                <a:solidFill>
                  <a:srgbClr val="980602"/>
                </a:solidFill>
              </a:rPr>
              <a:t>10</a:t>
            </a:r>
            <a:r>
              <a:rPr lang="en-US" noProof="0" dirty="0">
                <a:solidFill>
                  <a:srgbClr val="980602"/>
                </a:solidFill>
              </a:rPr>
              <a:t>00</a:t>
            </a:r>
          </a:p>
        </p:txBody>
      </p:sp>
      <p:cxnSp>
        <p:nvCxnSpPr>
          <p:cNvPr id="21" name="Connecteur droit avec flèche 20">
            <a:extLst>
              <a:ext uri="{FF2B5EF4-FFF2-40B4-BE49-F238E27FC236}">
                <a16:creationId xmlns:a16="http://schemas.microsoft.com/office/drawing/2014/main" id="{10D99BC7-58D8-7A45-CE76-43B043C302D5}"/>
              </a:ext>
            </a:extLst>
          </p:cNvPr>
          <p:cNvCxnSpPr/>
          <p:nvPr/>
        </p:nvCxnSpPr>
        <p:spPr>
          <a:xfrm>
            <a:off x="1853613" y="1658288"/>
            <a:ext cx="578734" cy="0"/>
          </a:xfrm>
          <a:prstGeom prst="straightConnector1">
            <a:avLst/>
          </a:prstGeom>
          <a:ln w="57150">
            <a:solidFill>
              <a:srgbClr val="980602"/>
            </a:solidFill>
            <a:tailEnd type="triangle"/>
          </a:ln>
        </p:spPr>
        <p:style>
          <a:lnRef idx="1">
            <a:schemeClr val="accent1"/>
          </a:lnRef>
          <a:fillRef idx="0">
            <a:schemeClr val="accent1"/>
          </a:fillRef>
          <a:effectRef idx="0">
            <a:schemeClr val="accent1"/>
          </a:effectRef>
          <a:fontRef idx="minor">
            <a:schemeClr val="tx1"/>
          </a:fontRef>
        </p:style>
      </p:cxnSp>
      <p:sp>
        <p:nvSpPr>
          <p:cNvPr id="24" name="ZoneTexte 23">
            <a:extLst>
              <a:ext uri="{FF2B5EF4-FFF2-40B4-BE49-F238E27FC236}">
                <a16:creationId xmlns:a16="http://schemas.microsoft.com/office/drawing/2014/main" id="{551909B7-2774-0070-55F0-3BBD6AF007DD}"/>
              </a:ext>
            </a:extLst>
          </p:cNvPr>
          <p:cNvSpPr txBox="1"/>
          <p:nvPr/>
        </p:nvSpPr>
        <p:spPr>
          <a:xfrm>
            <a:off x="2514994" y="1473622"/>
            <a:ext cx="437672" cy="369332"/>
          </a:xfrm>
          <a:prstGeom prst="rect">
            <a:avLst/>
          </a:prstGeom>
          <a:noFill/>
        </p:spPr>
        <p:txBody>
          <a:bodyPr wrap="square" rtlCol="0">
            <a:spAutoFit/>
          </a:bodyPr>
          <a:lstStyle/>
          <a:p>
            <a:r>
              <a:rPr lang="en-US" noProof="0" dirty="0">
                <a:solidFill>
                  <a:srgbClr val="980602"/>
                </a:solidFill>
              </a:rPr>
              <a:t>48</a:t>
            </a:r>
          </a:p>
        </p:txBody>
      </p:sp>
      <p:cxnSp>
        <p:nvCxnSpPr>
          <p:cNvPr id="25" name="Connecteur droit avec flèche 24">
            <a:extLst>
              <a:ext uri="{FF2B5EF4-FFF2-40B4-BE49-F238E27FC236}">
                <a16:creationId xmlns:a16="http://schemas.microsoft.com/office/drawing/2014/main" id="{6E30154E-B305-6850-76F5-E7A1DC66415F}"/>
              </a:ext>
            </a:extLst>
          </p:cNvPr>
          <p:cNvCxnSpPr/>
          <p:nvPr/>
        </p:nvCxnSpPr>
        <p:spPr>
          <a:xfrm>
            <a:off x="1901033" y="3011335"/>
            <a:ext cx="578734" cy="0"/>
          </a:xfrm>
          <a:prstGeom prst="straightConnector1">
            <a:avLst/>
          </a:prstGeom>
          <a:ln w="57150">
            <a:solidFill>
              <a:srgbClr val="980602"/>
            </a:solidFill>
            <a:tailEnd type="triangle"/>
          </a:ln>
        </p:spPr>
        <p:style>
          <a:lnRef idx="1">
            <a:schemeClr val="accent1"/>
          </a:lnRef>
          <a:fillRef idx="0">
            <a:schemeClr val="accent1"/>
          </a:fillRef>
          <a:effectRef idx="0">
            <a:schemeClr val="accent1"/>
          </a:effectRef>
          <a:fontRef idx="minor">
            <a:schemeClr val="tx1"/>
          </a:fontRef>
        </p:style>
      </p:cxnSp>
      <p:sp>
        <p:nvSpPr>
          <p:cNvPr id="26" name="ZoneTexte 25">
            <a:extLst>
              <a:ext uri="{FF2B5EF4-FFF2-40B4-BE49-F238E27FC236}">
                <a16:creationId xmlns:a16="http://schemas.microsoft.com/office/drawing/2014/main" id="{24A35340-C0E3-3B2D-D1AE-A967518EED90}"/>
              </a:ext>
            </a:extLst>
          </p:cNvPr>
          <p:cNvSpPr txBox="1"/>
          <p:nvPr/>
        </p:nvSpPr>
        <p:spPr>
          <a:xfrm>
            <a:off x="2514994" y="2826669"/>
            <a:ext cx="1989072" cy="369332"/>
          </a:xfrm>
          <a:prstGeom prst="rect">
            <a:avLst/>
          </a:prstGeom>
          <a:noFill/>
        </p:spPr>
        <p:txBody>
          <a:bodyPr wrap="square" rtlCol="0">
            <a:spAutoFit/>
          </a:bodyPr>
          <a:lstStyle/>
          <a:p>
            <a:r>
              <a:rPr lang="en-US" noProof="0" dirty="0">
                <a:solidFill>
                  <a:srgbClr val="980602"/>
                </a:solidFill>
              </a:rPr>
              <a:t>48 x 21 = 1008</a:t>
            </a:r>
          </a:p>
        </p:txBody>
      </p:sp>
      <p:sp>
        <p:nvSpPr>
          <p:cNvPr id="27" name="ZoneTexte 26">
            <a:extLst>
              <a:ext uri="{FF2B5EF4-FFF2-40B4-BE49-F238E27FC236}">
                <a16:creationId xmlns:a16="http://schemas.microsoft.com/office/drawing/2014/main" id="{769F0B16-F8A3-03BF-E855-ABAD3607F58A}"/>
              </a:ext>
            </a:extLst>
          </p:cNvPr>
          <p:cNvSpPr txBox="1"/>
          <p:nvPr/>
        </p:nvSpPr>
        <p:spPr>
          <a:xfrm>
            <a:off x="4389465" y="3826283"/>
            <a:ext cx="1989072" cy="369332"/>
          </a:xfrm>
          <a:prstGeom prst="rect">
            <a:avLst/>
          </a:prstGeom>
          <a:noFill/>
        </p:spPr>
        <p:txBody>
          <a:bodyPr wrap="square" rtlCol="0">
            <a:spAutoFit/>
          </a:bodyPr>
          <a:lstStyle/>
          <a:p>
            <a:pPr algn="ctr"/>
            <a:r>
              <a:rPr lang="en-US" noProof="0" dirty="0">
                <a:solidFill>
                  <a:srgbClr val="980602"/>
                </a:solidFill>
              </a:rPr>
              <a:t>Max : 2304 = 48²</a:t>
            </a:r>
          </a:p>
        </p:txBody>
      </p:sp>
      <p:sp>
        <p:nvSpPr>
          <p:cNvPr id="28" name="ZoneTexte 27">
            <a:extLst>
              <a:ext uri="{FF2B5EF4-FFF2-40B4-BE49-F238E27FC236}">
                <a16:creationId xmlns:a16="http://schemas.microsoft.com/office/drawing/2014/main" id="{75239844-37D9-D40D-C719-5BAD53B3DA2F}"/>
              </a:ext>
            </a:extLst>
          </p:cNvPr>
          <p:cNvSpPr txBox="1"/>
          <p:nvPr/>
        </p:nvSpPr>
        <p:spPr>
          <a:xfrm>
            <a:off x="1237487" y="3226778"/>
            <a:ext cx="394543" cy="307777"/>
          </a:xfrm>
          <a:prstGeom prst="rect">
            <a:avLst/>
          </a:prstGeom>
          <a:noFill/>
        </p:spPr>
        <p:txBody>
          <a:bodyPr wrap="square" rtlCol="0">
            <a:spAutoFit/>
          </a:bodyPr>
          <a:lstStyle/>
          <a:p>
            <a:r>
              <a:rPr lang="en-US" sz="1400" noProof="0" dirty="0">
                <a:solidFill>
                  <a:srgbClr val="980602"/>
                </a:solidFill>
              </a:rPr>
              <a:t>2h</a:t>
            </a:r>
          </a:p>
        </p:txBody>
      </p:sp>
      <p:sp>
        <p:nvSpPr>
          <p:cNvPr id="29" name="ZoneTexte 28">
            <a:extLst>
              <a:ext uri="{FF2B5EF4-FFF2-40B4-BE49-F238E27FC236}">
                <a16:creationId xmlns:a16="http://schemas.microsoft.com/office/drawing/2014/main" id="{562C3ED3-536E-5FBE-073D-707AD7AB2E27}"/>
              </a:ext>
            </a:extLst>
          </p:cNvPr>
          <p:cNvSpPr txBox="1"/>
          <p:nvPr/>
        </p:nvSpPr>
        <p:spPr>
          <a:xfrm>
            <a:off x="1026870" y="1815568"/>
            <a:ext cx="1050518" cy="307777"/>
          </a:xfrm>
          <a:prstGeom prst="rect">
            <a:avLst/>
          </a:prstGeom>
          <a:noFill/>
        </p:spPr>
        <p:txBody>
          <a:bodyPr wrap="square" rtlCol="0">
            <a:spAutoFit/>
          </a:bodyPr>
          <a:lstStyle/>
          <a:p>
            <a:pPr algn="ctr"/>
            <a:r>
              <a:rPr lang="en-US" sz="1400" noProof="0" dirty="0">
                <a:solidFill>
                  <a:srgbClr val="980602"/>
                </a:solidFill>
              </a:rPr>
              <a:t>immediate</a:t>
            </a:r>
          </a:p>
        </p:txBody>
      </p:sp>
      <p:sp>
        <p:nvSpPr>
          <p:cNvPr id="30" name="ZoneTexte 29">
            <a:extLst>
              <a:ext uri="{FF2B5EF4-FFF2-40B4-BE49-F238E27FC236}">
                <a16:creationId xmlns:a16="http://schemas.microsoft.com/office/drawing/2014/main" id="{4FEA05FD-AC0A-81C0-772E-97FE62CB2FE4}"/>
              </a:ext>
            </a:extLst>
          </p:cNvPr>
          <p:cNvSpPr txBox="1"/>
          <p:nvPr/>
        </p:nvSpPr>
        <p:spPr>
          <a:xfrm>
            <a:off x="2251021" y="1830956"/>
            <a:ext cx="1050518" cy="307777"/>
          </a:xfrm>
          <a:prstGeom prst="rect">
            <a:avLst/>
          </a:prstGeom>
          <a:noFill/>
        </p:spPr>
        <p:txBody>
          <a:bodyPr wrap="square" rtlCol="0">
            <a:spAutoFit/>
          </a:bodyPr>
          <a:lstStyle/>
          <a:p>
            <a:pPr algn="ctr"/>
            <a:r>
              <a:rPr lang="en-US" sz="1400" noProof="0" dirty="0">
                <a:solidFill>
                  <a:srgbClr val="980602"/>
                </a:solidFill>
              </a:rPr>
              <a:t>immediate</a:t>
            </a:r>
          </a:p>
        </p:txBody>
      </p:sp>
      <p:sp>
        <p:nvSpPr>
          <p:cNvPr id="31" name="ZoneTexte 30">
            <a:extLst>
              <a:ext uri="{FF2B5EF4-FFF2-40B4-BE49-F238E27FC236}">
                <a16:creationId xmlns:a16="http://schemas.microsoft.com/office/drawing/2014/main" id="{81B1B3DE-E1D4-D348-6A55-E930350A5816}"/>
              </a:ext>
            </a:extLst>
          </p:cNvPr>
          <p:cNvSpPr txBox="1"/>
          <p:nvPr/>
        </p:nvSpPr>
        <p:spPr>
          <a:xfrm>
            <a:off x="2282863" y="3226778"/>
            <a:ext cx="669803" cy="307777"/>
          </a:xfrm>
          <a:prstGeom prst="rect">
            <a:avLst/>
          </a:prstGeom>
          <a:noFill/>
        </p:spPr>
        <p:txBody>
          <a:bodyPr wrap="square" rtlCol="0">
            <a:spAutoFit/>
          </a:bodyPr>
          <a:lstStyle/>
          <a:p>
            <a:r>
              <a:rPr lang="en-US" sz="1400" noProof="0" dirty="0">
                <a:solidFill>
                  <a:srgbClr val="980602"/>
                </a:solidFill>
              </a:rPr>
              <a:t>1h58</a:t>
            </a:r>
          </a:p>
        </p:txBody>
      </p:sp>
      <p:sp>
        <p:nvSpPr>
          <p:cNvPr id="32" name="Ellipse 31">
            <a:extLst>
              <a:ext uri="{FF2B5EF4-FFF2-40B4-BE49-F238E27FC236}">
                <a16:creationId xmlns:a16="http://schemas.microsoft.com/office/drawing/2014/main" id="{B04F2502-943A-4FB3-B77D-AE66088F4B64}"/>
              </a:ext>
            </a:extLst>
          </p:cNvPr>
          <p:cNvSpPr/>
          <p:nvPr/>
        </p:nvSpPr>
        <p:spPr>
          <a:xfrm>
            <a:off x="-2100873" y="3673978"/>
            <a:ext cx="1043274" cy="1043274"/>
          </a:xfrm>
          <a:prstGeom prst="ellipse">
            <a:avLst/>
          </a:prstGeom>
          <a:no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ZoneTexte 32">
            <a:extLst>
              <a:ext uri="{FF2B5EF4-FFF2-40B4-BE49-F238E27FC236}">
                <a16:creationId xmlns:a16="http://schemas.microsoft.com/office/drawing/2014/main" id="{8147D8DD-019C-5AB5-44A8-662B1843F00C}"/>
              </a:ext>
            </a:extLst>
          </p:cNvPr>
          <p:cNvSpPr txBox="1"/>
          <p:nvPr/>
        </p:nvSpPr>
        <p:spPr>
          <a:xfrm>
            <a:off x="-2764729" y="4778696"/>
            <a:ext cx="2566768" cy="584775"/>
          </a:xfrm>
          <a:prstGeom prst="rect">
            <a:avLst/>
          </a:prstGeom>
          <a:noFill/>
        </p:spPr>
        <p:txBody>
          <a:bodyPr wrap="square" rtlCol="0">
            <a:spAutoFit/>
          </a:bodyPr>
          <a:lstStyle/>
          <a:p>
            <a:pPr algn="ctr"/>
            <a:r>
              <a:rPr lang="en-US" sz="1600" noProof="0" dirty="0">
                <a:solidFill>
                  <a:srgbClr val="980602"/>
                </a:solidFill>
              </a:rPr>
              <a:t>Existing </a:t>
            </a:r>
            <a:r>
              <a:rPr lang="en-US" sz="1600" noProof="0" dirty="0" err="1">
                <a:solidFill>
                  <a:srgbClr val="980602"/>
                </a:solidFill>
              </a:rPr>
              <a:t>autolauncher</a:t>
            </a:r>
            <a:r>
              <a:rPr lang="en-US" sz="1600" noProof="0" dirty="0">
                <a:solidFill>
                  <a:srgbClr val="980602"/>
                </a:solidFill>
              </a:rPr>
              <a:t> is</a:t>
            </a:r>
            <a:r>
              <a:rPr lang="en-US" sz="1600" dirty="0">
                <a:solidFill>
                  <a:srgbClr val="980602"/>
                </a:solidFill>
              </a:rPr>
              <a:t> functional but</a:t>
            </a:r>
            <a:r>
              <a:rPr lang="en-US" sz="1600" noProof="0" dirty="0">
                <a:solidFill>
                  <a:srgbClr val="980602"/>
                </a:solidFill>
              </a:rPr>
              <a:t> unoptimized</a:t>
            </a:r>
          </a:p>
        </p:txBody>
      </p:sp>
      <p:pic>
        <p:nvPicPr>
          <p:cNvPr id="34" name="Graphique 33" descr="Fusée avec un remplissage uni">
            <a:extLst>
              <a:ext uri="{FF2B5EF4-FFF2-40B4-BE49-F238E27FC236}">
                <a16:creationId xmlns:a16="http://schemas.microsoft.com/office/drawing/2014/main" id="{F9A92E01-2E4B-1EDA-9104-97D66156DB5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93195" y="3881656"/>
            <a:ext cx="627917" cy="627917"/>
          </a:xfrm>
          <a:prstGeom prst="rect">
            <a:avLst/>
          </a:prstGeom>
        </p:spPr>
      </p:pic>
      <p:pic>
        <p:nvPicPr>
          <p:cNvPr id="35" name="Graphique 34" descr="Papier avec un remplissage uni">
            <a:extLst>
              <a:ext uri="{FF2B5EF4-FFF2-40B4-BE49-F238E27FC236}">
                <a16:creationId xmlns:a16="http://schemas.microsoft.com/office/drawing/2014/main" id="{D8D75F07-6D76-DD72-282D-0232E9F3CCD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297738" y="1178712"/>
            <a:ext cx="804700" cy="804700"/>
          </a:xfrm>
          <a:prstGeom prst="rect">
            <a:avLst/>
          </a:prstGeom>
        </p:spPr>
      </p:pic>
      <p:sp>
        <p:nvSpPr>
          <p:cNvPr id="36" name="ZoneTexte 35">
            <a:extLst>
              <a:ext uri="{FF2B5EF4-FFF2-40B4-BE49-F238E27FC236}">
                <a16:creationId xmlns:a16="http://schemas.microsoft.com/office/drawing/2014/main" id="{44407D5A-B31D-9618-C5CD-87D7292B73B6}"/>
              </a:ext>
            </a:extLst>
          </p:cNvPr>
          <p:cNvSpPr txBox="1"/>
          <p:nvPr/>
        </p:nvSpPr>
        <p:spPr>
          <a:xfrm>
            <a:off x="8058927" y="1473622"/>
            <a:ext cx="1076960" cy="369332"/>
          </a:xfrm>
          <a:prstGeom prst="rect">
            <a:avLst/>
          </a:prstGeom>
          <a:noFill/>
        </p:spPr>
        <p:txBody>
          <a:bodyPr wrap="square" rtlCol="0">
            <a:spAutoFit/>
          </a:bodyPr>
          <a:lstStyle/>
          <a:p>
            <a:r>
              <a:rPr lang="fr-FR" dirty="0"/>
              <a:t>x 48</a:t>
            </a:r>
          </a:p>
        </p:txBody>
      </p:sp>
      <p:pic>
        <p:nvPicPr>
          <p:cNvPr id="37" name="Graphique 36" descr="Boîte à archives avec un remplissage uni">
            <a:extLst>
              <a:ext uri="{FF2B5EF4-FFF2-40B4-BE49-F238E27FC236}">
                <a16:creationId xmlns:a16="http://schemas.microsoft.com/office/drawing/2014/main" id="{96E71E54-80B6-91FF-4588-80BD598A41A8}"/>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90289" y="2573665"/>
            <a:ext cx="875341" cy="875341"/>
          </a:xfrm>
          <a:prstGeom prst="rect">
            <a:avLst/>
          </a:prstGeom>
        </p:spPr>
      </p:pic>
      <p:sp>
        <p:nvSpPr>
          <p:cNvPr id="39" name="ZoneTexte 38">
            <a:extLst>
              <a:ext uri="{FF2B5EF4-FFF2-40B4-BE49-F238E27FC236}">
                <a16:creationId xmlns:a16="http://schemas.microsoft.com/office/drawing/2014/main" id="{D6F91CA4-FAAC-6538-7DAA-108F9923B64C}"/>
              </a:ext>
            </a:extLst>
          </p:cNvPr>
          <p:cNvSpPr txBox="1"/>
          <p:nvPr/>
        </p:nvSpPr>
        <p:spPr>
          <a:xfrm>
            <a:off x="7565630" y="2860964"/>
            <a:ext cx="804700" cy="369332"/>
          </a:xfrm>
          <a:prstGeom prst="rect">
            <a:avLst/>
          </a:prstGeom>
          <a:noFill/>
        </p:spPr>
        <p:txBody>
          <a:bodyPr wrap="square">
            <a:spAutoFit/>
          </a:bodyPr>
          <a:lstStyle/>
          <a:p>
            <a:r>
              <a:rPr lang="en-US" noProof="0" dirty="0"/>
              <a:t>1008</a:t>
            </a:r>
            <a:endParaRPr lang="fr-FR" dirty="0"/>
          </a:p>
        </p:txBody>
      </p:sp>
      <p:cxnSp>
        <p:nvCxnSpPr>
          <p:cNvPr id="40" name="Connecteur droit avec flèche 39">
            <a:extLst>
              <a:ext uri="{FF2B5EF4-FFF2-40B4-BE49-F238E27FC236}">
                <a16:creationId xmlns:a16="http://schemas.microsoft.com/office/drawing/2014/main" id="{F2123160-FA4F-CA73-B06D-906AB6C184D2}"/>
              </a:ext>
            </a:extLst>
          </p:cNvPr>
          <p:cNvCxnSpPr>
            <a:cxnSpLocks/>
          </p:cNvCxnSpPr>
          <p:nvPr/>
        </p:nvCxnSpPr>
        <p:spPr>
          <a:xfrm>
            <a:off x="8308040" y="3047065"/>
            <a:ext cx="355900" cy="0"/>
          </a:xfrm>
          <a:prstGeom prst="straightConnector1">
            <a:avLst/>
          </a:prstGeom>
          <a:ln w="571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2" name="ZoneTexte 41">
            <a:extLst>
              <a:ext uri="{FF2B5EF4-FFF2-40B4-BE49-F238E27FC236}">
                <a16:creationId xmlns:a16="http://schemas.microsoft.com/office/drawing/2014/main" id="{F2A8F5C7-3DAC-6D77-7D92-23BC01CC581A}"/>
              </a:ext>
            </a:extLst>
          </p:cNvPr>
          <p:cNvSpPr txBox="1"/>
          <p:nvPr/>
        </p:nvSpPr>
        <p:spPr>
          <a:xfrm>
            <a:off x="8710390" y="2857446"/>
            <a:ext cx="804700" cy="369332"/>
          </a:xfrm>
          <a:prstGeom prst="rect">
            <a:avLst/>
          </a:prstGeom>
          <a:noFill/>
        </p:spPr>
        <p:txBody>
          <a:bodyPr wrap="square">
            <a:spAutoFit/>
          </a:bodyPr>
          <a:lstStyle/>
          <a:p>
            <a:r>
              <a:rPr lang="en-US" dirty="0"/>
              <a:t>528</a:t>
            </a:r>
            <a:endParaRPr lang="fr-FR" dirty="0"/>
          </a:p>
        </p:txBody>
      </p:sp>
      <p:sp>
        <p:nvSpPr>
          <p:cNvPr id="43" name="ZoneTexte 42">
            <a:extLst>
              <a:ext uri="{FF2B5EF4-FFF2-40B4-BE49-F238E27FC236}">
                <a16:creationId xmlns:a16="http://schemas.microsoft.com/office/drawing/2014/main" id="{344CDFFD-6851-A8E9-A974-105B7F2B7051}"/>
              </a:ext>
            </a:extLst>
          </p:cNvPr>
          <p:cNvSpPr txBox="1"/>
          <p:nvPr/>
        </p:nvSpPr>
        <p:spPr>
          <a:xfrm>
            <a:off x="7845071" y="1947613"/>
            <a:ext cx="1050518" cy="307777"/>
          </a:xfrm>
          <a:prstGeom prst="rect">
            <a:avLst/>
          </a:prstGeom>
          <a:noFill/>
        </p:spPr>
        <p:txBody>
          <a:bodyPr wrap="square" rtlCol="0">
            <a:spAutoFit/>
          </a:bodyPr>
          <a:lstStyle/>
          <a:p>
            <a:pPr algn="ctr"/>
            <a:r>
              <a:rPr lang="en-US" sz="1400" noProof="0" dirty="0"/>
              <a:t>5 s</a:t>
            </a:r>
          </a:p>
        </p:txBody>
      </p:sp>
      <p:sp>
        <p:nvSpPr>
          <p:cNvPr id="44" name="ZoneTexte 43">
            <a:extLst>
              <a:ext uri="{FF2B5EF4-FFF2-40B4-BE49-F238E27FC236}">
                <a16:creationId xmlns:a16="http://schemas.microsoft.com/office/drawing/2014/main" id="{6F8B5ED8-1B9F-8EDD-7112-A2B8DF551A48}"/>
              </a:ext>
            </a:extLst>
          </p:cNvPr>
          <p:cNvSpPr txBox="1"/>
          <p:nvPr/>
        </p:nvSpPr>
        <p:spPr>
          <a:xfrm>
            <a:off x="8663160" y="3258990"/>
            <a:ext cx="1050518" cy="307777"/>
          </a:xfrm>
          <a:prstGeom prst="rect">
            <a:avLst/>
          </a:prstGeom>
          <a:noFill/>
        </p:spPr>
        <p:txBody>
          <a:bodyPr wrap="square" rtlCol="0">
            <a:spAutoFit/>
          </a:bodyPr>
          <a:lstStyle/>
          <a:p>
            <a:r>
              <a:rPr lang="en-US" sz="1400" dirty="0"/>
              <a:t>3h40</a:t>
            </a:r>
            <a:endParaRPr lang="en-US" sz="1400" noProof="0" dirty="0"/>
          </a:p>
        </p:txBody>
      </p:sp>
      <p:pic>
        <p:nvPicPr>
          <p:cNvPr id="46" name="Graphique 45" descr="Cerveau côté droit avec un remplissage uni">
            <a:extLst>
              <a:ext uri="{FF2B5EF4-FFF2-40B4-BE49-F238E27FC236}">
                <a16:creationId xmlns:a16="http://schemas.microsoft.com/office/drawing/2014/main" id="{7E0A0BDB-35AE-598B-6647-A2FFA5D30C8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463080" y="4277924"/>
            <a:ext cx="664879" cy="664879"/>
          </a:xfrm>
          <a:prstGeom prst="rect">
            <a:avLst/>
          </a:prstGeom>
        </p:spPr>
      </p:pic>
      <p:sp>
        <p:nvSpPr>
          <p:cNvPr id="47" name="ZoneTexte 46">
            <a:extLst>
              <a:ext uri="{FF2B5EF4-FFF2-40B4-BE49-F238E27FC236}">
                <a16:creationId xmlns:a16="http://schemas.microsoft.com/office/drawing/2014/main" id="{4CF13F27-D655-F52F-6D1B-1C827A08634B}"/>
              </a:ext>
            </a:extLst>
          </p:cNvPr>
          <p:cNvSpPr txBox="1"/>
          <p:nvPr/>
        </p:nvSpPr>
        <p:spPr>
          <a:xfrm>
            <a:off x="6143762" y="4425697"/>
            <a:ext cx="319318" cy="369332"/>
          </a:xfrm>
          <a:prstGeom prst="rect">
            <a:avLst/>
          </a:prstGeom>
          <a:noFill/>
        </p:spPr>
        <p:txBody>
          <a:bodyPr wrap="none" rtlCol="0">
            <a:spAutoFit/>
          </a:bodyPr>
          <a:lstStyle/>
          <a:p>
            <a:r>
              <a:rPr lang="fr-FR" dirty="0">
                <a:solidFill>
                  <a:srgbClr val="980602"/>
                </a:solidFill>
              </a:rPr>
              <a:t>=</a:t>
            </a:r>
          </a:p>
        </p:txBody>
      </p:sp>
    </p:spTree>
    <p:extLst>
      <p:ext uri="{BB962C8B-B14F-4D97-AF65-F5344CB8AC3E}">
        <p14:creationId xmlns:p14="http://schemas.microsoft.com/office/powerpoint/2010/main" val="15265102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left)">
                                      <p:cBhvr>
                                        <p:cTn id="7" dur="500"/>
                                        <p:tgtEl>
                                          <p:spTgt spid="4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46"/>
                                        </p:tgtEl>
                                        <p:attrNameLst>
                                          <p:attrName>style.visibility</p:attrName>
                                        </p:attrNameLst>
                                      </p:cBhvr>
                                      <p:to>
                                        <p:strVal val="visible"/>
                                      </p:to>
                                    </p:set>
                                    <p:animEffect transition="in" filter="wipe(left)">
                                      <p:cBhvr>
                                        <p:cTn id="11" dur="500"/>
                                        <p:tgtEl>
                                          <p:spTgt spid="4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left)">
                                      <p:cBhvr>
                                        <p:cTn id="16" dur="5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wipe(left)">
                                      <p:cBhvr>
                                        <p:cTn id="21" dur="500"/>
                                        <p:tgtEl>
                                          <p:spTgt spid="13"/>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wipe(left)">
                                      <p:cBhvr>
                                        <p:cTn id="26" dur="500"/>
                                        <p:tgtEl>
                                          <p:spTgt spid="29"/>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animEffect transition="in" filter="wipe(left)">
                                      <p:cBhvr>
                                        <p:cTn id="29" dur="500"/>
                                        <p:tgtEl>
                                          <p:spTgt spid="28"/>
                                        </p:tgtEl>
                                      </p:cBhvr>
                                    </p:animEffect>
                                  </p:childTnLst>
                                </p:cTn>
                              </p:par>
                            </p:childTnLst>
                          </p:cTn>
                        </p:par>
                      </p:childTnLst>
                    </p:cTn>
                  </p:par>
                  <p:par>
                    <p:cTn id="30" fill="hold">
                      <p:stCondLst>
                        <p:cond delay="indefinite"/>
                      </p:stCondLst>
                      <p:childTnLst>
                        <p:par>
                          <p:cTn id="31" fill="hold">
                            <p:stCondLst>
                              <p:cond delay="0"/>
                            </p:stCondLst>
                            <p:childTnLst>
                              <p:par>
                                <p:cTn id="32" presetID="47"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1000"/>
                                        <p:tgtEl>
                                          <p:spTgt spid="7"/>
                                        </p:tgtEl>
                                      </p:cBhvr>
                                    </p:animEffect>
                                    <p:anim calcmode="lin" valueType="num">
                                      <p:cBhvr>
                                        <p:cTn id="35" dur="1000" fill="hold"/>
                                        <p:tgtEl>
                                          <p:spTgt spid="7"/>
                                        </p:tgtEl>
                                        <p:attrNameLst>
                                          <p:attrName>ppt_x</p:attrName>
                                        </p:attrNameLst>
                                      </p:cBhvr>
                                      <p:tavLst>
                                        <p:tav tm="0">
                                          <p:val>
                                            <p:strVal val="#ppt_x"/>
                                          </p:val>
                                        </p:tav>
                                        <p:tav tm="100000">
                                          <p:val>
                                            <p:strVal val="#ppt_x"/>
                                          </p:val>
                                        </p:tav>
                                      </p:tavLst>
                                    </p:anim>
                                    <p:anim calcmode="lin" valueType="num">
                                      <p:cBhvr>
                                        <p:cTn id="36" dur="1000" fill="hold"/>
                                        <p:tgtEl>
                                          <p:spTgt spid="7"/>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animEffect transition="in" filter="fade">
                                      <p:cBhvr>
                                        <p:cTn id="39" dur="1000"/>
                                        <p:tgtEl>
                                          <p:spTgt spid="27"/>
                                        </p:tgtEl>
                                      </p:cBhvr>
                                    </p:animEffect>
                                    <p:anim calcmode="lin" valueType="num">
                                      <p:cBhvr>
                                        <p:cTn id="40" dur="1000" fill="hold"/>
                                        <p:tgtEl>
                                          <p:spTgt spid="27"/>
                                        </p:tgtEl>
                                        <p:attrNameLst>
                                          <p:attrName>ppt_x</p:attrName>
                                        </p:attrNameLst>
                                      </p:cBhvr>
                                      <p:tavLst>
                                        <p:tav tm="0">
                                          <p:val>
                                            <p:strVal val="#ppt_x"/>
                                          </p:val>
                                        </p:tav>
                                        <p:tav tm="100000">
                                          <p:val>
                                            <p:strVal val="#ppt_x"/>
                                          </p:val>
                                        </p:tav>
                                      </p:tavLst>
                                    </p:anim>
                                    <p:anim calcmode="lin" valueType="num">
                                      <p:cBhvr>
                                        <p:cTn id="41" dur="10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1"/>
                                        </p:tgtEl>
                                        <p:attrNameLst>
                                          <p:attrName>style.visibility</p:attrName>
                                        </p:attrNameLst>
                                      </p:cBhvr>
                                      <p:to>
                                        <p:strVal val="visible"/>
                                      </p:to>
                                    </p:set>
                                    <p:animEffect transition="in" filter="wipe(left)">
                                      <p:cBhvr>
                                        <p:cTn id="46" dur="500"/>
                                        <p:tgtEl>
                                          <p:spTgt spid="21"/>
                                        </p:tgtEl>
                                      </p:cBhvr>
                                    </p:animEffect>
                                  </p:childTnLst>
                                </p:cTn>
                              </p:par>
                              <p:par>
                                <p:cTn id="47" presetID="22" presetClass="entr" presetSubtype="8" fill="hold" nodeType="with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wipe(left)">
                                      <p:cBhvr>
                                        <p:cTn id="49" dur="500"/>
                                        <p:tgtEl>
                                          <p:spTgt spid="25"/>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26"/>
                                        </p:tgtEl>
                                        <p:attrNameLst>
                                          <p:attrName>style.visibility</p:attrName>
                                        </p:attrNameLst>
                                      </p:cBhvr>
                                      <p:to>
                                        <p:strVal val="visible"/>
                                      </p:to>
                                    </p:set>
                                    <p:animEffect transition="in" filter="wipe(left)">
                                      <p:cBhvr>
                                        <p:cTn id="53" dur="500"/>
                                        <p:tgtEl>
                                          <p:spTgt spid="26"/>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24"/>
                                        </p:tgtEl>
                                        <p:attrNameLst>
                                          <p:attrName>style.visibility</p:attrName>
                                        </p:attrNameLst>
                                      </p:cBhvr>
                                      <p:to>
                                        <p:strVal val="visible"/>
                                      </p:to>
                                    </p:set>
                                    <p:animEffect transition="in" filter="wipe(left)">
                                      <p:cBhvr>
                                        <p:cTn id="56" dur="500"/>
                                        <p:tgtEl>
                                          <p:spTgt spid="24"/>
                                        </p:tgtEl>
                                      </p:cBhvr>
                                    </p:animEffect>
                                  </p:childTnLst>
                                </p:cTn>
                              </p:par>
                            </p:childTnLst>
                          </p:cTn>
                        </p:par>
                        <p:par>
                          <p:cTn id="57" fill="hold">
                            <p:stCondLst>
                              <p:cond delay="1000"/>
                            </p:stCondLst>
                            <p:childTnLst>
                              <p:par>
                                <p:cTn id="58" presetID="22" presetClass="entr" presetSubtype="8" fill="hold" grpId="0" nodeType="afterEffect">
                                  <p:stCondLst>
                                    <p:cond delay="250"/>
                                  </p:stCondLst>
                                  <p:childTnLst>
                                    <p:set>
                                      <p:cBhvr>
                                        <p:cTn id="59" dur="1" fill="hold">
                                          <p:stCondLst>
                                            <p:cond delay="0"/>
                                          </p:stCondLst>
                                        </p:cTn>
                                        <p:tgtEl>
                                          <p:spTgt spid="30"/>
                                        </p:tgtEl>
                                        <p:attrNameLst>
                                          <p:attrName>style.visibility</p:attrName>
                                        </p:attrNameLst>
                                      </p:cBhvr>
                                      <p:to>
                                        <p:strVal val="visible"/>
                                      </p:to>
                                    </p:set>
                                    <p:animEffect transition="in" filter="wipe(left)">
                                      <p:cBhvr>
                                        <p:cTn id="60" dur="500"/>
                                        <p:tgtEl>
                                          <p:spTgt spid="30"/>
                                        </p:tgtEl>
                                      </p:cBhvr>
                                    </p:animEffect>
                                  </p:childTnLst>
                                </p:cTn>
                              </p:par>
                              <p:par>
                                <p:cTn id="61" presetID="22" presetClass="entr" presetSubtype="8" fill="hold" grpId="0" nodeType="withEffect">
                                  <p:stCondLst>
                                    <p:cond delay="250"/>
                                  </p:stCondLst>
                                  <p:childTnLst>
                                    <p:set>
                                      <p:cBhvr>
                                        <p:cTn id="62" dur="1" fill="hold">
                                          <p:stCondLst>
                                            <p:cond delay="0"/>
                                          </p:stCondLst>
                                        </p:cTn>
                                        <p:tgtEl>
                                          <p:spTgt spid="31"/>
                                        </p:tgtEl>
                                        <p:attrNameLst>
                                          <p:attrName>style.visibility</p:attrName>
                                        </p:attrNameLst>
                                      </p:cBhvr>
                                      <p:to>
                                        <p:strVal val="visible"/>
                                      </p:to>
                                    </p:set>
                                    <p:animEffect transition="in" filter="wipe(left)">
                                      <p:cBhvr>
                                        <p:cTn id="63" dur="500"/>
                                        <p:tgtEl>
                                          <p:spTgt spid="31"/>
                                        </p:tgtEl>
                                      </p:cBhvr>
                                    </p:animEffect>
                                  </p:childTnLst>
                                </p:cTn>
                              </p:par>
                            </p:childTnLst>
                          </p:cTn>
                        </p:par>
                      </p:childTnLst>
                    </p:cTn>
                  </p:par>
                  <p:par>
                    <p:cTn id="64" fill="hold">
                      <p:stCondLst>
                        <p:cond delay="indefinite"/>
                      </p:stCondLst>
                      <p:childTnLst>
                        <p:par>
                          <p:cTn id="65" fill="hold">
                            <p:stCondLst>
                              <p:cond delay="0"/>
                            </p:stCondLst>
                            <p:childTnLst>
                              <p:par>
                                <p:cTn id="66" presetID="42" presetClass="path" presetSubtype="0" accel="50000" decel="50000" fill="hold" grpId="0" nodeType="clickEffect">
                                  <p:stCondLst>
                                    <p:cond delay="0"/>
                                  </p:stCondLst>
                                  <p:childTnLst>
                                    <p:animMotion origin="layout" path="M -4.56693E-6 -1.65733E-6 L 0.29827 -0.0028 " pathEditMode="relative" rAng="0" ptsTypes="AA">
                                      <p:cBhvr>
                                        <p:cTn id="67" dur="2000" fill="hold"/>
                                        <p:tgtEl>
                                          <p:spTgt spid="32"/>
                                        </p:tgtEl>
                                        <p:attrNameLst>
                                          <p:attrName>ppt_x</p:attrName>
                                          <p:attrName>ppt_y</p:attrName>
                                        </p:attrNameLst>
                                      </p:cBhvr>
                                      <p:rCtr x="14913" y="-140"/>
                                    </p:animMotion>
                                  </p:childTnLst>
                                </p:cTn>
                              </p:par>
                              <p:par>
                                <p:cTn id="68" presetID="42" presetClass="path" presetSubtype="0" accel="50000" decel="50000" fill="hold" grpId="0" nodeType="withEffect">
                                  <p:stCondLst>
                                    <p:cond delay="0"/>
                                  </p:stCondLst>
                                  <p:childTnLst>
                                    <p:animMotion origin="layout" path="M -8.66142E-7 3.06831E-6 L 0.28866 3.06831E-6 " pathEditMode="relative" rAng="0" ptsTypes="AA">
                                      <p:cBhvr>
                                        <p:cTn id="69" dur="2000" fill="hold"/>
                                        <p:tgtEl>
                                          <p:spTgt spid="33"/>
                                        </p:tgtEl>
                                        <p:attrNameLst>
                                          <p:attrName>ppt_x</p:attrName>
                                          <p:attrName>ppt_y</p:attrName>
                                        </p:attrNameLst>
                                      </p:cBhvr>
                                      <p:rCtr x="14441" y="0"/>
                                    </p:animMotion>
                                  </p:childTnLst>
                                </p:cTn>
                              </p:par>
                              <p:par>
                                <p:cTn id="70" presetID="42" presetClass="path" presetSubtype="0" accel="50000" decel="50000" fill="hold" nodeType="withEffect">
                                  <p:stCondLst>
                                    <p:cond delay="0"/>
                                  </p:stCondLst>
                                  <p:childTnLst>
                                    <p:animMotion origin="layout" path="M 2.91339E-6 -1.61254E-6 L 0.29842 -0.0028 " pathEditMode="relative" rAng="0" ptsTypes="AA">
                                      <p:cBhvr>
                                        <p:cTn id="71" dur="2000" fill="hold"/>
                                        <p:tgtEl>
                                          <p:spTgt spid="34"/>
                                        </p:tgtEl>
                                        <p:attrNameLst>
                                          <p:attrName>ppt_x</p:attrName>
                                          <p:attrName>ppt_y</p:attrName>
                                        </p:attrNameLst>
                                      </p:cBhvr>
                                      <p:rCtr x="14929" y="-140"/>
                                    </p:animMotion>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35"/>
                                        </p:tgtEl>
                                        <p:attrNameLst>
                                          <p:attrName>style.visibility</p:attrName>
                                        </p:attrNameLst>
                                      </p:cBhvr>
                                      <p:to>
                                        <p:strVal val="visible"/>
                                      </p:to>
                                    </p:set>
                                    <p:animEffect transition="in" filter="wipe(left)">
                                      <p:cBhvr>
                                        <p:cTn id="76" dur="500"/>
                                        <p:tgtEl>
                                          <p:spTgt spid="35"/>
                                        </p:tgtEl>
                                      </p:cBhvr>
                                    </p:animEffect>
                                  </p:childTnLst>
                                </p:cTn>
                              </p:par>
                            </p:childTnLst>
                          </p:cTn>
                        </p:par>
                        <p:par>
                          <p:cTn id="77" fill="hold">
                            <p:stCondLst>
                              <p:cond delay="500"/>
                            </p:stCondLst>
                            <p:childTnLst>
                              <p:par>
                                <p:cTn id="78" presetID="22" presetClass="entr" presetSubtype="8" fill="hold" grpId="0" nodeType="after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wipe(left)">
                                      <p:cBhvr>
                                        <p:cTn id="80" dur="500"/>
                                        <p:tgtEl>
                                          <p:spTgt spid="36"/>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43"/>
                                        </p:tgtEl>
                                        <p:attrNameLst>
                                          <p:attrName>style.visibility</p:attrName>
                                        </p:attrNameLst>
                                      </p:cBhvr>
                                      <p:to>
                                        <p:strVal val="visible"/>
                                      </p:to>
                                    </p:set>
                                    <p:animEffect transition="in" filter="wipe(left)">
                                      <p:cBhvr>
                                        <p:cTn id="83" dur="500"/>
                                        <p:tgtEl>
                                          <p:spTgt spid="4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wipe(left)">
                                      <p:cBhvr>
                                        <p:cTn id="88" dur="500"/>
                                        <p:tgtEl>
                                          <p:spTgt spid="37"/>
                                        </p:tgtEl>
                                      </p:cBhvr>
                                    </p:animEffect>
                                  </p:childTnLst>
                                </p:cTn>
                              </p:par>
                            </p:childTnLst>
                          </p:cTn>
                        </p:par>
                        <p:par>
                          <p:cTn id="89" fill="hold">
                            <p:stCondLst>
                              <p:cond delay="500"/>
                            </p:stCondLst>
                            <p:childTnLst>
                              <p:par>
                                <p:cTn id="90" presetID="22" presetClass="entr" presetSubtype="8" fill="hold" grpId="0" nodeType="after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wipe(left)">
                                      <p:cBhvr>
                                        <p:cTn id="92" dur="500"/>
                                        <p:tgtEl>
                                          <p:spTgt spid="39"/>
                                        </p:tgtEl>
                                      </p:cBhvr>
                                    </p:animEffect>
                                  </p:childTnLst>
                                </p:cTn>
                              </p:par>
                            </p:childTnLst>
                          </p:cTn>
                        </p:par>
                        <p:par>
                          <p:cTn id="93" fill="hold">
                            <p:stCondLst>
                              <p:cond delay="1000"/>
                            </p:stCondLst>
                            <p:childTnLst>
                              <p:par>
                                <p:cTn id="94" presetID="22" presetClass="entr" presetSubtype="8" fill="hold" nodeType="afterEffect">
                                  <p:stCondLst>
                                    <p:cond delay="0"/>
                                  </p:stCondLst>
                                  <p:childTnLst>
                                    <p:set>
                                      <p:cBhvr>
                                        <p:cTn id="95" dur="1" fill="hold">
                                          <p:stCondLst>
                                            <p:cond delay="0"/>
                                          </p:stCondLst>
                                        </p:cTn>
                                        <p:tgtEl>
                                          <p:spTgt spid="40"/>
                                        </p:tgtEl>
                                        <p:attrNameLst>
                                          <p:attrName>style.visibility</p:attrName>
                                        </p:attrNameLst>
                                      </p:cBhvr>
                                      <p:to>
                                        <p:strVal val="visible"/>
                                      </p:to>
                                    </p:set>
                                    <p:animEffect transition="in" filter="wipe(left)">
                                      <p:cBhvr>
                                        <p:cTn id="96" dur="500"/>
                                        <p:tgtEl>
                                          <p:spTgt spid="40"/>
                                        </p:tgtEl>
                                      </p:cBhvr>
                                    </p:animEffect>
                                  </p:childTnLst>
                                </p:cTn>
                              </p:par>
                            </p:childTnLst>
                          </p:cTn>
                        </p:par>
                        <p:par>
                          <p:cTn id="97" fill="hold">
                            <p:stCondLst>
                              <p:cond delay="1500"/>
                            </p:stCondLst>
                            <p:childTnLst>
                              <p:par>
                                <p:cTn id="98" presetID="22" presetClass="entr" presetSubtype="8" fill="hold" grpId="0" nodeType="afterEffect">
                                  <p:stCondLst>
                                    <p:cond delay="0"/>
                                  </p:stCondLst>
                                  <p:childTnLst>
                                    <p:set>
                                      <p:cBhvr>
                                        <p:cTn id="99" dur="1" fill="hold">
                                          <p:stCondLst>
                                            <p:cond delay="0"/>
                                          </p:stCondLst>
                                        </p:cTn>
                                        <p:tgtEl>
                                          <p:spTgt spid="42"/>
                                        </p:tgtEl>
                                        <p:attrNameLst>
                                          <p:attrName>style.visibility</p:attrName>
                                        </p:attrNameLst>
                                      </p:cBhvr>
                                      <p:to>
                                        <p:strVal val="visible"/>
                                      </p:to>
                                    </p:set>
                                    <p:animEffect transition="in" filter="wipe(left)">
                                      <p:cBhvr>
                                        <p:cTn id="100" dur="500"/>
                                        <p:tgtEl>
                                          <p:spTgt spid="42"/>
                                        </p:tgtEl>
                                      </p:cBhvr>
                                    </p:animEffect>
                                  </p:childTnLst>
                                </p:cTn>
                              </p:par>
                              <p:par>
                                <p:cTn id="101" presetID="22" presetClass="entr" presetSubtype="8" fill="hold" grpId="0" nodeType="withEffect">
                                  <p:stCondLst>
                                    <p:cond delay="0"/>
                                  </p:stCondLst>
                                  <p:childTnLst>
                                    <p:set>
                                      <p:cBhvr>
                                        <p:cTn id="102" dur="1" fill="hold">
                                          <p:stCondLst>
                                            <p:cond delay="0"/>
                                          </p:stCondLst>
                                        </p:cTn>
                                        <p:tgtEl>
                                          <p:spTgt spid="44"/>
                                        </p:tgtEl>
                                        <p:attrNameLst>
                                          <p:attrName>style.visibility</p:attrName>
                                        </p:attrNameLst>
                                      </p:cBhvr>
                                      <p:to>
                                        <p:strVal val="visible"/>
                                      </p:to>
                                    </p:set>
                                    <p:animEffect transition="in" filter="wipe(left)">
                                      <p:cBhvr>
                                        <p:cTn id="103"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P spid="13" grpId="0"/>
      <p:bldP spid="24" grpId="0"/>
      <p:bldP spid="26" grpId="0"/>
      <p:bldP spid="27" grpId="0"/>
      <p:bldP spid="28" grpId="0"/>
      <p:bldP spid="29" grpId="0"/>
      <p:bldP spid="30" grpId="0"/>
      <p:bldP spid="31" grpId="0"/>
      <p:bldP spid="32" grpId="0" animBg="1"/>
      <p:bldP spid="33" grpId="0"/>
      <p:bldP spid="36" grpId="0"/>
      <p:bldP spid="39" grpId="0"/>
      <p:bldP spid="42" grpId="0"/>
      <p:bldP spid="43" grpId="0"/>
      <p:bldP spid="44" grpId="0"/>
      <p:bldP spid="4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0D6B692-C98E-1E85-8D1E-8DEC64527E06}"/>
            </a:ext>
          </a:extLst>
        </p:cNvPr>
        <p:cNvGrpSpPr/>
        <p:nvPr/>
      </p:nvGrpSpPr>
      <p:grpSpPr>
        <a:xfrm>
          <a:off x="0" y="0"/>
          <a:ext cx="0" cy="0"/>
          <a:chOff x="0" y="0"/>
          <a:chExt cx="0" cy="0"/>
        </a:xfrm>
      </p:grpSpPr>
      <p:sp>
        <p:nvSpPr>
          <p:cNvPr id="161" name="Rectangle 160">
            <a:extLst>
              <a:ext uri="{FF2B5EF4-FFF2-40B4-BE49-F238E27FC236}">
                <a16:creationId xmlns:a16="http://schemas.microsoft.com/office/drawing/2014/main" id="{5F44EA35-067F-8884-8FC6-3AE5885E53FB}"/>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Solution</a:t>
            </a:r>
            <a:endParaRPr lang="en-US" sz="2000" b="0" u="none" strike="noStrike" noProof="0" dirty="0">
              <a:solidFill>
                <a:srgbClr val="000000"/>
              </a:solidFill>
              <a:effectLst/>
              <a:uFillTx/>
              <a:latin typeface="Arial"/>
            </a:endParaRPr>
          </a:p>
        </p:txBody>
      </p:sp>
      <p:sp>
        <p:nvSpPr>
          <p:cNvPr id="3" name="Espace réservé du numéro de diapositive 3">
            <a:extLst>
              <a:ext uri="{FF2B5EF4-FFF2-40B4-BE49-F238E27FC236}">
                <a16:creationId xmlns:a16="http://schemas.microsoft.com/office/drawing/2014/main" id="{E2B352A2-5C76-5D16-05EB-595B853469F8}"/>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7</a:t>
            </a:fld>
            <a:endParaRPr lang="en-US" sz="1200" noProof="0" dirty="0"/>
          </a:p>
        </p:txBody>
      </p:sp>
      <p:pic>
        <p:nvPicPr>
          <p:cNvPr id="5" name="Image 4" descr="Une image contenant cercle, Graphique, Caractère coloré&#10;&#10;Le contenu généré par l’IA peut être incorrect.">
            <a:extLst>
              <a:ext uri="{FF2B5EF4-FFF2-40B4-BE49-F238E27FC236}">
                <a16:creationId xmlns:a16="http://schemas.microsoft.com/office/drawing/2014/main" id="{A0398B36-7F9F-031E-BD26-A1CE0753E0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3962" y="1075333"/>
            <a:ext cx="3112700" cy="3519884"/>
          </a:xfrm>
          <a:prstGeom prst="rect">
            <a:avLst/>
          </a:prstGeom>
        </p:spPr>
      </p:pic>
      <p:sp>
        <p:nvSpPr>
          <p:cNvPr id="6" name="ZoneTexte 5">
            <a:extLst>
              <a:ext uri="{FF2B5EF4-FFF2-40B4-BE49-F238E27FC236}">
                <a16:creationId xmlns:a16="http://schemas.microsoft.com/office/drawing/2014/main" id="{BE0C149D-6446-2A6D-9E01-F17871282B7A}"/>
              </a:ext>
            </a:extLst>
          </p:cNvPr>
          <p:cNvSpPr txBox="1"/>
          <p:nvPr/>
        </p:nvSpPr>
        <p:spPr>
          <a:xfrm>
            <a:off x="10713754" y="1735311"/>
            <a:ext cx="4689415" cy="2215991"/>
          </a:xfrm>
          <a:prstGeom prst="rect">
            <a:avLst/>
          </a:prstGeom>
          <a:noFill/>
        </p:spPr>
        <p:txBody>
          <a:bodyPr wrap="square" rtlCol="0">
            <a:spAutoFit/>
          </a:bodyPr>
          <a:lstStyle/>
          <a:p>
            <a:r>
              <a:rPr lang="en-US" sz="13800" noProof="0" dirty="0">
                <a:latin typeface="Calibri" panose="020F0502020204030204" pitchFamily="34" charset="0"/>
                <a:ea typeface="Calibri" panose="020F0502020204030204" pitchFamily="34" charset="0"/>
                <a:cs typeface="Calibri" panose="020F0502020204030204" pitchFamily="34" charset="0"/>
              </a:rPr>
              <a:t>Quark</a:t>
            </a:r>
            <a:endParaRPr lang="en-US" sz="5400" noProof="0" dirty="0">
              <a:latin typeface="Calibri" panose="020F0502020204030204" pitchFamily="34" charset="0"/>
              <a:ea typeface="Calibri" panose="020F0502020204030204" pitchFamily="34" charset="0"/>
              <a:cs typeface="Calibri" panose="020F0502020204030204" pitchFamily="34" charset="0"/>
            </a:endParaRPr>
          </a:p>
        </p:txBody>
      </p:sp>
      <p:pic>
        <p:nvPicPr>
          <p:cNvPr id="17" name="Image 16">
            <a:extLst>
              <a:ext uri="{FF2B5EF4-FFF2-40B4-BE49-F238E27FC236}">
                <a16:creationId xmlns:a16="http://schemas.microsoft.com/office/drawing/2014/main" id="{37D013FE-53C1-A5B0-6289-B012467E7E5E}"/>
              </a:ext>
            </a:extLst>
          </p:cNvPr>
          <p:cNvPicPr/>
          <p:nvPr/>
        </p:nvPicPr>
        <p:blipFill>
          <a:blip r:embed="rId4"/>
          <a:stretch/>
        </p:blipFill>
        <p:spPr>
          <a:xfrm>
            <a:off x="10267643" y="945433"/>
            <a:ext cx="1910652" cy="1034635"/>
          </a:xfrm>
          <a:prstGeom prst="rect">
            <a:avLst/>
          </a:prstGeom>
          <a:noFill/>
          <a:ln w="0">
            <a:noFill/>
          </a:ln>
        </p:spPr>
      </p:pic>
    </p:spTree>
    <p:extLst>
      <p:ext uri="{BB962C8B-B14F-4D97-AF65-F5344CB8AC3E}">
        <p14:creationId xmlns:p14="http://schemas.microsoft.com/office/powerpoint/2010/main" val="35364011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250" fill="hold"/>
                                        <p:tgtEl>
                                          <p:spTgt spid="5"/>
                                        </p:tgtEl>
                                        <p:attrNameLst>
                                          <p:attrName>ppt_w</p:attrName>
                                        </p:attrNameLst>
                                      </p:cBhvr>
                                      <p:tavLst>
                                        <p:tav tm="0">
                                          <p:val>
                                            <p:fltVal val="0"/>
                                          </p:val>
                                        </p:tav>
                                        <p:tav tm="100000">
                                          <p:val>
                                            <p:strVal val="#ppt_w"/>
                                          </p:val>
                                        </p:tav>
                                      </p:tavLst>
                                    </p:anim>
                                    <p:anim calcmode="lin" valueType="num">
                                      <p:cBhvr>
                                        <p:cTn id="8" dur="1250" fill="hold"/>
                                        <p:tgtEl>
                                          <p:spTgt spid="5"/>
                                        </p:tgtEl>
                                        <p:attrNameLst>
                                          <p:attrName>ppt_h</p:attrName>
                                        </p:attrNameLst>
                                      </p:cBhvr>
                                      <p:tavLst>
                                        <p:tav tm="0">
                                          <p:val>
                                            <p:fltVal val="0"/>
                                          </p:val>
                                        </p:tav>
                                        <p:tav tm="100000">
                                          <p:val>
                                            <p:strVal val="#ppt_h"/>
                                          </p:val>
                                        </p:tav>
                                      </p:tavLst>
                                    </p:anim>
                                    <p:animEffect transition="in" filter="fade">
                                      <p:cBhvr>
                                        <p:cTn id="9" dur="1250"/>
                                        <p:tgtEl>
                                          <p:spTgt spid="5"/>
                                        </p:tgtEl>
                                      </p:cBhvr>
                                    </p:animEffect>
                                  </p:childTnLst>
                                </p:cTn>
                              </p:par>
                            </p:childTnLst>
                          </p:cTn>
                        </p:par>
                        <p:par>
                          <p:cTn id="10" fill="hold">
                            <p:stCondLst>
                              <p:cond delay="1250"/>
                            </p:stCondLst>
                            <p:childTnLst>
                              <p:par>
                                <p:cTn id="11" presetID="42" presetClass="path" presetSubtype="0" accel="50000" decel="50000" fill="hold" nodeType="afterEffect">
                                  <p:stCondLst>
                                    <p:cond delay="0"/>
                                  </p:stCondLst>
                                  <p:childTnLst>
                                    <p:animMotion origin="layout" path="M 0 0 L -0.22677 0 " pathEditMode="relative" rAng="0" ptsTypes="AA">
                                      <p:cBhvr>
                                        <p:cTn id="12" dur="2000" fill="hold"/>
                                        <p:tgtEl>
                                          <p:spTgt spid="5"/>
                                        </p:tgtEl>
                                        <p:attrNameLst>
                                          <p:attrName>ppt_x</p:attrName>
                                          <p:attrName>ppt_y</p:attrName>
                                        </p:attrNameLst>
                                      </p:cBhvr>
                                      <p:rCtr x="-11339" y="0"/>
                                    </p:animMotion>
                                  </p:childTnLst>
                                </p:cTn>
                              </p:par>
                              <p:par>
                                <p:cTn id="13" presetID="42" presetClass="path" presetSubtype="0" accel="50000" decel="50000" fill="hold" grpId="0" nodeType="withEffect">
                                  <p:stCondLst>
                                    <p:cond delay="0"/>
                                  </p:stCondLst>
                                  <p:childTnLst>
                                    <p:animMotion origin="layout" path="M -3.07087E-6 2.23964E-7 L -0.61102 -0.0014 " pathEditMode="relative" rAng="0" ptsTypes="AA">
                                      <p:cBhvr>
                                        <p:cTn id="14" dur="2000" fill="hold"/>
                                        <p:tgtEl>
                                          <p:spTgt spid="6"/>
                                        </p:tgtEl>
                                        <p:attrNameLst>
                                          <p:attrName>ppt_x</p:attrName>
                                          <p:attrName>ppt_y</p:attrName>
                                        </p:attrNameLst>
                                      </p:cBhvr>
                                      <p:rCtr x="-30551" y="-8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42400A8-71E4-18D2-BD7F-ECC6A0032527}"/>
            </a:ext>
          </a:extLst>
        </p:cNvPr>
        <p:cNvGrpSpPr/>
        <p:nvPr/>
      </p:nvGrpSpPr>
      <p:grpSpPr>
        <a:xfrm>
          <a:off x="0" y="0"/>
          <a:ext cx="0" cy="0"/>
          <a:chOff x="0" y="0"/>
          <a:chExt cx="0" cy="0"/>
        </a:xfrm>
      </p:grpSpPr>
      <p:sp>
        <p:nvSpPr>
          <p:cNvPr id="13" name="Rectangle : coins arrondis 12">
            <a:extLst>
              <a:ext uri="{FF2B5EF4-FFF2-40B4-BE49-F238E27FC236}">
                <a16:creationId xmlns:a16="http://schemas.microsoft.com/office/drawing/2014/main" id="{3B8E81B5-28D0-8B45-FE02-16D863BD2CFC}"/>
              </a:ext>
            </a:extLst>
          </p:cNvPr>
          <p:cNvSpPr/>
          <p:nvPr/>
        </p:nvSpPr>
        <p:spPr>
          <a:xfrm>
            <a:off x="397332" y="5903835"/>
            <a:ext cx="9285960" cy="923330"/>
          </a:xfrm>
          <a:prstGeom prst="roundRect">
            <a:avLst/>
          </a:prstGeom>
          <a:solidFill>
            <a:srgbClr val="FFFFFF"/>
          </a:solid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ZoneTexte 13">
            <a:extLst>
              <a:ext uri="{FF2B5EF4-FFF2-40B4-BE49-F238E27FC236}">
                <a16:creationId xmlns:a16="http://schemas.microsoft.com/office/drawing/2014/main" id="{F8C56774-D9A9-93F7-DBF6-7CD5EEDED744}"/>
              </a:ext>
            </a:extLst>
          </p:cNvPr>
          <p:cNvSpPr txBox="1"/>
          <p:nvPr/>
        </p:nvSpPr>
        <p:spPr>
          <a:xfrm>
            <a:off x="448956" y="5934613"/>
            <a:ext cx="9182712" cy="861774"/>
          </a:xfrm>
          <a:prstGeom prst="rect">
            <a:avLst/>
          </a:prstGeom>
          <a:noFill/>
        </p:spPr>
        <p:txBody>
          <a:bodyPr wrap="square" rtlCol="0">
            <a:spAutoFit/>
          </a:bodyPr>
          <a:lstStyle/>
          <a:p>
            <a:pPr algn="ctr"/>
            <a:r>
              <a:rPr lang="en-US" noProof="0" dirty="0"/>
              <a:t>Main objective </a:t>
            </a:r>
          </a:p>
          <a:p>
            <a:pPr algn="ctr"/>
            <a:r>
              <a:rPr lang="en-US" sz="1600" noProof="0" dirty="0"/>
              <a:t>Create a modern second screen tool to pilot and supervise the bioinformatical analysis without manual intervention</a:t>
            </a:r>
          </a:p>
        </p:txBody>
      </p:sp>
      <p:sp>
        <p:nvSpPr>
          <p:cNvPr id="17" name="Hexagone 16">
            <a:extLst>
              <a:ext uri="{FF2B5EF4-FFF2-40B4-BE49-F238E27FC236}">
                <a16:creationId xmlns:a16="http://schemas.microsoft.com/office/drawing/2014/main" id="{9E8797A7-7E2D-61BB-0F19-F8E453DEF06A}"/>
              </a:ext>
            </a:extLst>
          </p:cNvPr>
          <p:cNvSpPr/>
          <p:nvPr/>
        </p:nvSpPr>
        <p:spPr>
          <a:xfrm>
            <a:off x="3783583" y="7590154"/>
            <a:ext cx="2513456" cy="2166772"/>
          </a:xfrm>
          <a:prstGeom prst="hexagon">
            <a:avLst/>
          </a:prstGeom>
          <a:solidFill>
            <a:srgbClr val="FFFFFF"/>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1" name="Rectangle 160">
            <a:extLst>
              <a:ext uri="{FF2B5EF4-FFF2-40B4-BE49-F238E27FC236}">
                <a16:creationId xmlns:a16="http://schemas.microsoft.com/office/drawing/2014/main" id="{8DA0404A-EE0E-760E-B7A4-D5F74D290EA4}"/>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Solution</a:t>
            </a:r>
            <a:endParaRPr lang="en-US" sz="2000" b="0" u="none" strike="noStrike" noProof="0" dirty="0">
              <a:solidFill>
                <a:srgbClr val="000000"/>
              </a:solidFill>
              <a:effectLst/>
              <a:uFillTx/>
              <a:latin typeface="Arial"/>
            </a:endParaRPr>
          </a:p>
        </p:txBody>
      </p:sp>
      <p:sp>
        <p:nvSpPr>
          <p:cNvPr id="3" name="Espace réservé du numéro de diapositive 3">
            <a:extLst>
              <a:ext uri="{FF2B5EF4-FFF2-40B4-BE49-F238E27FC236}">
                <a16:creationId xmlns:a16="http://schemas.microsoft.com/office/drawing/2014/main" id="{F64F74B1-308B-B680-78F1-5DB5AB6C5D78}"/>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8</a:t>
            </a:fld>
            <a:endParaRPr lang="en-US" sz="1200" noProof="0" dirty="0"/>
          </a:p>
        </p:txBody>
      </p:sp>
      <p:pic>
        <p:nvPicPr>
          <p:cNvPr id="5" name="Image 4" descr="Une image contenant cercle, Graphique, Caractère coloré&#10;&#10;Le contenu généré par l’IA peut être incorrect.">
            <a:extLst>
              <a:ext uri="{FF2B5EF4-FFF2-40B4-BE49-F238E27FC236}">
                <a16:creationId xmlns:a16="http://schemas.microsoft.com/office/drawing/2014/main" id="{936D0F5F-2683-14AF-DC98-7422C7F6090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185243" y="674335"/>
            <a:ext cx="914947" cy="1034635"/>
          </a:xfrm>
          <a:prstGeom prst="rect">
            <a:avLst/>
          </a:prstGeom>
        </p:spPr>
      </p:pic>
      <p:sp>
        <p:nvSpPr>
          <p:cNvPr id="6" name="ZoneTexte 5">
            <a:extLst>
              <a:ext uri="{FF2B5EF4-FFF2-40B4-BE49-F238E27FC236}">
                <a16:creationId xmlns:a16="http://schemas.microsoft.com/office/drawing/2014/main" id="{FE59BA9C-7219-2E1C-09F0-38AFB948DA32}"/>
              </a:ext>
            </a:extLst>
          </p:cNvPr>
          <p:cNvSpPr txBox="1"/>
          <p:nvPr/>
        </p:nvSpPr>
        <p:spPr>
          <a:xfrm>
            <a:off x="4056215" y="2004698"/>
            <a:ext cx="1968191" cy="707886"/>
          </a:xfrm>
          <a:prstGeom prst="rect">
            <a:avLst/>
          </a:prstGeom>
          <a:noFill/>
        </p:spPr>
        <p:txBody>
          <a:bodyPr wrap="square" rtlCol="0">
            <a:spAutoFit/>
          </a:bodyPr>
          <a:lstStyle/>
          <a:p>
            <a:pPr algn="ctr"/>
            <a:r>
              <a:rPr lang="en-US" sz="4000" noProof="0" dirty="0">
                <a:latin typeface="Calibri" panose="020F0502020204030204" pitchFamily="34" charset="0"/>
                <a:ea typeface="Calibri" panose="020F0502020204030204" pitchFamily="34" charset="0"/>
                <a:cs typeface="Calibri" panose="020F0502020204030204" pitchFamily="34" charset="0"/>
              </a:rPr>
              <a:t>Quark</a:t>
            </a:r>
          </a:p>
        </p:txBody>
      </p:sp>
      <p:sp>
        <p:nvSpPr>
          <p:cNvPr id="2" name="ZoneTexte 1">
            <a:extLst>
              <a:ext uri="{FF2B5EF4-FFF2-40B4-BE49-F238E27FC236}">
                <a16:creationId xmlns:a16="http://schemas.microsoft.com/office/drawing/2014/main" id="{91A75841-4505-03FC-F908-7F60C3F8CD78}"/>
              </a:ext>
            </a:extLst>
          </p:cNvPr>
          <p:cNvSpPr txBox="1"/>
          <p:nvPr/>
        </p:nvSpPr>
        <p:spPr>
          <a:xfrm>
            <a:off x="3647530" y="931600"/>
            <a:ext cx="2785563" cy="646331"/>
          </a:xfrm>
          <a:prstGeom prst="rect">
            <a:avLst/>
          </a:prstGeom>
          <a:noFill/>
        </p:spPr>
        <p:txBody>
          <a:bodyPr wrap="square" rtlCol="0">
            <a:spAutoFit/>
          </a:bodyPr>
          <a:lstStyle/>
          <a:p>
            <a:pPr algn="ctr"/>
            <a:r>
              <a:rPr lang="en-US" noProof="0" dirty="0"/>
              <a:t>Logo prototype featuring the GAD colors</a:t>
            </a:r>
          </a:p>
        </p:txBody>
      </p:sp>
      <p:pic>
        <p:nvPicPr>
          <p:cNvPr id="4" name="Image 3">
            <a:extLst>
              <a:ext uri="{FF2B5EF4-FFF2-40B4-BE49-F238E27FC236}">
                <a16:creationId xmlns:a16="http://schemas.microsoft.com/office/drawing/2014/main" id="{1340E70C-FC9A-CF95-2500-3D351B15BE73}"/>
              </a:ext>
            </a:extLst>
          </p:cNvPr>
          <p:cNvPicPr/>
          <p:nvPr/>
        </p:nvPicPr>
        <p:blipFill>
          <a:blip r:embed="rId4"/>
          <a:stretch/>
        </p:blipFill>
        <p:spPr>
          <a:xfrm>
            <a:off x="6980433" y="737447"/>
            <a:ext cx="1910652" cy="1034635"/>
          </a:xfrm>
          <a:prstGeom prst="rect">
            <a:avLst/>
          </a:prstGeom>
          <a:noFill/>
          <a:ln w="0">
            <a:noFill/>
          </a:ln>
        </p:spPr>
      </p:pic>
      <p:sp>
        <p:nvSpPr>
          <p:cNvPr id="8" name="ZoneTexte 7">
            <a:extLst>
              <a:ext uri="{FF2B5EF4-FFF2-40B4-BE49-F238E27FC236}">
                <a16:creationId xmlns:a16="http://schemas.microsoft.com/office/drawing/2014/main" id="{E18DACA0-F6C3-0D3A-6756-8076520D0A10}"/>
              </a:ext>
            </a:extLst>
          </p:cNvPr>
          <p:cNvSpPr txBox="1"/>
          <p:nvPr/>
        </p:nvSpPr>
        <p:spPr>
          <a:xfrm>
            <a:off x="2838425" y="2560256"/>
            <a:ext cx="4403770" cy="646331"/>
          </a:xfrm>
          <a:prstGeom prst="rect">
            <a:avLst/>
          </a:prstGeom>
          <a:noFill/>
        </p:spPr>
        <p:txBody>
          <a:bodyPr wrap="none" rtlCol="0">
            <a:spAutoFit/>
          </a:bodyPr>
          <a:lstStyle/>
          <a:p>
            <a:pPr algn="ctr"/>
            <a:r>
              <a:rPr lang="en-US" noProof="0" dirty="0"/>
              <a:t>At the core of matter</a:t>
            </a:r>
          </a:p>
          <a:p>
            <a:pPr algn="ctr"/>
            <a:r>
              <a:rPr lang="en-US" noProof="0" dirty="0"/>
              <a:t>Quark will be the central hub for the team</a:t>
            </a:r>
          </a:p>
        </p:txBody>
      </p:sp>
      <p:pic>
        <p:nvPicPr>
          <p:cNvPr id="9" name="Image 8" descr="Une image contenant texte, capture d’écran, plein air&#10;&#10;Le contenu généré par l’IA peut être incorrect.">
            <a:extLst>
              <a:ext uri="{FF2B5EF4-FFF2-40B4-BE49-F238E27FC236}">
                <a16:creationId xmlns:a16="http://schemas.microsoft.com/office/drawing/2014/main" id="{73882DF9-581A-3119-C9B1-D0DB8B53540B}"/>
              </a:ext>
            </a:extLst>
          </p:cNvPr>
          <p:cNvPicPr>
            <a:picLocks noChangeAspect="1"/>
          </p:cNvPicPr>
          <p:nvPr/>
        </p:nvPicPr>
        <p:blipFill>
          <a:blip r:embed="rId5" cstate="print">
            <a:extLst>
              <a:ext uri="{28A0092B-C50C-407E-A947-70E740481C1C}">
                <a14:useLocalDpi xmlns:a14="http://schemas.microsoft.com/office/drawing/2010/main" val="0"/>
              </a:ext>
            </a:extLst>
          </a:blip>
          <a:srcRect l="13378" t="5594" r="14956" b="10689"/>
          <a:stretch>
            <a:fillRect/>
          </a:stretch>
        </p:blipFill>
        <p:spPr>
          <a:xfrm>
            <a:off x="1798607" y="3502315"/>
            <a:ext cx="1688218" cy="1329293"/>
          </a:xfrm>
          <a:prstGeom prst="rect">
            <a:avLst/>
          </a:prstGeom>
        </p:spPr>
      </p:pic>
      <p:pic>
        <p:nvPicPr>
          <p:cNvPr id="10" name="Image 9" descr="Une image contenant texte, logiciel, Icône d’ordinateur, nombre&#10;&#10;Le contenu généré par l’IA peut être incorrect.">
            <a:extLst>
              <a:ext uri="{FF2B5EF4-FFF2-40B4-BE49-F238E27FC236}">
                <a16:creationId xmlns:a16="http://schemas.microsoft.com/office/drawing/2014/main" id="{148BC1B8-9F10-D663-61BD-7387CE77685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92639" y="3502315"/>
            <a:ext cx="2743200" cy="1335325"/>
          </a:xfrm>
          <a:prstGeom prst="rect">
            <a:avLst/>
          </a:prstGeom>
        </p:spPr>
      </p:pic>
      <p:sp>
        <p:nvSpPr>
          <p:cNvPr id="12" name="Flèche : droite 11">
            <a:extLst>
              <a:ext uri="{FF2B5EF4-FFF2-40B4-BE49-F238E27FC236}">
                <a16:creationId xmlns:a16="http://schemas.microsoft.com/office/drawing/2014/main" id="{822D0E7E-8E2D-2333-4187-F800E5059A78}"/>
              </a:ext>
            </a:extLst>
          </p:cNvPr>
          <p:cNvSpPr/>
          <p:nvPr/>
        </p:nvSpPr>
        <p:spPr>
          <a:xfrm>
            <a:off x="4394885" y="3778094"/>
            <a:ext cx="1306429" cy="813916"/>
          </a:xfrm>
          <a:prstGeom prst="rightArrow">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9772144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up)">
                                      <p:cBhvr>
                                        <p:cTn id="7" dur="750"/>
                                        <p:tgtEl>
                                          <p:spTgt spid="8">
                                            <p:txEl>
                                              <p:pRg st="0" end="0"/>
                                            </p:txEl>
                                          </p:spTgt>
                                        </p:tgtEl>
                                      </p:cBhvr>
                                    </p:animEffect>
                                  </p:childTnLst>
                                </p:cTn>
                              </p:par>
                            </p:childTnLst>
                          </p:cTn>
                        </p:par>
                        <p:par>
                          <p:cTn id="8" fill="hold">
                            <p:stCondLst>
                              <p:cond delay="750"/>
                            </p:stCondLst>
                            <p:childTnLst>
                              <p:par>
                                <p:cTn id="9" presetID="22" presetClass="entr" presetSubtype="1" fill="hold" grpId="0" nodeType="after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Effect transition="in" filter="wipe(up)">
                                      <p:cBhvr>
                                        <p:cTn id="11" dur="75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35CB461-442F-06B9-4EFE-24A6909738CF}"/>
            </a:ext>
          </a:extLst>
        </p:cNvPr>
        <p:cNvGrpSpPr/>
        <p:nvPr/>
      </p:nvGrpSpPr>
      <p:grpSpPr>
        <a:xfrm>
          <a:off x="0" y="0"/>
          <a:ext cx="0" cy="0"/>
          <a:chOff x="0" y="0"/>
          <a:chExt cx="0" cy="0"/>
        </a:xfrm>
      </p:grpSpPr>
      <p:sp>
        <p:nvSpPr>
          <p:cNvPr id="161" name="Rectangle 160">
            <a:extLst>
              <a:ext uri="{FF2B5EF4-FFF2-40B4-BE49-F238E27FC236}">
                <a16:creationId xmlns:a16="http://schemas.microsoft.com/office/drawing/2014/main" id="{88A242D3-F2E1-D0A5-8F5C-86239A1D4B89}"/>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Vision &amp; Objectives</a:t>
            </a:r>
            <a:endParaRPr lang="en-US" sz="2000" b="0" u="none" strike="noStrike" noProof="0" dirty="0">
              <a:solidFill>
                <a:srgbClr val="000000"/>
              </a:solidFill>
              <a:effectLst/>
              <a:uFillTx/>
              <a:latin typeface="Arial"/>
            </a:endParaRPr>
          </a:p>
        </p:txBody>
      </p:sp>
      <p:sp>
        <p:nvSpPr>
          <p:cNvPr id="3" name="Espace réservé du numéro de diapositive 3">
            <a:extLst>
              <a:ext uri="{FF2B5EF4-FFF2-40B4-BE49-F238E27FC236}">
                <a16:creationId xmlns:a16="http://schemas.microsoft.com/office/drawing/2014/main" id="{F51BC970-6555-BF53-9C4D-3D28AE6C74F4}"/>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9</a:t>
            </a:fld>
            <a:endParaRPr lang="en-US" sz="1200" noProof="0" dirty="0"/>
          </a:p>
        </p:txBody>
      </p:sp>
      <p:sp>
        <p:nvSpPr>
          <p:cNvPr id="13" name="Rectangle : coins arrondis 12">
            <a:extLst>
              <a:ext uri="{FF2B5EF4-FFF2-40B4-BE49-F238E27FC236}">
                <a16:creationId xmlns:a16="http://schemas.microsoft.com/office/drawing/2014/main" id="{F895FAD5-F7CD-B51B-7EF7-D2C14C45EFE0}"/>
              </a:ext>
            </a:extLst>
          </p:cNvPr>
          <p:cNvSpPr/>
          <p:nvPr/>
        </p:nvSpPr>
        <p:spPr>
          <a:xfrm>
            <a:off x="397332" y="578734"/>
            <a:ext cx="9285960" cy="923330"/>
          </a:xfrm>
          <a:prstGeom prst="roundRect">
            <a:avLst/>
          </a:prstGeom>
          <a:solidFill>
            <a:srgbClr val="FFFFFF"/>
          </a:solid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ZoneTexte 11">
            <a:extLst>
              <a:ext uri="{FF2B5EF4-FFF2-40B4-BE49-F238E27FC236}">
                <a16:creationId xmlns:a16="http://schemas.microsoft.com/office/drawing/2014/main" id="{D8FC7A3B-2929-85D8-690C-4430A4320B8F}"/>
              </a:ext>
            </a:extLst>
          </p:cNvPr>
          <p:cNvSpPr txBox="1"/>
          <p:nvPr/>
        </p:nvSpPr>
        <p:spPr>
          <a:xfrm>
            <a:off x="448956" y="609512"/>
            <a:ext cx="9182712" cy="861774"/>
          </a:xfrm>
          <a:prstGeom prst="rect">
            <a:avLst/>
          </a:prstGeom>
          <a:noFill/>
        </p:spPr>
        <p:txBody>
          <a:bodyPr wrap="square" rtlCol="0">
            <a:spAutoFit/>
          </a:bodyPr>
          <a:lstStyle/>
          <a:p>
            <a:pPr algn="ctr"/>
            <a:r>
              <a:rPr lang="en-US" noProof="0" dirty="0"/>
              <a:t>Main objective </a:t>
            </a:r>
          </a:p>
          <a:p>
            <a:pPr algn="ctr"/>
            <a:r>
              <a:rPr lang="en-US" sz="1600" noProof="0" dirty="0"/>
              <a:t>Create a modern second screen tool to pilot and supervise the bioinformatical analysis without manual intervention</a:t>
            </a:r>
          </a:p>
        </p:txBody>
      </p:sp>
      <p:sp>
        <p:nvSpPr>
          <p:cNvPr id="14" name="Ellipse 13">
            <a:extLst>
              <a:ext uri="{FF2B5EF4-FFF2-40B4-BE49-F238E27FC236}">
                <a16:creationId xmlns:a16="http://schemas.microsoft.com/office/drawing/2014/main" id="{FF0D8E8A-5017-0C59-3BCA-27908A6EB0CB}"/>
              </a:ext>
            </a:extLst>
          </p:cNvPr>
          <p:cNvSpPr/>
          <p:nvPr/>
        </p:nvSpPr>
        <p:spPr>
          <a:xfrm>
            <a:off x="2025570" y="-45719"/>
            <a:ext cx="69448"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Hexagone 24">
            <a:extLst>
              <a:ext uri="{FF2B5EF4-FFF2-40B4-BE49-F238E27FC236}">
                <a16:creationId xmlns:a16="http://schemas.microsoft.com/office/drawing/2014/main" id="{A73706DA-B44E-07ED-A07B-C4D4C4C9ECAA}"/>
              </a:ext>
            </a:extLst>
          </p:cNvPr>
          <p:cNvSpPr/>
          <p:nvPr/>
        </p:nvSpPr>
        <p:spPr>
          <a:xfrm>
            <a:off x="3783583" y="2265053"/>
            <a:ext cx="2513456" cy="2166772"/>
          </a:xfrm>
          <a:prstGeom prst="hexagon">
            <a:avLst/>
          </a:prstGeom>
          <a:solidFill>
            <a:srgbClr val="FFFFFF"/>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6" name="Image 25" descr="Une image contenant cercle, Graphique, Caractère coloré&#10;&#10;Le contenu généré par l’IA peut être incorrect.">
            <a:extLst>
              <a:ext uri="{FF2B5EF4-FFF2-40B4-BE49-F238E27FC236}">
                <a16:creationId xmlns:a16="http://schemas.microsoft.com/office/drawing/2014/main" id="{1732DC0A-2ED8-4004-331D-2B659FE204B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53071" y="2571299"/>
            <a:ext cx="1374479" cy="1554280"/>
          </a:xfrm>
          <a:prstGeom prst="rect">
            <a:avLst/>
          </a:prstGeom>
        </p:spPr>
      </p:pic>
      <p:sp>
        <p:nvSpPr>
          <p:cNvPr id="27" name="Hexagone 26">
            <a:extLst>
              <a:ext uri="{FF2B5EF4-FFF2-40B4-BE49-F238E27FC236}">
                <a16:creationId xmlns:a16="http://schemas.microsoft.com/office/drawing/2014/main" id="{A0D2FB4E-077B-7F26-846E-8BADAB61295A}"/>
              </a:ext>
            </a:extLst>
          </p:cNvPr>
          <p:cNvSpPr/>
          <p:nvPr/>
        </p:nvSpPr>
        <p:spPr>
          <a:xfrm>
            <a:off x="-2196119" y="2116535"/>
            <a:ext cx="1493135" cy="1287185"/>
          </a:xfrm>
          <a:prstGeom prst="hexagon">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8" name="Hexagone 27">
            <a:extLst>
              <a:ext uri="{FF2B5EF4-FFF2-40B4-BE49-F238E27FC236}">
                <a16:creationId xmlns:a16="http://schemas.microsoft.com/office/drawing/2014/main" id="{7F141B51-E148-E366-A38F-3268968466E7}"/>
              </a:ext>
            </a:extLst>
          </p:cNvPr>
          <p:cNvSpPr/>
          <p:nvPr/>
        </p:nvSpPr>
        <p:spPr>
          <a:xfrm>
            <a:off x="10783606" y="2116535"/>
            <a:ext cx="1493135" cy="1287185"/>
          </a:xfrm>
          <a:prstGeom prst="hexagon">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9" name="Hexagone 28">
            <a:extLst>
              <a:ext uri="{FF2B5EF4-FFF2-40B4-BE49-F238E27FC236}">
                <a16:creationId xmlns:a16="http://schemas.microsoft.com/office/drawing/2014/main" id="{43BE8A26-98AE-9B17-0B45-8186E4760657}"/>
              </a:ext>
            </a:extLst>
          </p:cNvPr>
          <p:cNvSpPr/>
          <p:nvPr/>
        </p:nvSpPr>
        <p:spPr>
          <a:xfrm>
            <a:off x="10783605" y="6149493"/>
            <a:ext cx="1493135" cy="1287185"/>
          </a:xfrm>
          <a:prstGeom prst="hexagon">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0" name="Hexagone 29">
            <a:extLst>
              <a:ext uri="{FF2B5EF4-FFF2-40B4-BE49-F238E27FC236}">
                <a16:creationId xmlns:a16="http://schemas.microsoft.com/office/drawing/2014/main" id="{67224D56-8C33-66AF-CF86-868ACDF1E983}"/>
              </a:ext>
            </a:extLst>
          </p:cNvPr>
          <p:cNvSpPr/>
          <p:nvPr/>
        </p:nvSpPr>
        <p:spPr>
          <a:xfrm>
            <a:off x="-2196120" y="6199674"/>
            <a:ext cx="1493135" cy="1287185"/>
          </a:xfrm>
          <a:prstGeom prst="hexagon">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Hexagone 30">
            <a:extLst>
              <a:ext uri="{FF2B5EF4-FFF2-40B4-BE49-F238E27FC236}">
                <a16:creationId xmlns:a16="http://schemas.microsoft.com/office/drawing/2014/main" id="{2F398336-1F00-30F1-A9AD-7A6AD366AD5D}"/>
              </a:ext>
            </a:extLst>
          </p:cNvPr>
          <p:cNvSpPr/>
          <p:nvPr/>
        </p:nvSpPr>
        <p:spPr>
          <a:xfrm>
            <a:off x="4293744" y="6199675"/>
            <a:ext cx="1493135" cy="1287185"/>
          </a:xfrm>
          <a:prstGeom prst="hexagon">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829803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75F59B8-E23F-92C7-66D0-03AB99A7BC64}"/>
            </a:ext>
          </a:extLst>
        </p:cNvPr>
        <p:cNvGrpSpPr/>
        <p:nvPr/>
      </p:nvGrpSpPr>
      <p:grpSpPr>
        <a:xfrm>
          <a:off x="0" y="0"/>
          <a:ext cx="0" cy="0"/>
          <a:chOff x="0" y="0"/>
          <a:chExt cx="0" cy="0"/>
        </a:xfrm>
      </p:grpSpPr>
      <p:sp>
        <p:nvSpPr>
          <p:cNvPr id="161" name="Rectangle 160">
            <a:extLst>
              <a:ext uri="{FF2B5EF4-FFF2-40B4-BE49-F238E27FC236}">
                <a16:creationId xmlns:a16="http://schemas.microsoft.com/office/drawing/2014/main" id="{6C8CA86C-AD68-62A5-A3E3-F4FAC67A6D7F}"/>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Vision &amp; Objectives</a:t>
            </a:r>
            <a:endParaRPr lang="en-US" sz="2000" b="0" u="none" strike="noStrike" noProof="0" dirty="0">
              <a:solidFill>
                <a:srgbClr val="000000"/>
              </a:solidFill>
              <a:effectLst/>
              <a:uFillTx/>
              <a:latin typeface="Arial"/>
            </a:endParaRPr>
          </a:p>
        </p:txBody>
      </p:sp>
      <p:sp>
        <p:nvSpPr>
          <p:cNvPr id="3" name="Espace réservé du numéro de diapositive 3">
            <a:extLst>
              <a:ext uri="{FF2B5EF4-FFF2-40B4-BE49-F238E27FC236}">
                <a16:creationId xmlns:a16="http://schemas.microsoft.com/office/drawing/2014/main" id="{0871B0BA-3339-9130-420E-45ACA7F85F53}"/>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10</a:t>
            </a:fld>
            <a:endParaRPr lang="en-US" sz="1200" noProof="0" dirty="0"/>
          </a:p>
        </p:txBody>
      </p:sp>
      <p:sp>
        <p:nvSpPr>
          <p:cNvPr id="13" name="Rectangle : coins arrondis 12">
            <a:extLst>
              <a:ext uri="{FF2B5EF4-FFF2-40B4-BE49-F238E27FC236}">
                <a16:creationId xmlns:a16="http://schemas.microsoft.com/office/drawing/2014/main" id="{2720F523-B1D1-7D65-BD3E-CEFE533DF716}"/>
              </a:ext>
            </a:extLst>
          </p:cNvPr>
          <p:cNvSpPr/>
          <p:nvPr/>
        </p:nvSpPr>
        <p:spPr>
          <a:xfrm>
            <a:off x="397332" y="578734"/>
            <a:ext cx="9285960" cy="923330"/>
          </a:xfrm>
          <a:prstGeom prst="roundRect">
            <a:avLst/>
          </a:prstGeom>
          <a:solidFill>
            <a:srgbClr val="FFFFFF"/>
          </a:solid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ZoneTexte 11">
            <a:extLst>
              <a:ext uri="{FF2B5EF4-FFF2-40B4-BE49-F238E27FC236}">
                <a16:creationId xmlns:a16="http://schemas.microsoft.com/office/drawing/2014/main" id="{1BDFC213-0599-5192-F5FC-D078C07AB33E}"/>
              </a:ext>
            </a:extLst>
          </p:cNvPr>
          <p:cNvSpPr txBox="1"/>
          <p:nvPr/>
        </p:nvSpPr>
        <p:spPr>
          <a:xfrm>
            <a:off x="448956" y="609512"/>
            <a:ext cx="9182712" cy="861774"/>
          </a:xfrm>
          <a:prstGeom prst="rect">
            <a:avLst/>
          </a:prstGeom>
          <a:noFill/>
        </p:spPr>
        <p:txBody>
          <a:bodyPr wrap="square" rtlCol="0">
            <a:spAutoFit/>
          </a:bodyPr>
          <a:lstStyle/>
          <a:p>
            <a:pPr algn="ctr"/>
            <a:r>
              <a:rPr lang="en-US" noProof="0" dirty="0"/>
              <a:t>Main objective </a:t>
            </a:r>
          </a:p>
          <a:p>
            <a:pPr algn="ctr"/>
            <a:r>
              <a:rPr lang="en-US" sz="1600" noProof="0" dirty="0"/>
              <a:t>Create a modern second screen tool to pilot and supervise the bioinformatical analysis without manual intervention</a:t>
            </a:r>
          </a:p>
        </p:txBody>
      </p:sp>
      <p:sp>
        <p:nvSpPr>
          <p:cNvPr id="14" name="Ellipse 13">
            <a:extLst>
              <a:ext uri="{FF2B5EF4-FFF2-40B4-BE49-F238E27FC236}">
                <a16:creationId xmlns:a16="http://schemas.microsoft.com/office/drawing/2014/main" id="{E22E1C26-5F3E-605A-ECF0-3CC2707ADE2B}"/>
              </a:ext>
            </a:extLst>
          </p:cNvPr>
          <p:cNvSpPr/>
          <p:nvPr/>
        </p:nvSpPr>
        <p:spPr>
          <a:xfrm>
            <a:off x="2025570" y="-45719"/>
            <a:ext cx="69448" cy="45719"/>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Hexagone 14">
            <a:extLst>
              <a:ext uri="{FF2B5EF4-FFF2-40B4-BE49-F238E27FC236}">
                <a16:creationId xmlns:a16="http://schemas.microsoft.com/office/drawing/2014/main" id="{D3A6AA9F-C096-FC20-ADE9-00F4A5798A92}"/>
              </a:ext>
            </a:extLst>
          </p:cNvPr>
          <p:cNvSpPr/>
          <p:nvPr/>
        </p:nvSpPr>
        <p:spPr>
          <a:xfrm>
            <a:off x="4293744" y="2367151"/>
            <a:ext cx="1493135" cy="1287185"/>
          </a:xfrm>
          <a:prstGeom prst="hexagon">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6" name="Image 15" descr="Une image contenant cercle, Graphique, Caractère coloré&#10;&#10;Le contenu généré par l’IA peut être incorrect.">
            <a:extLst>
              <a:ext uri="{FF2B5EF4-FFF2-40B4-BE49-F238E27FC236}">
                <a16:creationId xmlns:a16="http://schemas.microsoft.com/office/drawing/2014/main" id="{D8B7F05F-0FB1-B624-D115-B15CF94DA0E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39841" y="2549078"/>
            <a:ext cx="816518" cy="923330"/>
          </a:xfrm>
          <a:prstGeom prst="rect">
            <a:avLst/>
          </a:prstGeom>
        </p:spPr>
      </p:pic>
      <p:sp>
        <p:nvSpPr>
          <p:cNvPr id="17" name="Hexagone 16">
            <a:extLst>
              <a:ext uri="{FF2B5EF4-FFF2-40B4-BE49-F238E27FC236}">
                <a16:creationId xmlns:a16="http://schemas.microsoft.com/office/drawing/2014/main" id="{F3FB1F2D-0C5F-143F-3F07-12BEFFB52076}"/>
              </a:ext>
            </a:extLst>
          </p:cNvPr>
          <p:cNvSpPr/>
          <p:nvPr/>
        </p:nvSpPr>
        <p:spPr>
          <a:xfrm>
            <a:off x="2985481" y="1648411"/>
            <a:ext cx="1493135" cy="1287185"/>
          </a:xfrm>
          <a:prstGeom prst="hexagon">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Hexagone 17">
            <a:extLst>
              <a:ext uri="{FF2B5EF4-FFF2-40B4-BE49-F238E27FC236}">
                <a16:creationId xmlns:a16="http://schemas.microsoft.com/office/drawing/2014/main" id="{47C0A9C2-A58B-EDFC-211C-79CE18CF7FF3}"/>
              </a:ext>
            </a:extLst>
          </p:cNvPr>
          <p:cNvSpPr/>
          <p:nvPr/>
        </p:nvSpPr>
        <p:spPr>
          <a:xfrm>
            <a:off x="5629408" y="1648411"/>
            <a:ext cx="1493135" cy="1287185"/>
          </a:xfrm>
          <a:prstGeom prst="hexagon">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Hexagone 18">
            <a:extLst>
              <a:ext uri="{FF2B5EF4-FFF2-40B4-BE49-F238E27FC236}">
                <a16:creationId xmlns:a16="http://schemas.microsoft.com/office/drawing/2014/main" id="{B6ABB5DD-5EF3-A0FE-AD08-0902E265A6EB}"/>
              </a:ext>
            </a:extLst>
          </p:cNvPr>
          <p:cNvSpPr/>
          <p:nvPr/>
        </p:nvSpPr>
        <p:spPr>
          <a:xfrm>
            <a:off x="5629408" y="3085891"/>
            <a:ext cx="1493135" cy="1287185"/>
          </a:xfrm>
          <a:prstGeom prst="hexagon">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Hexagone 19">
            <a:extLst>
              <a:ext uri="{FF2B5EF4-FFF2-40B4-BE49-F238E27FC236}">
                <a16:creationId xmlns:a16="http://schemas.microsoft.com/office/drawing/2014/main" id="{03842B23-D692-5279-0A8A-6DA43124C530}"/>
              </a:ext>
            </a:extLst>
          </p:cNvPr>
          <p:cNvSpPr/>
          <p:nvPr/>
        </p:nvSpPr>
        <p:spPr>
          <a:xfrm>
            <a:off x="2973657" y="3108036"/>
            <a:ext cx="1493135" cy="1287185"/>
          </a:xfrm>
          <a:prstGeom prst="hexagon">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Hexagone 20">
            <a:extLst>
              <a:ext uri="{FF2B5EF4-FFF2-40B4-BE49-F238E27FC236}">
                <a16:creationId xmlns:a16="http://schemas.microsoft.com/office/drawing/2014/main" id="{A96E1747-466E-8B59-6038-90ACE49EA65D}"/>
              </a:ext>
            </a:extLst>
          </p:cNvPr>
          <p:cNvSpPr/>
          <p:nvPr/>
        </p:nvSpPr>
        <p:spPr>
          <a:xfrm>
            <a:off x="4293744" y="3804631"/>
            <a:ext cx="1493135" cy="1287185"/>
          </a:xfrm>
          <a:prstGeom prst="hexagon">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 name="Graphique 3" descr="Monde avec un remplissage uni">
            <a:extLst>
              <a:ext uri="{FF2B5EF4-FFF2-40B4-BE49-F238E27FC236}">
                <a16:creationId xmlns:a16="http://schemas.microsoft.com/office/drawing/2014/main" id="{38D8F96E-EA1D-A185-2982-264630DFE5F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61148" y="1834803"/>
            <a:ext cx="914400" cy="914400"/>
          </a:xfrm>
          <a:prstGeom prst="rect">
            <a:avLst/>
          </a:prstGeom>
        </p:spPr>
      </p:pic>
      <p:pic>
        <p:nvPicPr>
          <p:cNvPr id="6" name="Graphique 5" descr="Vivats avec un remplissage uni">
            <a:extLst>
              <a:ext uri="{FF2B5EF4-FFF2-40B4-BE49-F238E27FC236}">
                <a16:creationId xmlns:a16="http://schemas.microsoft.com/office/drawing/2014/main" id="{9124F4F7-68B5-93E6-4809-8E7BAEA6CE1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583112" y="3991023"/>
            <a:ext cx="914400" cy="914400"/>
          </a:xfrm>
          <a:prstGeom prst="rect">
            <a:avLst/>
          </a:prstGeom>
        </p:spPr>
      </p:pic>
      <p:pic>
        <p:nvPicPr>
          <p:cNvPr id="8" name="Graphique 7" descr="Main de robot avec un remplissage uni">
            <a:extLst>
              <a:ext uri="{FF2B5EF4-FFF2-40B4-BE49-F238E27FC236}">
                <a16:creationId xmlns:a16="http://schemas.microsoft.com/office/drawing/2014/main" id="{AB5DB8C9-20E5-5B82-B978-6E2508EA91C3}"/>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263024" y="3272283"/>
            <a:ext cx="914400" cy="914400"/>
          </a:xfrm>
          <a:prstGeom prst="rect">
            <a:avLst/>
          </a:prstGeom>
        </p:spPr>
      </p:pic>
      <p:pic>
        <p:nvPicPr>
          <p:cNvPr id="10" name="Graphique 9" descr="Œil avec un remplissage uni">
            <a:extLst>
              <a:ext uri="{FF2B5EF4-FFF2-40B4-BE49-F238E27FC236}">
                <a16:creationId xmlns:a16="http://schemas.microsoft.com/office/drawing/2014/main" id="{43055E60-A9BA-2124-310F-ED456FAA66D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914310" y="3272283"/>
            <a:ext cx="914400" cy="914400"/>
          </a:xfrm>
          <a:prstGeom prst="rect">
            <a:avLst/>
          </a:prstGeom>
        </p:spPr>
      </p:pic>
      <p:pic>
        <p:nvPicPr>
          <p:cNvPr id="11" name="Graphique 10" descr="Processeur avec un remplissage uni">
            <a:extLst>
              <a:ext uri="{FF2B5EF4-FFF2-40B4-BE49-F238E27FC236}">
                <a16:creationId xmlns:a16="http://schemas.microsoft.com/office/drawing/2014/main" id="{27181F67-2BE4-7E99-257E-85A7F039042A}"/>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914310" y="1834803"/>
            <a:ext cx="914400" cy="914400"/>
          </a:xfrm>
          <a:prstGeom prst="rect">
            <a:avLst/>
          </a:prstGeom>
        </p:spPr>
      </p:pic>
      <p:sp>
        <p:nvSpPr>
          <p:cNvPr id="22" name="ZoneTexte 21">
            <a:extLst>
              <a:ext uri="{FF2B5EF4-FFF2-40B4-BE49-F238E27FC236}">
                <a16:creationId xmlns:a16="http://schemas.microsoft.com/office/drawing/2014/main" id="{052DDBF4-664B-C7D2-A84D-A346E3B06E2F}"/>
              </a:ext>
            </a:extLst>
          </p:cNvPr>
          <p:cNvSpPr txBox="1"/>
          <p:nvPr/>
        </p:nvSpPr>
        <p:spPr>
          <a:xfrm>
            <a:off x="137411" y="2103588"/>
            <a:ext cx="2705619" cy="369332"/>
          </a:xfrm>
          <a:prstGeom prst="rect">
            <a:avLst/>
          </a:prstGeom>
          <a:noFill/>
        </p:spPr>
        <p:txBody>
          <a:bodyPr wrap="square" rtlCol="0">
            <a:spAutoFit/>
          </a:bodyPr>
          <a:lstStyle/>
          <a:p>
            <a:pPr algn="r"/>
            <a:r>
              <a:rPr lang="en-US" noProof="0" dirty="0">
                <a:solidFill>
                  <a:srgbClr val="980602"/>
                </a:solidFill>
              </a:rPr>
              <a:t>Intuitive Web interface </a:t>
            </a:r>
          </a:p>
        </p:txBody>
      </p:sp>
      <p:sp>
        <p:nvSpPr>
          <p:cNvPr id="24" name="ZoneTexte 23">
            <a:extLst>
              <a:ext uri="{FF2B5EF4-FFF2-40B4-BE49-F238E27FC236}">
                <a16:creationId xmlns:a16="http://schemas.microsoft.com/office/drawing/2014/main" id="{8DC42C58-7CB5-A461-6E1B-12AEF2170307}"/>
              </a:ext>
            </a:extLst>
          </p:cNvPr>
          <p:cNvSpPr txBox="1"/>
          <p:nvPr/>
        </p:nvSpPr>
        <p:spPr>
          <a:xfrm>
            <a:off x="140607" y="3566962"/>
            <a:ext cx="2705619" cy="369332"/>
          </a:xfrm>
          <a:prstGeom prst="rect">
            <a:avLst/>
          </a:prstGeom>
          <a:noFill/>
        </p:spPr>
        <p:txBody>
          <a:bodyPr wrap="square" rtlCol="0">
            <a:spAutoFit/>
          </a:bodyPr>
          <a:lstStyle/>
          <a:p>
            <a:pPr algn="r"/>
            <a:r>
              <a:rPr lang="en-US" noProof="0" dirty="0">
                <a:solidFill>
                  <a:srgbClr val="980602"/>
                </a:solidFill>
              </a:rPr>
              <a:t>Automatization </a:t>
            </a:r>
          </a:p>
        </p:txBody>
      </p:sp>
      <p:sp>
        <p:nvSpPr>
          <p:cNvPr id="25" name="ZoneTexte 24">
            <a:extLst>
              <a:ext uri="{FF2B5EF4-FFF2-40B4-BE49-F238E27FC236}">
                <a16:creationId xmlns:a16="http://schemas.microsoft.com/office/drawing/2014/main" id="{188F8F2E-31F3-77A3-F200-655DACEE1BB3}"/>
              </a:ext>
            </a:extLst>
          </p:cNvPr>
          <p:cNvSpPr txBox="1"/>
          <p:nvPr/>
        </p:nvSpPr>
        <p:spPr>
          <a:xfrm>
            <a:off x="7198322" y="1970812"/>
            <a:ext cx="2705619" cy="646331"/>
          </a:xfrm>
          <a:prstGeom prst="rect">
            <a:avLst/>
          </a:prstGeom>
          <a:noFill/>
        </p:spPr>
        <p:txBody>
          <a:bodyPr wrap="square" rtlCol="0">
            <a:spAutoFit/>
          </a:bodyPr>
          <a:lstStyle/>
          <a:p>
            <a:r>
              <a:rPr lang="en-US" noProof="0" dirty="0">
                <a:solidFill>
                  <a:srgbClr val="980602"/>
                </a:solidFill>
              </a:rPr>
              <a:t>Intelligent resources optimization</a:t>
            </a:r>
          </a:p>
        </p:txBody>
      </p:sp>
      <p:sp>
        <p:nvSpPr>
          <p:cNvPr id="26" name="ZoneTexte 25">
            <a:extLst>
              <a:ext uri="{FF2B5EF4-FFF2-40B4-BE49-F238E27FC236}">
                <a16:creationId xmlns:a16="http://schemas.microsoft.com/office/drawing/2014/main" id="{E40EE7EE-C670-CC2B-F736-ED731242AF5D}"/>
              </a:ext>
            </a:extLst>
          </p:cNvPr>
          <p:cNvSpPr txBox="1"/>
          <p:nvPr/>
        </p:nvSpPr>
        <p:spPr>
          <a:xfrm>
            <a:off x="7198322" y="3536268"/>
            <a:ext cx="3192488" cy="369332"/>
          </a:xfrm>
          <a:prstGeom prst="rect">
            <a:avLst/>
          </a:prstGeom>
          <a:noFill/>
        </p:spPr>
        <p:txBody>
          <a:bodyPr wrap="square" rtlCol="0">
            <a:spAutoFit/>
          </a:bodyPr>
          <a:lstStyle/>
          <a:p>
            <a:r>
              <a:rPr lang="en-US" noProof="0" dirty="0">
                <a:solidFill>
                  <a:srgbClr val="980602"/>
                </a:solidFill>
              </a:rPr>
              <a:t>Complete cluster visibility</a:t>
            </a:r>
          </a:p>
        </p:txBody>
      </p:sp>
      <p:sp>
        <p:nvSpPr>
          <p:cNvPr id="27" name="ZoneTexte 26">
            <a:extLst>
              <a:ext uri="{FF2B5EF4-FFF2-40B4-BE49-F238E27FC236}">
                <a16:creationId xmlns:a16="http://schemas.microsoft.com/office/drawing/2014/main" id="{5A752019-AF3C-5326-79B5-92AA793D9AEA}"/>
              </a:ext>
            </a:extLst>
          </p:cNvPr>
          <p:cNvSpPr txBox="1"/>
          <p:nvPr/>
        </p:nvSpPr>
        <p:spPr>
          <a:xfrm>
            <a:off x="1950405" y="5154466"/>
            <a:ext cx="6179812" cy="369332"/>
          </a:xfrm>
          <a:prstGeom prst="rect">
            <a:avLst/>
          </a:prstGeom>
          <a:noFill/>
        </p:spPr>
        <p:txBody>
          <a:bodyPr wrap="square" rtlCol="0">
            <a:spAutoFit/>
          </a:bodyPr>
          <a:lstStyle/>
          <a:p>
            <a:pPr algn="ctr"/>
            <a:r>
              <a:rPr lang="en-US" noProof="0" dirty="0">
                <a:solidFill>
                  <a:srgbClr val="980602"/>
                </a:solidFill>
              </a:rPr>
              <a:t>The team can focus on research instead of administration</a:t>
            </a:r>
          </a:p>
        </p:txBody>
      </p:sp>
      <p:pic>
        <p:nvPicPr>
          <p:cNvPr id="2" name="Image 1" descr="Une image contenant électroménager, Électroménager, appareil de cuisine, Gros appareil électroménager&#10;&#10;Le contenu généré par l’IA peut être incorrect.">
            <a:extLst>
              <a:ext uri="{FF2B5EF4-FFF2-40B4-BE49-F238E27FC236}">
                <a16:creationId xmlns:a16="http://schemas.microsoft.com/office/drawing/2014/main" id="{5F89FB4E-0530-9B52-2EB9-6FA205C0514B}"/>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2996918" y="-4306486"/>
            <a:ext cx="4086788" cy="4086788"/>
          </a:xfrm>
          <a:prstGeom prst="rect">
            <a:avLst/>
          </a:prstGeom>
        </p:spPr>
      </p:pic>
      <p:sp>
        <p:nvSpPr>
          <p:cNvPr id="5" name="ZoneTexte 4">
            <a:extLst>
              <a:ext uri="{FF2B5EF4-FFF2-40B4-BE49-F238E27FC236}">
                <a16:creationId xmlns:a16="http://schemas.microsoft.com/office/drawing/2014/main" id="{8156A6F1-43AE-7216-DCEB-308A9EFD09B6}"/>
              </a:ext>
            </a:extLst>
          </p:cNvPr>
          <p:cNvSpPr txBox="1"/>
          <p:nvPr/>
        </p:nvSpPr>
        <p:spPr>
          <a:xfrm>
            <a:off x="3369771" y="-4891261"/>
            <a:ext cx="3356658" cy="584775"/>
          </a:xfrm>
          <a:prstGeom prst="rect">
            <a:avLst/>
          </a:prstGeom>
          <a:noFill/>
        </p:spPr>
        <p:txBody>
          <a:bodyPr wrap="square" rtlCol="0">
            <a:spAutoFit/>
          </a:bodyPr>
          <a:lstStyle/>
          <a:p>
            <a:pPr algn="ctr"/>
            <a:r>
              <a:rPr lang="en-US" sz="3200" noProof="0" dirty="0" err="1"/>
              <a:t>NovaSeqX</a:t>
            </a:r>
            <a:endParaRPr lang="en-US" sz="3200" noProof="0" dirty="0"/>
          </a:p>
        </p:txBody>
      </p:sp>
    </p:spTree>
    <p:extLst>
      <p:ext uri="{BB962C8B-B14F-4D97-AF65-F5344CB8AC3E}">
        <p14:creationId xmlns:p14="http://schemas.microsoft.com/office/powerpoint/2010/main" val="26462436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right)">
                                      <p:cBhvr>
                                        <p:cTn id="7" dur="500"/>
                                        <p:tgtEl>
                                          <p:spTgt spid="4"/>
                                        </p:tgtEl>
                                      </p:cBhvr>
                                    </p:animEffect>
                                  </p:childTnLst>
                                </p:cTn>
                              </p:par>
                            </p:childTnLst>
                          </p:cTn>
                        </p:par>
                        <p:par>
                          <p:cTn id="8" fill="hold">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right)">
                                      <p:cBhvr>
                                        <p:cTn id="11" dur="500"/>
                                        <p:tgtEl>
                                          <p:spTgt spid="22"/>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500"/>
                                        <p:tgtEl>
                                          <p:spTgt spid="11"/>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25"/>
                                        </p:tgtEl>
                                        <p:attrNameLst>
                                          <p:attrName>style.visibility</p:attrName>
                                        </p:attrNameLst>
                                      </p:cBhvr>
                                      <p:to>
                                        <p:strVal val="visible"/>
                                      </p:to>
                                    </p:set>
                                    <p:animEffect transition="in" filter="wipe(left)">
                                      <p:cBhvr>
                                        <p:cTn id="20" dur="500"/>
                                        <p:tgtEl>
                                          <p:spTgt spid="25"/>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2"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right)">
                                      <p:cBhvr>
                                        <p:cTn id="25" dur="500"/>
                                        <p:tgtEl>
                                          <p:spTgt spid="8"/>
                                        </p:tgtEl>
                                      </p:cBhvr>
                                    </p:animEffect>
                                  </p:childTnLst>
                                </p:cTn>
                              </p:par>
                            </p:childTnLst>
                          </p:cTn>
                        </p:par>
                        <p:par>
                          <p:cTn id="26" fill="hold">
                            <p:stCondLst>
                              <p:cond delay="500"/>
                            </p:stCondLst>
                            <p:childTnLst>
                              <p:par>
                                <p:cTn id="27" presetID="22" presetClass="entr" presetSubtype="2" fill="hold" grpId="0" nodeType="after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wipe(right)">
                                      <p:cBhvr>
                                        <p:cTn id="29" dur="500"/>
                                        <p:tgtEl>
                                          <p:spTgt spid="2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left)">
                                      <p:cBhvr>
                                        <p:cTn id="34" dur="500"/>
                                        <p:tgtEl>
                                          <p:spTgt spid="10"/>
                                        </p:tgtEl>
                                      </p:cBhvr>
                                    </p:animEffect>
                                  </p:childTnLst>
                                </p:cTn>
                              </p:par>
                            </p:childTnLst>
                          </p:cTn>
                        </p:par>
                        <p:par>
                          <p:cTn id="35" fill="hold">
                            <p:stCondLst>
                              <p:cond delay="500"/>
                            </p:stCondLst>
                            <p:childTnLst>
                              <p:par>
                                <p:cTn id="36" presetID="22" presetClass="entr" presetSubtype="8" fill="hold" grpId="0" nodeType="afterEffect">
                                  <p:stCondLst>
                                    <p:cond delay="0"/>
                                  </p:stCondLst>
                                  <p:childTnLst>
                                    <p:set>
                                      <p:cBhvr>
                                        <p:cTn id="37" dur="1" fill="hold">
                                          <p:stCondLst>
                                            <p:cond delay="0"/>
                                          </p:stCondLst>
                                        </p:cTn>
                                        <p:tgtEl>
                                          <p:spTgt spid="26"/>
                                        </p:tgtEl>
                                        <p:attrNameLst>
                                          <p:attrName>style.visibility</p:attrName>
                                        </p:attrNameLst>
                                      </p:cBhvr>
                                      <p:to>
                                        <p:strVal val="visible"/>
                                      </p:to>
                                    </p:set>
                                    <p:animEffect transition="in" filter="wipe(left)">
                                      <p:cBhvr>
                                        <p:cTn id="38" dur="500"/>
                                        <p:tgtEl>
                                          <p:spTgt spid="2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1"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wipe(up)">
                                      <p:cBhvr>
                                        <p:cTn id="43" dur="500"/>
                                        <p:tgtEl>
                                          <p:spTgt spid="6"/>
                                        </p:tgtEl>
                                      </p:cBhvr>
                                    </p:animEffect>
                                  </p:childTnLst>
                                </p:cTn>
                              </p:par>
                            </p:childTnLst>
                          </p:cTn>
                        </p:par>
                        <p:par>
                          <p:cTn id="44" fill="hold">
                            <p:stCondLst>
                              <p:cond delay="500"/>
                            </p:stCondLst>
                            <p:childTnLst>
                              <p:par>
                                <p:cTn id="45" presetID="22" presetClass="entr" presetSubtype="1" fill="hold" grpId="0" nodeType="after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wipe(up)">
                                      <p:cBhvr>
                                        <p:cTn id="4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4" grpId="0"/>
      <p:bldP spid="25" grpId="0"/>
      <p:bldP spid="26" grpId="0"/>
      <p:bldP spid="2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8E1BB12-6613-E9F2-A6BE-D296AAFE69F4}"/>
            </a:ext>
          </a:extLst>
        </p:cNvPr>
        <p:cNvGrpSpPr/>
        <p:nvPr/>
      </p:nvGrpSpPr>
      <p:grpSpPr>
        <a:xfrm>
          <a:off x="0" y="0"/>
          <a:ext cx="0" cy="0"/>
          <a:chOff x="0" y="0"/>
          <a:chExt cx="0" cy="0"/>
        </a:xfrm>
      </p:grpSpPr>
      <p:sp>
        <p:nvSpPr>
          <p:cNvPr id="161" name="Rectangle 160">
            <a:extLst>
              <a:ext uri="{FF2B5EF4-FFF2-40B4-BE49-F238E27FC236}">
                <a16:creationId xmlns:a16="http://schemas.microsoft.com/office/drawing/2014/main" id="{30124BE3-7366-02D2-2D53-B819777010C6}"/>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Example</a:t>
            </a:r>
            <a:endParaRPr lang="en-US" sz="2000" b="0" u="none" strike="noStrike" noProof="0" dirty="0">
              <a:solidFill>
                <a:srgbClr val="000000"/>
              </a:solidFill>
              <a:effectLst/>
              <a:uFillTx/>
              <a:latin typeface="Arial"/>
            </a:endParaRPr>
          </a:p>
        </p:txBody>
      </p:sp>
      <p:pic>
        <p:nvPicPr>
          <p:cNvPr id="8" name="Image 7" descr="Une image contenant électroménager, Électroménager, appareil de cuisine, Gros appareil électroménager&#10;&#10;Le contenu généré par l’IA peut être incorrect.">
            <a:extLst>
              <a:ext uri="{FF2B5EF4-FFF2-40B4-BE49-F238E27FC236}">
                <a16:creationId xmlns:a16="http://schemas.microsoft.com/office/drawing/2014/main" id="{0A109793-CE5D-F9F1-089C-9878AEBAB84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96918" y="1178055"/>
            <a:ext cx="4086788" cy="4086788"/>
          </a:xfrm>
          <a:prstGeom prst="rect">
            <a:avLst/>
          </a:prstGeom>
        </p:spPr>
      </p:pic>
      <p:sp>
        <p:nvSpPr>
          <p:cNvPr id="22" name="ZoneTexte 21">
            <a:extLst>
              <a:ext uri="{FF2B5EF4-FFF2-40B4-BE49-F238E27FC236}">
                <a16:creationId xmlns:a16="http://schemas.microsoft.com/office/drawing/2014/main" id="{2901A16B-6438-B004-0190-2A84BED43DB8}"/>
              </a:ext>
            </a:extLst>
          </p:cNvPr>
          <p:cNvSpPr txBox="1"/>
          <p:nvPr/>
        </p:nvSpPr>
        <p:spPr>
          <a:xfrm>
            <a:off x="3369771" y="593280"/>
            <a:ext cx="3356658" cy="584775"/>
          </a:xfrm>
          <a:prstGeom prst="rect">
            <a:avLst/>
          </a:prstGeom>
          <a:noFill/>
        </p:spPr>
        <p:txBody>
          <a:bodyPr wrap="square" rtlCol="0">
            <a:spAutoFit/>
          </a:bodyPr>
          <a:lstStyle/>
          <a:p>
            <a:pPr algn="ctr"/>
            <a:r>
              <a:rPr lang="en-US" sz="3200" noProof="0" dirty="0" err="1"/>
              <a:t>NovaSeqX</a:t>
            </a:r>
            <a:endParaRPr lang="en-US" sz="3200" noProof="0" dirty="0"/>
          </a:p>
        </p:txBody>
      </p:sp>
      <p:sp>
        <p:nvSpPr>
          <p:cNvPr id="23" name="Espace réservé du numéro de diapositive 3">
            <a:extLst>
              <a:ext uri="{FF2B5EF4-FFF2-40B4-BE49-F238E27FC236}">
                <a16:creationId xmlns:a16="http://schemas.microsoft.com/office/drawing/2014/main" id="{DACC13E2-6FFC-88CD-09A3-3B1E0364803D}"/>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11</a:t>
            </a:fld>
            <a:endParaRPr lang="en-US" sz="1200" noProof="0" dirty="0"/>
          </a:p>
        </p:txBody>
      </p:sp>
      <p:sp>
        <p:nvSpPr>
          <p:cNvPr id="2" name="Espace réservé du numéro de diapositive 3">
            <a:extLst>
              <a:ext uri="{FF2B5EF4-FFF2-40B4-BE49-F238E27FC236}">
                <a16:creationId xmlns:a16="http://schemas.microsoft.com/office/drawing/2014/main" id="{B9F21923-5BBB-543D-1BFF-F447B35F8F05}"/>
              </a:ext>
            </a:extLst>
          </p:cNvPr>
          <p:cNvSpPr txBox="1">
            <a:spLocks/>
          </p:cNvSpPr>
          <p:nvPr/>
        </p:nvSpPr>
        <p:spPr>
          <a:xfrm>
            <a:off x="7160741" y="10711041"/>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11</a:t>
            </a:fld>
            <a:endParaRPr lang="en-US" sz="1200" noProof="0" dirty="0"/>
          </a:p>
        </p:txBody>
      </p:sp>
      <p:sp>
        <p:nvSpPr>
          <p:cNvPr id="3" name="Rectangle : coins arrondis 2">
            <a:extLst>
              <a:ext uri="{FF2B5EF4-FFF2-40B4-BE49-F238E27FC236}">
                <a16:creationId xmlns:a16="http://schemas.microsoft.com/office/drawing/2014/main" id="{43979454-5403-ED99-C4D7-26D6F88B3844}"/>
              </a:ext>
            </a:extLst>
          </p:cNvPr>
          <p:cNvSpPr/>
          <p:nvPr/>
        </p:nvSpPr>
        <p:spPr>
          <a:xfrm>
            <a:off x="397332" y="6094960"/>
            <a:ext cx="9285960" cy="923330"/>
          </a:xfrm>
          <a:prstGeom prst="roundRect">
            <a:avLst/>
          </a:prstGeom>
          <a:solidFill>
            <a:srgbClr val="FFFFFF"/>
          </a:solid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ZoneTexte 3">
            <a:extLst>
              <a:ext uri="{FF2B5EF4-FFF2-40B4-BE49-F238E27FC236}">
                <a16:creationId xmlns:a16="http://schemas.microsoft.com/office/drawing/2014/main" id="{A5C7606A-097A-5227-6021-4DF44CBF4FD9}"/>
              </a:ext>
            </a:extLst>
          </p:cNvPr>
          <p:cNvSpPr txBox="1"/>
          <p:nvPr/>
        </p:nvSpPr>
        <p:spPr>
          <a:xfrm>
            <a:off x="448956" y="6125738"/>
            <a:ext cx="9182712" cy="861774"/>
          </a:xfrm>
          <a:prstGeom prst="rect">
            <a:avLst/>
          </a:prstGeom>
          <a:noFill/>
        </p:spPr>
        <p:txBody>
          <a:bodyPr wrap="square" rtlCol="0">
            <a:spAutoFit/>
          </a:bodyPr>
          <a:lstStyle/>
          <a:p>
            <a:pPr algn="ctr"/>
            <a:r>
              <a:rPr lang="en-US" noProof="0" dirty="0"/>
              <a:t>Main objective </a:t>
            </a:r>
          </a:p>
          <a:p>
            <a:pPr algn="ctr"/>
            <a:r>
              <a:rPr lang="en-US" sz="1600" noProof="0" dirty="0"/>
              <a:t>Create a modern second screen tool to pilot and supervise the bioinformatical analysis without manual intervention</a:t>
            </a:r>
          </a:p>
        </p:txBody>
      </p:sp>
      <p:sp>
        <p:nvSpPr>
          <p:cNvPr id="5" name="Hexagone 4">
            <a:extLst>
              <a:ext uri="{FF2B5EF4-FFF2-40B4-BE49-F238E27FC236}">
                <a16:creationId xmlns:a16="http://schemas.microsoft.com/office/drawing/2014/main" id="{5A33553F-2B18-A949-F425-FD67E1E3F06E}"/>
              </a:ext>
            </a:extLst>
          </p:cNvPr>
          <p:cNvSpPr/>
          <p:nvPr/>
        </p:nvSpPr>
        <p:spPr>
          <a:xfrm>
            <a:off x="4293744" y="7883377"/>
            <a:ext cx="1493135" cy="1287185"/>
          </a:xfrm>
          <a:prstGeom prst="hexagon">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 name="Image 5" descr="Une image contenant cercle, Graphique, Caractère coloré&#10;&#10;Le contenu généré par l’IA peut être incorrect.">
            <a:extLst>
              <a:ext uri="{FF2B5EF4-FFF2-40B4-BE49-F238E27FC236}">
                <a16:creationId xmlns:a16="http://schemas.microsoft.com/office/drawing/2014/main" id="{7BCF91D1-1A15-C583-1F23-BAB63AFCA29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39841" y="8065304"/>
            <a:ext cx="816518" cy="923330"/>
          </a:xfrm>
          <a:prstGeom prst="rect">
            <a:avLst/>
          </a:prstGeom>
        </p:spPr>
      </p:pic>
      <p:sp>
        <p:nvSpPr>
          <p:cNvPr id="7" name="Hexagone 6">
            <a:extLst>
              <a:ext uri="{FF2B5EF4-FFF2-40B4-BE49-F238E27FC236}">
                <a16:creationId xmlns:a16="http://schemas.microsoft.com/office/drawing/2014/main" id="{0C4A0909-463D-FC39-30E0-4C741408AB35}"/>
              </a:ext>
            </a:extLst>
          </p:cNvPr>
          <p:cNvSpPr/>
          <p:nvPr/>
        </p:nvSpPr>
        <p:spPr>
          <a:xfrm>
            <a:off x="2985481" y="7164637"/>
            <a:ext cx="1493135" cy="1287185"/>
          </a:xfrm>
          <a:prstGeom prst="hexagon">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Hexagone 8">
            <a:extLst>
              <a:ext uri="{FF2B5EF4-FFF2-40B4-BE49-F238E27FC236}">
                <a16:creationId xmlns:a16="http://schemas.microsoft.com/office/drawing/2014/main" id="{3415D0EE-40B7-D6E2-D136-013609728967}"/>
              </a:ext>
            </a:extLst>
          </p:cNvPr>
          <p:cNvSpPr/>
          <p:nvPr/>
        </p:nvSpPr>
        <p:spPr>
          <a:xfrm>
            <a:off x="5629408" y="7164637"/>
            <a:ext cx="1493135" cy="1287185"/>
          </a:xfrm>
          <a:prstGeom prst="hexagon">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Hexagone 9">
            <a:extLst>
              <a:ext uri="{FF2B5EF4-FFF2-40B4-BE49-F238E27FC236}">
                <a16:creationId xmlns:a16="http://schemas.microsoft.com/office/drawing/2014/main" id="{F38CF5E1-47A5-A8DE-1E35-2897AE2A6648}"/>
              </a:ext>
            </a:extLst>
          </p:cNvPr>
          <p:cNvSpPr/>
          <p:nvPr/>
        </p:nvSpPr>
        <p:spPr>
          <a:xfrm>
            <a:off x="5629408" y="8602117"/>
            <a:ext cx="1493135" cy="1287185"/>
          </a:xfrm>
          <a:prstGeom prst="hexagon">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Hexagone 10">
            <a:extLst>
              <a:ext uri="{FF2B5EF4-FFF2-40B4-BE49-F238E27FC236}">
                <a16:creationId xmlns:a16="http://schemas.microsoft.com/office/drawing/2014/main" id="{C2AEADEE-82A8-CA14-089F-AE506DCF950F}"/>
              </a:ext>
            </a:extLst>
          </p:cNvPr>
          <p:cNvSpPr/>
          <p:nvPr/>
        </p:nvSpPr>
        <p:spPr>
          <a:xfrm>
            <a:off x="2973657" y="8624262"/>
            <a:ext cx="1493135" cy="1287185"/>
          </a:xfrm>
          <a:prstGeom prst="hexagon">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Hexagone 11">
            <a:extLst>
              <a:ext uri="{FF2B5EF4-FFF2-40B4-BE49-F238E27FC236}">
                <a16:creationId xmlns:a16="http://schemas.microsoft.com/office/drawing/2014/main" id="{C647833F-CF9F-58C3-D1E3-3E5D578BB50A}"/>
              </a:ext>
            </a:extLst>
          </p:cNvPr>
          <p:cNvSpPr/>
          <p:nvPr/>
        </p:nvSpPr>
        <p:spPr>
          <a:xfrm>
            <a:off x="4293744" y="9320857"/>
            <a:ext cx="1493135" cy="1287185"/>
          </a:xfrm>
          <a:prstGeom prst="hexagon">
            <a:avLst/>
          </a:prstGeom>
          <a:solidFill>
            <a:srgbClr val="FFFFF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3" name="Graphique 12" descr="Monde avec un remplissage uni">
            <a:extLst>
              <a:ext uri="{FF2B5EF4-FFF2-40B4-BE49-F238E27FC236}">
                <a16:creationId xmlns:a16="http://schemas.microsoft.com/office/drawing/2014/main" id="{D20FF728-05DF-283A-335C-5B795AAA8A9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61148" y="7351029"/>
            <a:ext cx="914400" cy="914400"/>
          </a:xfrm>
          <a:prstGeom prst="rect">
            <a:avLst/>
          </a:prstGeom>
        </p:spPr>
      </p:pic>
      <p:pic>
        <p:nvPicPr>
          <p:cNvPr id="14" name="Graphique 13" descr="Vivats avec un remplissage uni">
            <a:extLst>
              <a:ext uri="{FF2B5EF4-FFF2-40B4-BE49-F238E27FC236}">
                <a16:creationId xmlns:a16="http://schemas.microsoft.com/office/drawing/2014/main" id="{E878AD77-B88B-782B-D980-B78CFD2EFA0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83112" y="9507249"/>
            <a:ext cx="914400" cy="914400"/>
          </a:xfrm>
          <a:prstGeom prst="rect">
            <a:avLst/>
          </a:prstGeom>
        </p:spPr>
      </p:pic>
      <p:pic>
        <p:nvPicPr>
          <p:cNvPr id="15" name="Graphique 14" descr="Main de robot avec un remplissage uni">
            <a:extLst>
              <a:ext uri="{FF2B5EF4-FFF2-40B4-BE49-F238E27FC236}">
                <a16:creationId xmlns:a16="http://schemas.microsoft.com/office/drawing/2014/main" id="{92C5ED96-5359-A2F2-11DC-FA0A115DA46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263024" y="8788509"/>
            <a:ext cx="914400" cy="914400"/>
          </a:xfrm>
          <a:prstGeom prst="rect">
            <a:avLst/>
          </a:prstGeom>
        </p:spPr>
      </p:pic>
      <p:pic>
        <p:nvPicPr>
          <p:cNvPr id="16" name="Graphique 15" descr="Œil avec un remplissage uni">
            <a:extLst>
              <a:ext uri="{FF2B5EF4-FFF2-40B4-BE49-F238E27FC236}">
                <a16:creationId xmlns:a16="http://schemas.microsoft.com/office/drawing/2014/main" id="{AE76660E-3E6C-0F19-8DA9-D697D8F5ED5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914310" y="8788509"/>
            <a:ext cx="914400" cy="914400"/>
          </a:xfrm>
          <a:prstGeom prst="rect">
            <a:avLst/>
          </a:prstGeom>
        </p:spPr>
      </p:pic>
      <p:pic>
        <p:nvPicPr>
          <p:cNvPr id="17" name="Graphique 16" descr="Processeur avec un remplissage uni">
            <a:extLst>
              <a:ext uri="{FF2B5EF4-FFF2-40B4-BE49-F238E27FC236}">
                <a16:creationId xmlns:a16="http://schemas.microsoft.com/office/drawing/2014/main" id="{298EE00D-D95C-59F2-34ED-8C4D4A95EFEC}"/>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914310" y="7351029"/>
            <a:ext cx="914400" cy="914400"/>
          </a:xfrm>
          <a:prstGeom prst="rect">
            <a:avLst/>
          </a:prstGeom>
        </p:spPr>
      </p:pic>
      <p:sp>
        <p:nvSpPr>
          <p:cNvPr id="18" name="ZoneTexte 17">
            <a:extLst>
              <a:ext uri="{FF2B5EF4-FFF2-40B4-BE49-F238E27FC236}">
                <a16:creationId xmlns:a16="http://schemas.microsoft.com/office/drawing/2014/main" id="{994D2A71-E5FA-00C2-9117-4DA7CB771AD2}"/>
              </a:ext>
            </a:extLst>
          </p:cNvPr>
          <p:cNvSpPr txBox="1"/>
          <p:nvPr/>
        </p:nvSpPr>
        <p:spPr>
          <a:xfrm>
            <a:off x="137411" y="7619814"/>
            <a:ext cx="2705619" cy="369332"/>
          </a:xfrm>
          <a:prstGeom prst="rect">
            <a:avLst/>
          </a:prstGeom>
          <a:noFill/>
        </p:spPr>
        <p:txBody>
          <a:bodyPr wrap="square" rtlCol="0">
            <a:spAutoFit/>
          </a:bodyPr>
          <a:lstStyle/>
          <a:p>
            <a:pPr algn="r"/>
            <a:r>
              <a:rPr lang="en-US" noProof="0" dirty="0">
                <a:solidFill>
                  <a:srgbClr val="980602"/>
                </a:solidFill>
              </a:rPr>
              <a:t>Intuitive Web interface </a:t>
            </a:r>
          </a:p>
        </p:txBody>
      </p:sp>
      <p:sp>
        <p:nvSpPr>
          <p:cNvPr id="19" name="ZoneTexte 18">
            <a:extLst>
              <a:ext uri="{FF2B5EF4-FFF2-40B4-BE49-F238E27FC236}">
                <a16:creationId xmlns:a16="http://schemas.microsoft.com/office/drawing/2014/main" id="{5EA769CD-5053-D3B3-5747-928E89FDAB6B}"/>
              </a:ext>
            </a:extLst>
          </p:cNvPr>
          <p:cNvSpPr txBox="1"/>
          <p:nvPr/>
        </p:nvSpPr>
        <p:spPr>
          <a:xfrm>
            <a:off x="140607" y="9083188"/>
            <a:ext cx="2705619" cy="369332"/>
          </a:xfrm>
          <a:prstGeom prst="rect">
            <a:avLst/>
          </a:prstGeom>
          <a:noFill/>
        </p:spPr>
        <p:txBody>
          <a:bodyPr wrap="square" rtlCol="0">
            <a:spAutoFit/>
          </a:bodyPr>
          <a:lstStyle/>
          <a:p>
            <a:pPr algn="r"/>
            <a:r>
              <a:rPr lang="en-US" noProof="0" dirty="0">
                <a:solidFill>
                  <a:srgbClr val="980602"/>
                </a:solidFill>
              </a:rPr>
              <a:t>Automatization </a:t>
            </a:r>
          </a:p>
        </p:txBody>
      </p:sp>
      <p:sp>
        <p:nvSpPr>
          <p:cNvPr id="20" name="ZoneTexte 19">
            <a:extLst>
              <a:ext uri="{FF2B5EF4-FFF2-40B4-BE49-F238E27FC236}">
                <a16:creationId xmlns:a16="http://schemas.microsoft.com/office/drawing/2014/main" id="{5B15161B-8B20-BFF1-608C-E4BCE493EAFE}"/>
              </a:ext>
            </a:extLst>
          </p:cNvPr>
          <p:cNvSpPr txBox="1"/>
          <p:nvPr/>
        </p:nvSpPr>
        <p:spPr>
          <a:xfrm>
            <a:off x="7198322" y="7487038"/>
            <a:ext cx="2705619" cy="646331"/>
          </a:xfrm>
          <a:prstGeom prst="rect">
            <a:avLst/>
          </a:prstGeom>
          <a:noFill/>
        </p:spPr>
        <p:txBody>
          <a:bodyPr wrap="square" rtlCol="0">
            <a:spAutoFit/>
          </a:bodyPr>
          <a:lstStyle/>
          <a:p>
            <a:r>
              <a:rPr lang="en-US" noProof="0" dirty="0">
                <a:solidFill>
                  <a:srgbClr val="980602"/>
                </a:solidFill>
              </a:rPr>
              <a:t>Intelligent resources optimization</a:t>
            </a:r>
          </a:p>
        </p:txBody>
      </p:sp>
      <p:sp>
        <p:nvSpPr>
          <p:cNvPr id="21" name="ZoneTexte 20">
            <a:extLst>
              <a:ext uri="{FF2B5EF4-FFF2-40B4-BE49-F238E27FC236}">
                <a16:creationId xmlns:a16="http://schemas.microsoft.com/office/drawing/2014/main" id="{F49144AF-7FB6-4E03-1433-6BAB9EC45EC5}"/>
              </a:ext>
            </a:extLst>
          </p:cNvPr>
          <p:cNvSpPr txBox="1"/>
          <p:nvPr/>
        </p:nvSpPr>
        <p:spPr>
          <a:xfrm>
            <a:off x="7198322" y="9052494"/>
            <a:ext cx="3192488" cy="369332"/>
          </a:xfrm>
          <a:prstGeom prst="rect">
            <a:avLst/>
          </a:prstGeom>
          <a:noFill/>
        </p:spPr>
        <p:txBody>
          <a:bodyPr wrap="square" rtlCol="0">
            <a:spAutoFit/>
          </a:bodyPr>
          <a:lstStyle/>
          <a:p>
            <a:r>
              <a:rPr lang="en-US" noProof="0" dirty="0">
                <a:solidFill>
                  <a:srgbClr val="980602"/>
                </a:solidFill>
              </a:rPr>
              <a:t>Complete cluster visibility</a:t>
            </a:r>
          </a:p>
        </p:txBody>
      </p:sp>
      <p:sp>
        <p:nvSpPr>
          <p:cNvPr id="24" name="ZoneTexte 23">
            <a:extLst>
              <a:ext uri="{FF2B5EF4-FFF2-40B4-BE49-F238E27FC236}">
                <a16:creationId xmlns:a16="http://schemas.microsoft.com/office/drawing/2014/main" id="{20E7D67D-02D3-EA46-FDAA-C1720155132E}"/>
              </a:ext>
            </a:extLst>
          </p:cNvPr>
          <p:cNvSpPr txBox="1"/>
          <p:nvPr/>
        </p:nvSpPr>
        <p:spPr>
          <a:xfrm>
            <a:off x="1950405" y="10670692"/>
            <a:ext cx="6179812" cy="369332"/>
          </a:xfrm>
          <a:prstGeom prst="rect">
            <a:avLst/>
          </a:prstGeom>
          <a:noFill/>
        </p:spPr>
        <p:txBody>
          <a:bodyPr wrap="square" rtlCol="0">
            <a:spAutoFit/>
          </a:bodyPr>
          <a:lstStyle/>
          <a:p>
            <a:pPr algn="ctr"/>
            <a:r>
              <a:rPr lang="en-US" noProof="0" dirty="0">
                <a:solidFill>
                  <a:srgbClr val="980602"/>
                </a:solidFill>
              </a:rPr>
              <a:t>The team can focus on research instead of administration</a:t>
            </a:r>
          </a:p>
        </p:txBody>
      </p:sp>
    </p:spTree>
    <p:extLst>
      <p:ext uri="{BB962C8B-B14F-4D97-AF65-F5344CB8AC3E}">
        <p14:creationId xmlns:p14="http://schemas.microsoft.com/office/powerpoint/2010/main" val="303393107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3E6218A-9724-A501-3255-E24F905BC7DF}"/>
            </a:ext>
          </a:extLst>
        </p:cNvPr>
        <p:cNvGrpSpPr/>
        <p:nvPr/>
      </p:nvGrpSpPr>
      <p:grpSpPr>
        <a:xfrm>
          <a:off x="0" y="0"/>
          <a:ext cx="0" cy="0"/>
          <a:chOff x="0" y="0"/>
          <a:chExt cx="0" cy="0"/>
        </a:xfrm>
      </p:grpSpPr>
      <mc:AlternateContent xmlns:mc="http://schemas.openxmlformats.org/markup-compatibility/2006">
        <mc:Choice xmlns:am3d="http://schemas.microsoft.com/office/drawing/2017/model3d" Requires="am3d">
          <p:graphicFrame>
            <p:nvGraphicFramePr>
              <p:cNvPr id="21" name="Modèle 3D 20" descr="ADN">
                <a:extLst>
                  <a:ext uri="{FF2B5EF4-FFF2-40B4-BE49-F238E27FC236}">
                    <a16:creationId xmlns:a16="http://schemas.microsoft.com/office/drawing/2014/main" id="{76ED9E8C-B32F-B7E3-F35D-400B62494CB3}"/>
                  </a:ext>
                </a:extLst>
              </p:cNvPr>
              <p:cNvGraphicFramePr>
                <a:graphicFrameLocks noChangeAspect="1"/>
              </p:cNvGraphicFramePr>
              <p:nvPr>
                <p:extLst>
                  <p:ext uri="{D42A27DB-BD31-4B8C-83A1-F6EECF244321}">
                    <p14:modId xmlns:p14="http://schemas.microsoft.com/office/powerpoint/2010/main" val="2213198001"/>
                  </p:ext>
                </p:extLst>
              </p:nvPr>
            </p:nvGraphicFramePr>
            <p:xfrm rot="20977348">
              <a:off x="2650176" y="2351500"/>
              <a:ext cx="402876" cy="1879250"/>
            </p:xfrm>
            <a:graphic>
              <a:graphicData uri="http://schemas.microsoft.com/office/drawing/2017/model3d">
                <am3d:model3d r:embed="rId3">
                  <am3d:spPr>
                    <a:xfrm rot="20977348">
                      <a:off x="0" y="0"/>
                      <a:ext cx="402876" cy="1879250"/>
                    </a:xfrm>
                    <a:prstGeom prst="rect">
                      <a:avLst/>
                    </a:prstGeom>
                  </am3d:spPr>
                  <am3d:camera>
                    <am3d:pos x="0" y="0" z="49127550"/>
                    <am3d:up dx="0" dy="36000000" dz="0"/>
                    <am3d:lookAt x="0" y="0" z="0"/>
                    <am3d:perspective fov="2700000"/>
                  </am3d:camera>
                  <am3d:trans>
                    <am3d:meterPerModelUnit n="1724731" d="1000000"/>
                    <am3d:preTrans dx="-118" dy="-18000000" dz="-1"/>
                    <am3d:scale>
                      <am3d:sx n="1000000" d="1000000"/>
                      <am3d:sy n="1000000" d="1000000"/>
                      <am3d:sz n="1000000" d="1000000"/>
                    </am3d:scale>
                    <am3d:rot/>
                    <am3d:postTrans dx="0" dy="0" dz="0"/>
                  </am3d:trans>
                  <am3d:raster rName="Office3DRenderer" rVer="16.0.8326">
                    <am3d:blip r:embed="rId4"/>
                  </am3d:raster>
                  <am3d:objViewport viewportSz="195950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1" name="Modèle 3D 20" descr="ADN">
                <a:extLst>
                  <a:ext uri="{FF2B5EF4-FFF2-40B4-BE49-F238E27FC236}">
                    <a16:creationId xmlns:a16="http://schemas.microsoft.com/office/drawing/2014/main" id="{76ED9E8C-B32F-B7E3-F35D-400B62494CB3}"/>
                  </a:ext>
                </a:extLst>
              </p:cNvPr>
              <p:cNvPicPr>
                <a:picLocks noGrp="1" noRot="1" noChangeAspect="1" noMove="1" noResize="1" noEditPoints="1" noAdjustHandles="1" noChangeArrowheads="1" noChangeShapeType="1" noCrop="1"/>
              </p:cNvPicPr>
              <p:nvPr/>
            </p:nvPicPr>
            <p:blipFill>
              <a:blip r:embed="rId4"/>
              <a:stretch>
                <a:fillRect/>
              </a:stretch>
            </p:blipFill>
            <p:spPr>
              <a:xfrm rot="20977348">
                <a:off x="2650176" y="2351500"/>
                <a:ext cx="402876" cy="1879250"/>
              </a:xfrm>
              <a:prstGeom prst="rect">
                <a:avLst/>
              </a:prstGeom>
            </p:spPr>
          </p:pic>
        </mc:Fallback>
      </mc:AlternateContent>
      <p:sp>
        <p:nvSpPr>
          <p:cNvPr id="161" name="Rectangle 160">
            <a:extLst>
              <a:ext uri="{FF2B5EF4-FFF2-40B4-BE49-F238E27FC236}">
                <a16:creationId xmlns:a16="http://schemas.microsoft.com/office/drawing/2014/main" id="{FF4F0F53-6A2A-0C18-B28E-AADB9FD8A5D4}"/>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Example</a:t>
            </a:r>
            <a:endParaRPr lang="en-US" sz="2000" b="0" u="none" strike="noStrike" noProof="0" dirty="0">
              <a:solidFill>
                <a:srgbClr val="000000"/>
              </a:solidFill>
              <a:effectLst/>
              <a:uFillTx/>
              <a:latin typeface="Arial"/>
            </a:endParaRPr>
          </a:p>
        </p:txBody>
      </p:sp>
      <p:pic>
        <p:nvPicPr>
          <p:cNvPr id="8" name="Image 7" descr="Une image contenant électroménager, Électroménager, appareil de cuisine, Gros appareil électroménager&#10;&#10;Le contenu généré par l’IA peut être incorrect.">
            <a:extLst>
              <a:ext uri="{FF2B5EF4-FFF2-40B4-BE49-F238E27FC236}">
                <a16:creationId xmlns:a16="http://schemas.microsoft.com/office/drawing/2014/main" id="{36A491ED-7433-2012-D742-4A807E726AB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6730" y="371134"/>
            <a:ext cx="2268484" cy="2268484"/>
          </a:xfrm>
          <a:prstGeom prst="rect">
            <a:avLst/>
          </a:prstGeom>
        </p:spPr>
      </p:pic>
      <p:sp>
        <p:nvSpPr>
          <p:cNvPr id="5" name="ZoneTexte 4">
            <a:extLst>
              <a:ext uri="{FF2B5EF4-FFF2-40B4-BE49-F238E27FC236}">
                <a16:creationId xmlns:a16="http://schemas.microsoft.com/office/drawing/2014/main" id="{047EADCB-CEF6-B696-859D-38D6943ADF45}"/>
              </a:ext>
            </a:extLst>
          </p:cNvPr>
          <p:cNvSpPr txBox="1"/>
          <p:nvPr/>
        </p:nvSpPr>
        <p:spPr>
          <a:xfrm>
            <a:off x="3369770" y="995828"/>
            <a:ext cx="3356658" cy="584775"/>
          </a:xfrm>
          <a:prstGeom prst="rect">
            <a:avLst/>
          </a:prstGeom>
          <a:noFill/>
        </p:spPr>
        <p:txBody>
          <a:bodyPr wrap="square" rtlCol="0">
            <a:spAutoFit/>
          </a:bodyPr>
          <a:lstStyle/>
          <a:p>
            <a:pPr algn="ctr"/>
            <a:r>
              <a:rPr lang="en-US" sz="3200" noProof="0" dirty="0" err="1"/>
              <a:t>NovaSeqX</a:t>
            </a:r>
            <a:endParaRPr lang="en-US" sz="3200" noProof="0" dirty="0"/>
          </a:p>
        </p:txBody>
      </p:sp>
      <p:sp>
        <p:nvSpPr>
          <p:cNvPr id="30" name="Rectangle : coins arrondis 29">
            <a:extLst>
              <a:ext uri="{FF2B5EF4-FFF2-40B4-BE49-F238E27FC236}">
                <a16:creationId xmlns:a16="http://schemas.microsoft.com/office/drawing/2014/main" id="{034C972A-0C1C-AC7B-81C2-956AB3798F4E}"/>
              </a:ext>
            </a:extLst>
          </p:cNvPr>
          <p:cNvSpPr/>
          <p:nvPr/>
        </p:nvSpPr>
        <p:spPr>
          <a:xfrm>
            <a:off x="10701627" y="5682895"/>
            <a:ext cx="1567543" cy="1320800"/>
          </a:xfrm>
          <a:prstGeom prst="round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Rectangle : coins arrondis 30">
            <a:extLst>
              <a:ext uri="{FF2B5EF4-FFF2-40B4-BE49-F238E27FC236}">
                <a16:creationId xmlns:a16="http://schemas.microsoft.com/office/drawing/2014/main" id="{AEEF446C-5346-8626-3776-88555B50D387}"/>
              </a:ext>
            </a:extLst>
          </p:cNvPr>
          <p:cNvSpPr/>
          <p:nvPr/>
        </p:nvSpPr>
        <p:spPr>
          <a:xfrm>
            <a:off x="13189878" y="5682895"/>
            <a:ext cx="1567543" cy="1320800"/>
          </a:xfrm>
          <a:prstGeom prst="round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2" name="Image 31">
            <a:extLst>
              <a:ext uri="{FF2B5EF4-FFF2-40B4-BE49-F238E27FC236}">
                <a16:creationId xmlns:a16="http://schemas.microsoft.com/office/drawing/2014/main" id="{225C4886-07D3-B961-2D75-70862728BD5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990631" y="5845162"/>
            <a:ext cx="989534" cy="989534"/>
          </a:xfrm>
          <a:prstGeom prst="rect">
            <a:avLst/>
          </a:prstGeom>
        </p:spPr>
      </p:pic>
      <p:pic>
        <p:nvPicPr>
          <p:cNvPr id="33" name="Image 32">
            <a:extLst>
              <a:ext uri="{FF2B5EF4-FFF2-40B4-BE49-F238E27FC236}">
                <a16:creationId xmlns:a16="http://schemas.microsoft.com/office/drawing/2014/main" id="{31B2D43B-A5A5-557E-6D80-B6910DBECC8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3401701" y="5816451"/>
            <a:ext cx="1143895" cy="1046955"/>
          </a:xfrm>
          <a:prstGeom prst="rect">
            <a:avLst/>
          </a:prstGeom>
        </p:spPr>
      </p:pic>
      <p:grpSp>
        <p:nvGrpSpPr>
          <p:cNvPr id="34" name="Groupe 33">
            <a:extLst>
              <a:ext uri="{FF2B5EF4-FFF2-40B4-BE49-F238E27FC236}">
                <a16:creationId xmlns:a16="http://schemas.microsoft.com/office/drawing/2014/main" id="{D2C1A796-3F9C-D913-3838-B9D9388658AF}"/>
              </a:ext>
            </a:extLst>
          </p:cNvPr>
          <p:cNvGrpSpPr/>
          <p:nvPr/>
        </p:nvGrpSpPr>
        <p:grpSpPr>
          <a:xfrm>
            <a:off x="10644322" y="7640088"/>
            <a:ext cx="1682151" cy="1320800"/>
            <a:chOff x="4199236" y="3463812"/>
            <a:chExt cx="1682151" cy="1320800"/>
          </a:xfrm>
        </p:grpSpPr>
        <p:sp>
          <p:nvSpPr>
            <p:cNvPr id="35" name="Rectangle : coins arrondis 34">
              <a:extLst>
                <a:ext uri="{FF2B5EF4-FFF2-40B4-BE49-F238E27FC236}">
                  <a16:creationId xmlns:a16="http://schemas.microsoft.com/office/drawing/2014/main" id="{7F22251B-F755-C30F-14F9-85935DD2102C}"/>
                </a:ext>
              </a:extLst>
            </p:cNvPr>
            <p:cNvSpPr/>
            <p:nvPr/>
          </p:nvSpPr>
          <p:spPr>
            <a:xfrm>
              <a:off x="4264328" y="3463812"/>
              <a:ext cx="1567543" cy="1320800"/>
            </a:xfrm>
            <a:prstGeom prst="round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36" name="Groupe 35">
              <a:extLst>
                <a:ext uri="{FF2B5EF4-FFF2-40B4-BE49-F238E27FC236}">
                  <a16:creationId xmlns:a16="http://schemas.microsoft.com/office/drawing/2014/main" id="{46F63832-22F4-A68C-DFFD-1BBAD6FDE65C}"/>
                </a:ext>
              </a:extLst>
            </p:cNvPr>
            <p:cNvGrpSpPr/>
            <p:nvPr/>
          </p:nvGrpSpPr>
          <p:grpSpPr>
            <a:xfrm>
              <a:off x="4706639" y="3532823"/>
              <a:ext cx="682920" cy="752475"/>
              <a:chOff x="4678397" y="3610461"/>
              <a:chExt cx="682920" cy="752475"/>
            </a:xfrm>
          </p:grpSpPr>
          <p:pic>
            <p:nvPicPr>
              <p:cNvPr id="39" name="Image 38">
                <a:extLst>
                  <a:ext uri="{FF2B5EF4-FFF2-40B4-BE49-F238E27FC236}">
                    <a16:creationId xmlns:a16="http://schemas.microsoft.com/office/drawing/2014/main" id="{DEB765CE-D9B4-1A08-2BE0-AC822A227F99}"/>
                  </a:ext>
                </a:extLst>
              </p:cNvPr>
              <p:cNvPicPr>
                <a:picLocks noChangeAspect="1"/>
              </p:cNvPicPr>
              <p:nvPr/>
            </p:nvPicPr>
            <p:blipFill>
              <a:blip r:embed="rId8">
                <a:extLst>
                  <a:ext uri="{28A0092B-C50C-407E-A947-70E740481C1C}">
                    <a14:useLocalDpi xmlns:a14="http://schemas.microsoft.com/office/drawing/2010/main" val="0"/>
                  </a:ext>
                </a:extLst>
              </a:blip>
              <a:srcRect r="64506"/>
              <a:stretch>
                <a:fillRect/>
              </a:stretch>
            </p:blipFill>
            <p:spPr>
              <a:xfrm>
                <a:off x="4678397" y="3610461"/>
                <a:ext cx="682920" cy="752475"/>
              </a:xfrm>
              <a:prstGeom prst="rect">
                <a:avLst/>
              </a:prstGeom>
            </p:spPr>
          </p:pic>
          <p:sp>
            <p:nvSpPr>
              <p:cNvPr id="40" name="Rectangle 39">
                <a:extLst>
                  <a:ext uri="{FF2B5EF4-FFF2-40B4-BE49-F238E27FC236}">
                    <a16:creationId xmlns:a16="http://schemas.microsoft.com/office/drawing/2014/main" id="{AF25FA9B-EA06-E0AD-35A3-E3E22F3C1F66}"/>
                  </a:ext>
                </a:extLst>
              </p:cNvPr>
              <p:cNvSpPr/>
              <p:nvPr/>
            </p:nvSpPr>
            <p:spPr>
              <a:xfrm>
                <a:off x="5223294" y="3748177"/>
                <a:ext cx="138023" cy="27173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7" name="ZoneTexte 36">
              <a:extLst>
                <a:ext uri="{FF2B5EF4-FFF2-40B4-BE49-F238E27FC236}">
                  <a16:creationId xmlns:a16="http://schemas.microsoft.com/office/drawing/2014/main" id="{A7BAAAF1-2D1A-7534-0220-07F882C7726A}"/>
                </a:ext>
              </a:extLst>
            </p:cNvPr>
            <p:cNvSpPr txBox="1"/>
            <p:nvPr/>
          </p:nvSpPr>
          <p:spPr>
            <a:xfrm>
              <a:off x="4226115" y="4238348"/>
              <a:ext cx="1643968" cy="369332"/>
            </a:xfrm>
            <a:prstGeom prst="rect">
              <a:avLst/>
            </a:prstGeom>
            <a:noFill/>
          </p:spPr>
          <p:txBody>
            <a:bodyPr wrap="square" rtlCol="0">
              <a:spAutoFit/>
            </a:bodyPr>
            <a:lstStyle/>
            <a:p>
              <a:pPr algn="ctr"/>
              <a:r>
                <a:rPr lang="en-US" noProof="0" dirty="0">
                  <a:solidFill>
                    <a:srgbClr val="980602"/>
                  </a:solidFill>
                </a:rPr>
                <a:t>TRANSLAD</a:t>
              </a:r>
            </a:p>
          </p:txBody>
        </p:sp>
        <p:sp>
          <p:nvSpPr>
            <p:cNvPr id="38" name="ZoneTexte 37">
              <a:extLst>
                <a:ext uri="{FF2B5EF4-FFF2-40B4-BE49-F238E27FC236}">
                  <a16:creationId xmlns:a16="http://schemas.microsoft.com/office/drawing/2014/main" id="{0FC50606-D6F5-6F2D-92E3-D4B7F1216976}"/>
                </a:ext>
              </a:extLst>
            </p:cNvPr>
            <p:cNvSpPr txBox="1"/>
            <p:nvPr/>
          </p:nvSpPr>
          <p:spPr>
            <a:xfrm>
              <a:off x="4199236" y="4484569"/>
              <a:ext cx="1682151" cy="246221"/>
            </a:xfrm>
            <a:prstGeom prst="rect">
              <a:avLst/>
            </a:prstGeom>
            <a:noFill/>
          </p:spPr>
          <p:txBody>
            <a:bodyPr wrap="square" rtlCol="0">
              <a:spAutoFit/>
            </a:bodyPr>
            <a:lstStyle/>
            <a:p>
              <a:pPr algn="ctr"/>
              <a:r>
                <a:rPr lang="en-US" sz="500" noProof="0" dirty="0"/>
                <a:t>MEDECINE TRANSLATIONNELLE </a:t>
              </a:r>
            </a:p>
            <a:p>
              <a:pPr algn="ctr"/>
              <a:r>
                <a:rPr lang="en-US" sz="500" noProof="0" dirty="0"/>
                <a:t>DANS LES ANOMALIES DU DEVELOPPEMENT</a:t>
              </a:r>
            </a:p>
          </p:txBody>
        </p:sp>
      </p:grpSp>
      <p:cxnSp>
        <p:nvCxnSpPr>
          <p:cNvPr id="41" name="Connecteur droit avec flèche 40">
            <a:extLst>
              <a:ext uri="{FF2B5EF4-FFF2-40B4-BE49-F238E27FC236}">
                <a16:creationId xmlns:a16="http://schemas.microsoft.com/office/drawing/2014/main" id="{EFB70AAB-CAE5-D78B-516F-B3AA9F811D1E}"/>
              </a:ext>
            </a:extLst>
          </p:cNvPr>
          <p:cNvCxnSpPr>
            <a:cxnSpLocks/>
            <a:endCxn id="31" idx="1"/>
          </p:cNvCxnSpPr>
          <p:nvPr/>
        </p:nvCxnSpPr>
        <p:spPr>
          <a:xfrm>
            <a:off x="12269170" y="6339928"/>
            <a:ext cx="920708" cy="3367"/>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Connecteur droit avec flèche 41">
            <a:extLst>
              <a:ext uri="{FF2B5EF4-FFF2-40B4-BE49-F238E27FC236}">
                <a16:creationId xmlns:a16="http://schemas.microsoft.com/office/drawing/2014/main" id="{BBA6180A-1D05-E98F-BCBA-AF98D62A70C6}"/>
              </a:ext>
            </a:extLst>
          </p:cNvPr>
          <p:cNvCxnSpPr>
            <a:cxnSpLocks/>
            <a:stCxn id="30" idx="2"/>
            <a:endCxn id="35" idx="0"/>
          </p:cNvCxnSpPr>
          <p:nvPr/>
        </p:nvCxnSpPr>
        <p:spPr>
          <a:xfrm>
            <a:off x="11485399" y="7003695"/>
            <a:ext cx="7787" cy="6363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Espace réservé du numéro de diapositive 3">
            <a:extLst>
              <a:ext uri="{FF2B5EF4-FFF2-40B4-BE49-F238E27FC236}">
                <a16:creationId xmlns:a16="http://schemas.microsoft.com/office/drawing/2014/main" id="{A9B11A0B-78CC-EC57-DB56-EB3B13D478EB}"/>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12</a:t>
            </a:fld>
            <a:endParaRPr lang="en-US" sz="1200" noProof="0" dirty="0"/>
          </a:p>
        </p:txBody>
      </p:sp>
      <p:grpSp>
        <p:nvGrpSpPr>
          <p:cNvPr id="44" name="Groupe 43">
            <a:extLst>
              <a:ext uri="{FF2B5EF4-FFF2-40B4-BE49-F238E27FC236}">
                <a16:creationId xmlns:a16="http://schemas.microsoft.com/office/drawing/2014/main" id="{36C1C917-488F-9B8B-E23F-9BD9A17B061C}"/>
              </a:ext>
            </a:extLst>
          </p:cNvPr>
          <p:cNvGrpSpPr/>
          <p:nvPr/>
        </p:nvGrpSpPr>
        <p:grpSpPr>
          <a:xfrm>
            <a:off x="4590899" y="2833925"/>
            <a:ext cx="914400" cy="914400"/>
            <a:chOff x="1682041" y="2378075"/>
            <a:chExt cx="914400" cy="914400"/>
          </a:xfrm>
        </p:grpSpPr>
        <p:sp>
          <p:nvSpPr>
            <p:cNvPr id="45" name="Rectangle 44">
              <a:extLst>
                <a:ext uri="{FF2B5EF4-FFF2-40B4-BE49-F238E27FC236}">
                  <a16:creationId xmlns:a16="http://schemas.microsoft.com/office/drawing/2014/main" id="{B94AF247-9BF5-EC5B-EA0D-802A1BC3B165}"/>
                </a:ext>
              </a:extLst>
            </p:cNvPr>
            <p:cNvSpPr/>
            <p:nvPr/>
          </p:nvSpPr>
          <p:spPr>
            <a:xfrm>
              <a:off x="1844601" y="2448560"/>
              <a:ext cx="589280" cy="772160"/>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6" name="Graphique 45" descr="Document avec un remplissage uni">
              <a:extLst>
                <a:ext uri="{FF2B5EF4-FFF2-40B4-BE49-F238E27FC236}">
                  <a16:creationId xmlns:a16="http://schemas.microsoft.com/office/drawing/2014/main" id="{F524B870-CEC7-B329-4C9B-45370630336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82041" y="2378075"/>
              <a:ext cx="914400" cy="914400"/>
            </a:xfrm>
            <a:prstGeom prst="rect">
              <a:avLst/>
            </a:prstGeom>
          </p:spPr>
        </p:pic>
      </p:grpSp>
      <p:grpSp>
        <p:nvGrpSpPr>
          <p:cNvPr id="20" name="Groupe 19">
            <a:extLst>
              <a:ext uri="{FF2B5EF4-FFF2-40B4-BE49-F238E27FC236}">
                <a16:creationId xmlns:a16="http://schemas.microsoft.com/office/drawing/2014/main" id="{4778D081-D126-2435-D5C1-FB73A172A571}"/>
              </a:ext>
            </a:extLst>
          </p:cNvPr>
          <p:cNvGrpSpPr/>
          <p:nvPr/>
        </p:nvGrpSpPr>
        <p:grpSpPr>
          <a:xfrm>
            <a:off x="4287242" y="2121247"/>
            <a:ext cx="1506139" cy="2553475"/>
            <a:chOff x="4673599" y="1162755"/>
            <a:chExt cx="2088106" cy="3540129"/>
          </a:xfrm>
        </p:grpSpPr>
        <p:sp>
          <p:nvSpPr>
            <p:cNvPr id="2" name="Rectangle : coins arrondis 1">
              <a:extLst>
                <a:ext uri="{FF2B5EF4-FFF2-40B4-BE49-F238E27FC236}">
                  <a16:creationId xmlns:a16="http://schemas.microsoft.com/office/drawing/2014/main" id="{A4EE8111-E2F9-4778-788F-87DEDB3751FE}"/>
                </a:ext>
              </a:extLst>
            </p:cNvPr>
            <p:cNvSpPr/>
            <p:nvPr/>
          </p:nvSpPr>
          <p:spPr>
            <a:xfrm>
              <a:off x="4673599" y="1162756"/>
              <a:ext cx="2077157" cy="3540128"/>
            </a:xfrm>
            <a:prstGeom prst="roundRect">
              <a:avLst/>
            </a:prstGeom>
            <a:solidFill>
              <a:srgbClr val="DCDCDC"/>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4" name="Connecteur droit 13">
              <a:extLst>
                <a:ext uri="{FF2B5EF4-FFF2-40B4-BE49-F238E27FC236}">
                  <a16:creationId xmlns:a16="http://schemas.microsoft.com/office/drawing/2014/main" id="{6EEDC07A-CDF0-6B57-E426-791E571B5375}"/>
                </a:ext>
              </a:extLst>
            </p:cNvPr>
            <p:cNvCxnSpPr>
              <a:cxnSpLocks/>
            </p:cNvCxnSpPr>
            <p:nvPr/>
          </p:nvCxnSpPr>
          <p:spPr>
            <a:xfrm flipV="1">
              <a:off x="5052445" y="1162756"/>
              <a:ext cx="0" cy="119182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Connecteur droit 17">
              <a:extLst>
                <a:ext uri="{FF2B5EF4-FFF2-40B4-BE49-F238E27FC236}">
                  <a16:creationId xmlns:a16="http://schemas.microsoft.com/office/drawing/2014/main" id="{E848BC0C-0FFC-7CA8-D353-AB55AB584A58}"/>
                </a:ext>
              </a:extLst>
            </p:cNvPr>
            <p:cNvCxnSpPr>
              <a:cxnSpLocks/>
            </p:cNvCxnSpPr>
            <p:nvPr/>
          </p:nvCxnSpPr>
          <p:spPr>
            <a:xfrm flipV="1">
              <a:off x="6401185" y="1162755"/>
              <a:ext cx="0" cy="119182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tangle : coins arrondis 3">
              <a:extLst>
                <a:ext uri="{FF2B5EF4-FFF2-40B4-BE49-F238E27FC236}">
                  <a16:creationId xmlns:a16="http://schemas.microsoft.com/office/drawing/2014/main" id="{65FA209D-BB4A-C366-F458-584772C0EF63}"/>
                </a:ext>
              </a:extLst>
            </p:cNvPr>
            <p:cNvSpPr/>
            <p:nvPr/>
          </p:nvSpPr>
          <p:spPr>
            <a:xfrm>
              <a:off x="4925388" y="1361596"/>
              <a:ext cx="1599589" cy="828448"/>
            </a:xfrm>
            <a:prstGeom prst="roundRect">
              <a:avLst/>
            </a:prstGeom>
            <a:solidFill>
              <a:srgbClr val="DCDCDC"/>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 coins arrondis 5">
              <a:extLst>
                <a:ext uri="{FF2B5EF4-FFF2-40B4-BE49-F238E27FC236}">
                  <a16:creationId xmlns:a16="http://schemas.microsoft.com/office/drawing/2014/main" id="{FDF72905-1335-8681-5608-6BE47310B0E9}"/>
                </a:ext>
              </a:extLst>
            </p:cNvPr>
            <p:cNvSpPr/>
            <p:nvPr/>
          </p:nvSpPr>
          <p:spPr>
            <a:xfrm>
              <a:off x="5362560" y="2704772"/>
              <a:ext cx="699233" cy="1735087"/>
            </a:xfrm>
            <a:prstGeom prst="roundRect">
              <a:avLst>
                <a:gd name="adj" fmla="val 50000"/>
              </a:avLst>
            </a:prstGeom>
            <a:gradFill flip="none" rotWithShape="1">
              <a:gsLst>
                <a:gs pos="33000">
                  <a:srgbClr val="C5C5F7"/>
                </a:gs>
                <a:gs pos="0">
                  <a:srgbClr val="CDBEF7"/>
                </a:gs>
                <a:gs pos="66000">
                  <a:srgbClr val="CACEF1"/>
                </a:gs>
                <a:gs pos="100000">
                  <a:srgbClr val="BEC8E4"/>
                </a:gs>
              </a:gsLst>
              <a:lin ang="16200000" scaled="1"/>
              <a:tileRect/>
            </a:gra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9" name="Connecteur droit 8">
              <a:extLst>
                <a:ext uri="{FF2B5EF4-FFF2-40B4-BE49-F238E27FC236}">
                  <a16:creationId xmlns:a16="http://schemas.microsoft.com/office/drawing/2014/main" id="{ED5F1DFF-F313-72A6-BDEA-D018D9DE40D0}"/>
                </a:ext>
              </a:extLst>
            </p:cNvPr>
            <p:cNvCxnSpPr>
              <a:cxnSpLocks/>
              <a:stCxn id="2" idx="2"/>
            </p:cNvCxnSpPr>
            <p:nvPr/>
          </p:nvCxnSpPr>
          <p:spPr>
            <a:xfrm flipV="1">
              <a:off x="5712178" y="2510329"/>
              <a:ext cx="10949" cy="2192555"/>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Connecteur droit 9">
              <a:extLst>
                <a:ext uri="{FF2B5EF4-FFF2-40B4-BE49-F238E27FC236}">
                  <a16:creationId xmlns:a16="http://schemas.microsoft.com/office/drawing/2014/main" id="{15BA8196-D090-C3F3-8A49-294E80AAD267}"/>
                </a:ext>
              </a:extLst>
            </p:cNvPr>
            <p:cNvCxnSpPr>
              <a:cxnSpLocks/>
            </p:cNvCxnSpPr>
            <p:nvPr/>
          </p:nvCxnSpPr>
          <p:spPr>
            <a:xfrm flipH="1">
              <a:off x="4673600" y="2510329"/>
              <a:ext cx="207715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Connecteur droit 11">
              <a:extLst>
                <a:ext uri="{FF2B5EF4-FFF2-40B4-BE49-F238E27FC236}">
                  <a16:creationId xmlns:a16="http://schemas.microsoft.com/office/drawing/2014/main" id="{4B73B2E2-906A-264B-71D6-F93862065111}"/>
                </a:ext>
              </a:extLst>
            </p:cNvPr>
            <p:cNvCxnSpPr>
              <a:cxnSpLocks/>
            </p:cNvCxnSpPr>
            <p:nvPr/>
          </p:nvCxnSpPr>
          <p:spPr>
            <a:xfrm flipH="1">
              <a:off x="4684549" y="2365549"/>
              <a:ext cx="207715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9745472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0" presetClass="entr" presetSubtype="128"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1000"/>
                                        <p:tgtEl>
                                          <p:spTgt spid="21"/>
                                        </p:tgtEl>
                                      </p:cBhvr>
                                    </p:animEffect>
                                    <p:anim calcmode="lin" valueType="num">
                                      <p:cBhvr additive="sum">
                                        <p:cTn id="8" dur="1000" fill="hold"/>
                                        <p:tgtEl>
                                          <p:spTgt spid="21"/>
                                        </p:tgtEl>
                                        <p:attrNameLst>
                                          <p:attrName>3d.view.rotation.y</p:attrName>
                                        </p:attrNameLst>
                                      </p:cBhvr>
                                      <p:tavLst>
                                        <p:tav tm="0">
                                          <p:val>
                                            <p:fltVal val="-40"/>
                                          </p:val>
                                        </p:tav>
                                        <p:tav tm="3330">
                                          <p:val>
                                            <p:fltVal val="-39.8698"/>
                                          </p:val>
                                        </p:tav>
                                        <p:tav tm="6660">
                                          <p:val>
                                            <p:fltVal val="-39.4913"/>
                                          </p:val>
                                        </p:tav>
                                        <p:tav tm="9990">
                                          <p:val>
                                            <p:fltVal val="-38.8821"/>
                                          </p:val>
                                        </p:tav>
                                        <p:tav tm="13320">
                                          <p:val>
                                            <p:fltVal val="-38.0599"/>
                                          </p:val>
                                        </p:tav>
                                        <p:tav tm="16650">
                                          <p:val>
                                            <p:fltVal val="-37.0425"/>
                                          </p:val>
                                        </p:tav>
                                        <p:tav tm="19970">
                                          <p:val>
                                            <p:fltVal val="-35.8515"/>
                                          </p:val>
                                        </p:tav>
                                        <p:tav tm="23290">
                                          <p:val>
                                            <p:fltVal val="-34.5015"/>
                                          </p:val>
                                        </p:tav>
                                        <p:tav tm="26620">
                                          <p:val>
                                            <p:fltVal val="-33.0055"/>
                                          </p:val>
                                        </p:tav>
                                        <p:tav tm="29950">
                                          <p:val>
                                            <p:fltVal val="-31.3851"/>
                                          </p:val>
                                        </p:tav>
                                        <p:tav tm="33280">
                                          <p:val>
                                            <p:fltVal val="-29.658"/>
                                          </p:val>
                                        </p:tav>
                                        <p:tav tm="36610">
                                          <p:val>
                                            <p:fltVal val="-27.8419"/>
                                          </p:val>
                                        </p:tav>
                                        <p:tav tm="39940">
                                          <p:val>
                                            <p:fltVal val="-25.9545"/>
                                          </p:val>
                                        </p:tav>
                                        <p:tav tm="43270">
                                          <p:val>
                                            <p:fltVal val="-24.0136"/>
                                          </p:val>
                                        </p:tav>
                                        <p:tav tm="46600">
                                          <p:val>
                                            <p:fltVal val="-22.0368"/>
                                          </p:val>
                                        </p:tav>
                                        <p:tav tm="49930">
                                          <p:val>
                                            <p:fltVal val="-20.0419"/>
                                          </p:val>
                                        </p:tav>
                                        <p:tav tm="53250">
                                          <p:val>
                                            <p:fltVal val="-18.0527"/>
                                          </p:val>
                                        </p:tav>
                                        <p:tav tm="56580">
                                          <p:val>
                                            <p:fltVal val="-16.0747"/>
                                          </p:val>
                                        </p:tav>
                                        <p:tav tm="59900">
                                          <p:val>
                                            <p:fltVal val="-14.1376"/>
                                          </p:val>
                                        </p:tav>
                                        <p:tav tm="63220">
                                          <p:val>
                                            <p:fltVal val="-12.2528"/>
                                          </p:val>
                                        </p:tav>
                                        <p:tav tm="66540">
                                          <p:val>
                                            <p:fltVal val="-10.4379"/>
                                          </p:val>
                                        </p:tav>
                                        <p:tav tm="69870">
                                          <p:val>
                                            <p:fltVal val="-8.7056"/>
                                          </p:val>
                                        </p:tav>
                                        <p:tav tm="73190">
                                          <p:val>
                                            <p:fltVal val="-7.0836"/>
                                          </p:val>
                                        </p:tav>
                                        <p:tav tm="76510">
                                          <p:val>
                                            <p:fltVal val="-5.5844"/>
                                          </p:val>
                                        </p:tav>
                                        <p:tav tm="79830">
                                          <p:val>
                                            <p:fltVal val="-4.2254"/>
                                          </p:val>
                                        </p:tav>
                                        <p:tav tm="83160">
                                          <p:val>
                                            <p:fltVal val="-3.0209"/>
                                          </p:val>
                                        </p:tav>
                                        <p:tav tm="86480">
                                          <p:val>
                                            <p:fltVal val="-1.9957"/>
                                          </p:val>
                                        </p:tav>
                                        <p:tav tm="89800">
                                          <p:val>
                                            <p:fltVal val="-1.1635"/>
                                          </p:val>
                                        </p:tav>
                                        <p:tav tm="93120">
                                          <p:val>
                                            <p:fltVal val="-0.5419"/>
                                          </p:val>
                                        </p:tav>
                                        <p:tav tm="96450">
                                          <p:val>
                                            <p:fltVal val="-0.1476"/>
                                          </p:val>
                                        </p:tav>
                                        <p:tav tm="100000">
                                          <p:val>
                                            <p:fltVal val="0"/>
                                          </p:val>
                                        </p:tav>
                                      </p:tavLst>
                                    </p:anim>
                                    <p:anim calcmode="lin" valueType="num">
                                      <p:cBhvr additive="mult">
                                        <p:cTn id="9" dur="1000" fill="hold"/>
                                        <p:tgtEl>
                                          <p:spTgt spid="21"/>
                                        </p:tgtEl>
                                        <p:attrNameLst>
                                          <p:attrName>3d.object.scale.x</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0" dur="1000" fill="hold"/>
                                        <p:tgtEl>
                                          <p:spTgt spid="21"/>
                                        </p:tgtEl>
                                        <p:attrNameLst>
                                          <p:attrName>3d.object.scale.y</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anim calcmode="lin" valueType="num">
                                      <p:cBhvr additive="mult">
                                        <p:cTn id="11" dur="1000" fill="hold"/>
                                        <p:tgtEl>
                                          <p:spTgt spid="21"/>
                                        </p:tgtEl>
                                        <p:attrNameLst>
                                          <p:attrName>3d.object.scale.z</p:attrName>
                                        </p:attrNameLst>
                                      </p:cBhvr>
                                      <p:tavLst>
                                        <p:tav tm="0">
                                          <p:val>
                                            <p:fltVal val="0.8"/>
                                          </p:val>
                                        </p:tav>
                                        <p:tav tm="3330">
                                          <p:val>
                                            <p:fltVal val="0.8104"/>
                                          </p:val>
                                        </p:tav>
                                        <p:tav tm="6660">
                                          <p:val>
                                            <p:fltVal val="0.8208"/>
                                          </p:val>
                                        </p:tav>
                                        <p:tav tm="9990">
                                          <p:val>
                                            <p:fltVal val="0.8312"/>
                                          </p:val>
                                        </p:tav>
                                        <p:tav tm="13320">
                                          <p:val>
                                            <p:fltVal val="0.8415"/>
                                          </p:val>
                                        </p:tav>
                                        <p:tav tm="16650">
                                          <p:val>
                                            <p:fltVal val="0.8517"/>
                                          </p:val>
                                        </p:tav>
                                        <p:tav tm="19970">
                                          <p:val>
                                            <p:fltVal val="0.8617"/>
                                          </p:val>
                                        </p:tav>
                                        <p:tav tm="23290">
                                          <p:val>
                                            <p:fltVal val="0.8715"/>
                                          </p:val>
                                        </p:tav>
                                        <p:tav tm="26620">
                                          <p:val>
                                            <p:fltVal val="0.8812"/>
                                          </p:val>
                                        </p:tav>
                                        <p:tav tm="29950">
                                          <p:val>
                                            <p:fltVal val="0.8906"/>
                                          </p:val>
                                        </p:tav>
                                        <p:tav tm="33280">
                                          <p:val>
                                            <p:fltVal val="0.8998"/>
                                          </p:val>
                                        </p:tav>
                                        <p:tav tm="36610">
                                          <p:val>
                                            <p:fltVal val="0.9087"/>
                                          </p:val>
                                        </p:tav>
                                        <p:tav tm="39940">
                                          <p:val>
                                            <p:fltVal val="0.9174"/>
                                          </p:val>
                                        </p:tav>
                                        <p:tav tm="43270">
                                          <p:val>
                                            <p:fltVal val="0.9257"/>
                                          </p:val>
                                        </p:tav>
                                        <p:tav tm="46600">
                                          <p:val>
                                            <p:fltVal val="0.9336"/>
                                          </p:val>
                                        </p:tav>
                                        <p:tav tm="49930">
                                          <p:val>
                                            <p:fltVal val="0.9412"/>
                                          </p:val>
                                        </p:tav>
                                        <p:tav tm="53250">
                                          <p:val>
                                            <p:fltVal val="0.9484"/>
                                          </p:val>
                                        </p:tav>
                                        <p:tav tm="56580">
                                          <p:val>
                                            <p:fltVal val="0.9552"/>
                                          </p:val>
                                        </p:tav>
                                        <p:tav tm="59900">
                                          <p:val>
                                            <p:fltVal val="0.9616"/>
                                          </p:val>
                                        </p:tav>
                                        <p:tav tm="63220">
                                          <p:val>
                                            <p:fltVal val="0.9675"/>
                                          </p:val>
                                        </p:tav>
                                        <p:tav tm="66540">
                                          <p:val>
                                            <p:fltVal val="0.973"/>
                                          </p:val>
                                        </p:tav>
                                        <p:tav tm="69870">
                                          <p:val>
                                            <p:fltVal val="0.978"/>
                                          </p:val>
                                        </p:tav>
                                        <p:tav tm="73190">
                                          <p:val>
                                            <p:fltVal val="0.9825"/>
                                          </p:val>
                                        </p:tav>
                                        <p:tav tm="76510">
                                          <p:val>
                                            <p:fltVal val="0.9865"/>
                                          </p:val>
                                        </p:tav>
                                        <p:tav tm="79830">
                                          <p:val>
                                            <p:fltVal val="0.99"/>
                                          </p:val>
                                        </p:tav>
                                        <p:tav tm="83160">
                                          <p:val>
                                            <p:fltVal val="0.993"/>
                                          </p:val>
                                        </p:tav>
                                        <p:tav tm="86480">
                                          <p:val>
                                            <p:fltVal val="0.9955"/>
                                          </p:val>
                                        </p:tav>
                                        <p:tav tm="89800">
                                          <p:val>
                                            <p:fltVal val="0.9974"/>
                                          </p:val>
                                        </p:tav>
                                        <p:tav tm="93120">
                                          <p:val>
                                            <p:fltVal val="0.9988"/>
                                          </p:val>
                                        </p:tav>
                                        <p:tav tm="96450">
                                          <p:val>
                                            <p:fltVal val="0.9996"/>
                                          </p:val>
                                        </p:tav>
                                        <p:tav tm="100000">
                                          <p:val>
                                            <p:fltVal val="1"/>
                                          </p:val>
                                        </p:tav>
                                      </p:tavLst>
                                    </p:anim>
                                  </p:childTnLst>
                                </p:cTn>
                              </p:par>
                            </p:childTnLst>
                          </p:cTn>
                        </p:par>
                      </p:childTnLst>
                    </p:cTn>
                  </p:par>
                  <p:par>
                    <p:cTn id="12" fill="hold">
                      <p:stCondLst>
                        <p:cond delay="indefinite"/>
                      </p:stCondLst>
                      <p:childTnLst>
                        <p:par>
                          <p:cTn id="13" fill="hold">
                            <p:stCondLst>
                              <p:cond delay="0"/>
                            </p:stCondLst>
                            <p:childTnLst>
                              <p:par>
                                <p:cTn id="14" presetID="42" presetClass="path" presetSubtype="0" accel="50000" decel="50000" fill="hold" nodeType="clickEffect">
                                  <p:stCondLst>
                                    <p:cond delay="0"/>
                                  </p:stCondLst>
                                  <p:childTnLst>
                                    <p:animMotion origin="layout" path="M -4.64567E-6 2.85554E-6 L 0.21748 2.85554E-6 " pathEditMode="relative" rAng="0" ptsTypes="AA">
                                      <p:cBhvr>
                                        <p:cTn id="15" dur="2000" fill="hold"/>
                                        <p:tgtEl>
                                          <p:spTgt spid="21"/>
                                        </p:tgtEl>
                                        <p:attrNameLst>
                                          <p:attrName>ppt_x</p:attrName>
                                          <p:attrName>ppt_y</p:attrName>
                                        </p:attrNameLst>
                                      </p:cBhvr>
                                      <p:rCtr x="10866" y="0"/>
                                    </p:animMotion>
                                  </p:childTnLst>
                                </p:cTn>
                              </p:par>
                              <p:par>
                                <p:cTn id="16" presetID="42" presetClass="path" presetSubtype="0" accel="50000" decel="50000" fill="hold" nodeType="withEffect">
                                  <p:stCondLst>
                                    <p:cond delay="750"/>
                                  </p:stCondLst>
                                  <p:childTnLst>
                                    <p:animMotion origin="layout" path="M 2.59843E-6 2.85554E-6 L 0.2359 -0.007 " pathEditMode="relative" rAng="0" ptsTypes="AA">
                                      <p:cBhvr>
                                        <p:cTn id="17" dur="2000" fill="hold"/>
                                        <p:tgtEl>
                                          <p:spTgt spid="44"/>
                                        </p:tgtEl>
                                        <p:attrNameLst>
                                          <p:attrName>ppt_x</p:attrName>
                                          <p:attrName>ppt_y</p:attrName>
                                        </p:attrNameLst>
                                      </p:cBhvr>
                                      <p:rCtr x="11795" y="-364"/>
                                    </p:animMotion>
                                  </p:childTnLst>
                                </p:cTn>
                              </p:par>
                            </p:childTnLst>
                          </p:cTn>
                        </p:par>
                        <p:par>
                          <p:cTn id="18" fill="hold">
                            <p:stCondLst>
                              <p:cond delay="2750"/>
                            </p:stCondLst>
                            <p:childTnLst>
                              <p:par>
                                <p:cTn id="19" presetID="1" presetClass="exit" presetSubtype="0" fill="hold" nodeType="afterEffect">
                                  <p:stCondLst>
                                    <p:cond delay="0"/>
                                  </p:stCondLst>
                                  <p:childTnLst>
                                    <p:set>
                                      <p:cBhvr>
                                        <p:cTn id="20" dur="1" fill="hold">
                                          <p:stCondLst>
                                            <p:cond delay="0"/>
                                          </p:stCondLst>
                                        </p:cTn>
                                        <p:tgtEl>
                                          <p:spTgt spid="2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6334F62-67B3-5AD7-C81A-8F7690E77106}"/>
            </a:ext>
          </a:extLst>
        </p:cNvPr>
        <p:cNvGrpSpPr/>
        <p:nvPr/>
      </p:nvGrpSpPr>
      <p:grpSpPr>
        <a:xfrm>
          <a:off x="0" y="0"/>
          <a:ext cx="0" cy="0"/>
          <a:chOff x="0" y="0"/>
          <a:chExt cx="0" cy="0"/>
        </a:xfrm>
      </p:grpSpPr>
      <p:cxnSp>
        <p:nvCxnSpPr>
          <p:cNvPr id="36" name="Connecteur droit avec flèche 35">
            <a:extLst>
              <a:ext uri="{FF2B5EF4-FFF2-40B4-BE49-F238E27FC236}">
                <a16:creationId xmlns:a16="http://schemas.microsoft.com/office/drawing/2014/main" id="{D44DF07A-3BC3-3CC7-C13B-D9FE87ECCC0A}"/>
              </a:ext>
            </a:extLst>
          </p:cNvPr>
          <p:cNvCxnSpPr>
            <a:cxnSpLocks/>
          </p:cNvCxnSpPr>
          <p:nvPr/>
        </p:nvCxnSpPr>
        <p:spPr>
          <a:xfrm>
            <a:off x="7509588" y="1377984"/>
            <a:ext cx="0" cy="74752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ZoneTexte 38">
            <a:extLst>
              <a:ext uri="{FF2B5EF4-FFF2-40B4-BE49-F238E27FC236}">
                <a16:creationId xmlns:a16="http://schemas.microsoft.com/office/drawing/2014/main" id="{AD6E5224-A643-C7C3-F0C6-5E6DF2A6DDEA}"/>
              </a:ext>
            </a:extLst>
          </p:cNvPr>
          <p:cNvSpPr txBox="1"/>
          <p:nvPr/>
        </p:nvSpPr>
        <p:spPr>
          <a:xfrm>
            <a:off x="4178856" y="1783758"/>
            <a:ext cx="1672253" cy="369332"/>
          </a:xfrm>
          <a:prstGeom prst="rect">
            <a:avLst/>
          </a:prstGeom>
          <a:noFill/>
        </p:spPr>
        <p:txBody>
          <a:bodyPr wrap="none" rtlCol="0">
            <a:spAutoFit/>
          </a:bodyPr>
          <a:lstStyle/>
          <a:p>
            <a:pPr algn="ctr"/>
            <a:r>
              <a:rPr lang="en-US" noProof="0" dirty="0"/>
              <a:t>Scripts Python</a:t>
            </a:r>
          </a:p>
        </p:txBody>
      </p:sp>
      <p:sp>
        <p:nvSpPr>
          <p:cNvPr id="161" name="Rectangle 160">
            <a:extLst>
              <a:ext uri="{FF2B5EF4-FFF2-40B4-BE49-F238E27FC236}">
                <a16:creationId xmlns:a16="http://schemas.microsoft.com/office/drawing/2014/main" id="{B3FD57FD-C1C3-E106-B512-812D7D40978D}"/>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Example</a:t>
            </a:r>
            <a:endParaRPr lang="en-US" sz="2000" b="0" u="none" strike="noStrike" noProof="0" dirty="0">
              <a:solidFill>
                <a:srgbClr val="000000"/>
              </a:solidFill>
              <a:effectLst/>
              <a:uFillTx/>
              <a:latin typeface="Arial"/>
            </a:endParaRPr>
          </a:p>
        </p:txBody>
      </p:sp>
      <p:sp>
        <p:nvSpPr>
          <p:cNvPr id="2" name="Rectangle : coins arrondis 1">
            <a:extLst>
              <a:ext uri="{FF2B5EF4-FFF2-40B4-BE49-F238E27FC236}">
                <a16:creationId xmlns:a16="http://schemas.microsoft.com/office/drawing/2014/main" id="{AE1C2D07-A7C0-0FFE-92A8-448CC4B64C78}"/>
              </a:ext>
            </a:extLst>
          </p:cNvPr>
          <p:cNvSpPr/>
          <p:nvPr/>
        </p:nvSpPr>
        <p:spPr>
          <a:xfrm>
            <a:off x="4237567" y="2209994"/>
            <a:ext cx="1567543" cy="1320800"/>
          </a:xfrm>
          <a:prstGeom prst="round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 coins arrondis 5">
            <a:extLst>
              <a:ext uri="{FF2B5EF4-FFF2-40B4-BE49-F238E27FC236}">
                <a16:creationId xmlns:a16="http://schemas.microsoft.com/office/drawing/2014/main" id="{0403E09D-B4D3-4873-3FE5-ACE7FAB5A5D4}"/>
              </a:ext>
            </a:extLst>
          </p:cNvPr>
          <p:cNvSpPr/>
          <p:nvPr/>
        </p:nvSpPr>
        <p:spPr>
          <a:xfrm>
            <a:off x="6725818" y="2209994"/>
            <a:ext cx="1567543" cy="1320800"/>
          </a:xfrm>
          <a:prstGeom prst="round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2" name="Image 11">
            <a:extLst>
              <a:ext uri="{FF2B5EF4-FFF2-40B4-BE49-F238E27FC236}">
                <a16:creationId xmlns:a16="http://schemas.microsoft.com/office/drawing/2014/main" id="{3BEF2A87-9A27-B939-4E4B-B84F0D676CD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26571" y="2372261"/>
            <a:ext cx="989534" cy="989534"/>
          </a:xfrm>
          <a:prstGeom prst="rect">
            <a:avLst/>
          </a:prstGeom>
        </p:spPr>
      </p:pic>
      <p:pic>
        <p:nvPicPr>
          <p:cNvPr id="14" name="Image 13">
            <a:extLst>
              <a:ext uri="{FF2B5EF4-FFF2-40B4-BE49-F238E27FC236}">
                <a16:creationId xmlns:a16="http://schemas.microsoft.com/office/drawing/2014/main" id="{CFB5CFB2-EB0E-FD82-8C5D-AD0911CDA63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937641" y="2343550"/>
            <a:ext cx="1143895" cy="1046955"/>
          </a:xfrm>
          <a:prstGeom prst="rect">
            <a:avLst/>
          </a:prstGeom>
        </p:spPr>
      </p:pic>
      <p:grpSp>
        <p:nvGrpSpPr>
          <p:cNvPr id="28" name="Groupe 27">
            <a:extLst>
              <a:ext uri="{FF2B5EF4-FFF2-40B4-BE49-F238E27FC236}">
                <a16:creationId xmlns:a16="http://schemas.microsoft.com/office/drawing/2014/main" id="{213E44C1-2BB8-BD33-B473-128475A1A666}"/>
              </a:ext>
            </a:extLst>
          </p:cNvPr>
          <p:cNvGrpSpPr/>
          <p:nvPr/>
        </p:nvGrpSpPr>
        <p:grpSpPr>
          <a:xfrm>
            <a:off x="4180262" y="4167187"/>
            <a:ext cx="1682151" cy="1320800"/>
            <a:chOff x="4199236" y="3463812"/>
            <a:chExt cx="1682151" cy="1320800"/>
          </a:xfrm>
        </p:grpSpPr>
        <p:sp>
          <p:nvSpPr>
            <p:cNvPr id="7" name="Rectangle : coins arrondis 6">
              <a:extLst>
                <a:ext uri="{FF2B5EF4-FFF2-40B4-BE49-F238E27FC236}">
                  <a16:creationId xmlns:a16="http://schemas.microsoft.com/office/drawing/2014/main" id="{B6A3298B-F32F-E29B-FE07-E82AF47C3301}"/>
                </a:ext>
              </a:extLst>
            </p:cNvPr>
            <p:cNvSpPr/>
            <p:nvPr/>
          </p:nvSpPr>
          <p:spPr>
            <a:xfrm>
              <a:off x="4264328" y="3463812"/>
              <a:ext cx="1567543" cy="1320800"/>
            </a:xfrm>
            <a:prstGeom prst="round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9" name="Groupe 18">
              <a:extLst>
                <a:ext uri="{FF2B5EF4-FFF2-40B4-BE49-F238E27FC236}">
                  <a16:creationId xmlns:a16="http://schemas.microsoft.com/office/drawing/2014/main" id="{373B9133-1F36-81B5-7790-8A929728EED7}"/>
                </a:ext>
              </a:extLst>
            </p:cNvPr>
            <p:cNvGrpSpPr/>
            <p:nvPr/>
          </p:nvGrpSpPr>
          <p:grpSpPr>
            <a:xfrm>
              <a:off x="4706639" y="3532823"/>
              <a:ext cx="682920" cy="752475"/>
              <a:chOff x="4678397" y="3610461"/>
              <a:chExt cx="682920" cy="752475"/>
            </a:xfrm>
          </p:grpSpPr>
          <p:pic>
            <p:nvPicPr>
              <p:cNvPr id="16" name="Image 15">
                <a:extLst>
                  <a:ext uri="{FF2B5EF4-FFF2-40B4-BE49-F238E27FC236}">
                    <a16:creationId xmlns:a16="http://schemas.microsoft.com/office/drawing/2014/main" id="{8D72F137-3BBE-7439-B9E1-CFEF6839E95A}"/>
                  </a:ext>
                </a:extLst>
              </p:cNvPr>
              <p:cNvPicPr>
                <a:picLocks noChangeAspect="1"/>
              </p:cNvPicPr>
              <p:nvPr/>
            </p:nvPicPr>
            <p:blipFill>
              <a:blip r:embed="rId5">
                <a:extLst>
                  <a:ext uri="{28A0092B-C50C-407E-A947-70E740481C1C}">
                    <a14:useLocalDpi xmlns:a14="http://schemas.microsoft.com/office/drawing/2010/main" val="0"/>
                  </a:ext>
                </a:extLst>
              </a:blip>
              <a:srcRect r="64506"/>
              <a:stretch>
                <a:fillRect/>
              </a:stretch>
            </p:blipFill>
            <p:spPr>
              <a:xfrm>
                <a:off x="4678397" y="3610461"/>
                <a:ext cx="682920" cy="752475"/>
              </a:xfrm>
              <a:prstGeom prst="rect">
                <a:avLst/>
              </a:prstGeom>
            </p:spPr>
          </p:pic>
          <p:sp>
            <p:nvSpPr>
              <p:cNvPr id="18" name="Rectangle 17">
                <a:extLst>
                  <a:ext uri="{FF2B5EF4-FFF2-40B4-BE49-F238E27FC236}">
                    <a16:creationId xmlns:a16="http://schemas.microsoft.com/office/drawing/2014/main" id="{14D98D53-569E-125B-9E06-4926548FCC0C}"/>
                  </a:ext>
                </a:extLst>
              </p:cNvPr>
              <p:cNvSpPr/>
              <p:nvPr/>
            </p:nvSpPr>
            <p:spPr>
              <a:xfrm>
                <a:off x="5223294" y="3748177"/>
                <a:ext cx="138023" cy="27173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ZoneTexte 19">
              <a:extLst>
                <a:ext uri="{FF2B5EF4-FFF2-40B4-BE49-F238E27FC236}">
                  <a16:creationId xmlns:a16="http://schemas.microsoft.com/office/drawing/2014/main" id="{4CDD709E-693F-F96E-F063-309A93C22E93}"/>
                </a:ext>
              </a:extLst>
            </p:cNvPr>
            <p:cNvSpPr txBox="1"/>
            <p:nvPr/>
          </p:nvSpPr>
          <p:spPr>
            <a:xfrm>
              <a:off x="4226115" y="4238348"/>
              <a:ext cx="1643968" cy="369332"/>
            </a:xfrm>
            <a:prstGeom prst="rect">
              <a:avLst/>
            </a:prstGeom>
            <a:noFill/>
          </p:spPr>
          <p:txBody>
            <a:bodyPr wrap="square" rtlCol="0">
              <a:spAutoFit/>
            </a:bodyPr>
            <a:lstStyle/>
            <a:p>
              <a:pPr algn="ctr"/>
              <a:r>
                <a:rPr lang="en-US" noProof="0" dirty="0">
                  <a:solidFill>
                    <a:srgbClr val="980602"/>
                  </a:solidFill>
                </a:rPr>
                <a:t>TRANSLAD</a:t>
              </a:r>
            </a:p>
          </p:txBody>
        </p:sp>
        <p:sp>
          <p:nvSpPr>
            <p:cNvPr id="21" name="ZoneTexte 20">
              <a:extLst>
                <a:ext uri="{FF2B5EF4-FFF2-40B4-BE49-F238E27FC236}">
                  <a16:creationId xmlns:a16="http://schemas.microsoft.com/office/drawing/2014/main" id="{47611E0E-D2E9-5F9D-5A10-ED4956224961}"/>
                </a:ext>
              </a:extLst>
            </p:cNvPr>
            <p:cNvSpPr txBox="1"/>
            <p:nvPr/>
          </p:nvSpPr>
          <p:spPr>
            <a:xfrm>
              <a:off x="4199236" y="4484569"/>
              <a:ext cx="1682151" cy="246221"/>
            </a:xfrm>
            <a:prstGeom prst="rect">
              <a:avLst/>
            </a:prstGeom>
            <a:noFill/>
          </p:spPr>
          <p:txBody>
            <a:bodyPr wrap="square" rtlCol="0">
              <a:spAutoFit/>
            </a:bodyPr>
            <a:lstStyle/>
            <a:p>
              <a:pPr algn="ctr"/>
              <a:r>
                <a:rPr lang="en-US" sz="500" noProof="0" dirty="0"/>
                <a:t>MEDECINE TRANSLATIONNELLE </a:t>
              </a:r>
            </a:p>
            <a:p>
              <a:pPr algn="ctr"/>
              <a:r>
                <a:rPr lang="en-US" sz="500" noProof="0" dirty="0"/>
                <a:t>DANS LES ANOMALIES DU DEVELOPPEMENT</a:t>
              </a:r>
            </a:p>
          </p:txBody>
        </p:sp>
      </p:grpSp>
      <p:cxnSp>
        <p:nvCxnSpPr>
          <p:cNvPr id="24" name="Connecteur droit avec flèche 23">
            <a:extLst>
              <a:ext uri="{FF2B5EF4-FFF2-40B4-BE49-F238E27FC236}">
                <a16:creationId xmlns:a16="http://schemas.microsoft.com/office/drawing/2014/main" id="{AA0AE5D6-F36F-1AB6-DF9C-BECAC6109389}"/>
              </a:ext>
            </a:extLst>
          </p:cNvPr>
          <p:cNvCxnSpPr>
            <a:cxnSpLocks/>
            <a:endCxn id="6" idx="1"/>
          </p:cNvCxnSpPr>
          <p:nvPr/>
        </p:nvCxnSpPr>
        <p:spPr>
          <a:xfrm>
            <a:off x="5805110" y="2867027"/>
            <a:ext cx="920708" cy="3367"/>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5">
            <a:extLst>
              <a:ext uri="{FF2B5EF4-FFF2-40B4-BE49-F238E27FC236}">
                <a16:creationId xmlns:a16="http://schemas.microsoft.com/office/drawing/2014/main" id="{24AA03C9-5A33-1E66-4F13-81E7C1A55CF0}"/>
              </a:ext>
            </a:extLst>
          </p:cNvPr>
          <p:cNvCxnSpPr>
            <a:cxnSpLocks/>
            <a:stCxn id="2" idx="2"/>
            <a:endCxn id="7" idx="0"/>
          </p:cNvCxnSpPr>
          <p:nvPr/>
        </p:nvCxnSpPr>
        <p:spPr>
          <a:xfrm>
            <a:off x="5021339" y="3530794"/>
            <a:ext cx="7787" cy="6363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0" name="Groupe 29">
            <a:extLst>
              <a:ext uri="{FF2B5EF4-FFF2-40B4-BE49-F238E27FC236}">
                <a16:creationId xmlns:a16="http://schemas.microsoft.com/office/drawing/2014/main" id="{E0DF3175-FC45-1D22-9800-26C4772D31F3}"/>
              </a:ext>
            </a:extLst>
          </p:cNvPr>
          <p:cNvGrpSpPr/>
          <p:nvPr/>
        </p:nvGrpSpPr>
        <p:grpSpPr>
          <a:xfrm>
            <a:off x="1682041" y="2378075"/>
            <a:ext cx="914400" cy="914400"/>
            <a:chOff x="1682041" y="2378075"/>
            <a:chExt cx="914400" cy="914400"/>
          </a:xfrm>
        </p:grpSpPr>
        <p:sp>
          <p:nvSpPr>
            <p:cNvPr id="29" name="Rectangle 28">
              <a:extLst>
                <a:ext uri="{FF2B5EF4-FFF2-40B4-BE49-F238E27FC236}">
                  <a16:creationId xmlns:a16="http://schemas.microsoft.com/office/drawing/2014/main" id="{3B1168B5-FA88-2741-3A97-4BC58A6BE677}"/>
                </a:ext>
              </a:extLst>
            </p:cNvPr>
            <p:cNvSpPr/>
            <p:nvPr/>
          </p:nvSpPr>
          <p:spPr>
            <a:xfrm>
              <a:off x="1844601" y="2448560"/>
              <a:ext cx="589280" cy="772160"/>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5" name="Graphique 24" descr="Document avec un remplissage uni">
              <a:extLst>
                <a:ext uri="{FF2B5EF4-FFF2-40B4-BE49-F238E27FC236}">
                  <a16:creationId xmlns:a16="http://schemas.microsoft.com/office/drawing/2014/main" id="{68A3CB28-CAB1-7FA1-9743-85B09EB41A9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82041" y="2378075"/>
              <a:ext cx="914400" cy="914400"/>
            </a:xfrm>
            <a:prstGeom prst="rect">
              <a:avLst/>
            </a:prstGeom>
          </p:spPr>
        </p:pic>
      </p:grpSp>
      <p:sp>
        <p:nvSpPr>
          <p:cNvPr id="27" name="Espace réservé du numéro de diapositive 3">
            <a:extLst>
              <a:ext uri="{FF2B5EF4-FFF2-40B4-BE49-F238E27FC236}">
                <a16:creationId xmlns:a16="http://schemas.microsoft.com/office/drawing/2014/main" id="{A728F1D2-9612-46B7-CB93-90061ED7CFFB}"/>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13</a:t>
            </a:fld>
            <a:endParaRPr lang="en-US" sz="1200" noProof="0" dirty="0"/>
          </a:p>
        </p:txBody>
      </p:sp>
      <p:pic>
        <p:nvPicPr>
          <p:cNvPr id="35" name="Graphique 34" descr="Utilisateur avec un remplissage uni">
            <a:extLst>
              <a:ext uri="{FF2B5EF4-FFF2-40B4-BE49-F238E27FC236}">
                <a16:creationId xmlns:a16="http://schemas.microsoft.com/office/drawing/2014/main" id="{E5951E48-0C08-65B6-3038-E117EF9A9A1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052388" y="463584"/>
            <a:ext cx="914400" cy="914400"/>
          </a:xfrm>
          <a:prstGeom prst="rect">
            <a:avLst/>
          </a:prstGeom>
        </p:spPr>
      </p:pic>
      <p:sp>
        <p:nvSpPr>
          <p:cNvPr id="38" name="ZoneTexte 37">
            <a:extLst>
              <a:ext uri="{FF2B5EF4-FFF2-40B4-BE49-F238E27FC236}">
                <a16:creationId xmlns:a16="http://schemas.microsoft.com/office/drawing/2014/main" id="{9447678E-D07E-EE82-45BB-CD6A0A01DBCC}"/>
              </a:ext>
            </a:extLst>
          </p:cNvPr>
          <p:cNvSpPr txBox="1"/>
          <p:nvPr/>
        </p:nvSpPr>
        <p:spPr>
          <a:xfrm>
            <a:off x="8081536" y="802640"/>
            <a:ext cx="1567543" cy="369332"/>
          </a:xfrm>
          <a:prstGeom prst="rect">
            <a:avLst/>
          </a:prstGeom>
          <a:noFill/>
        </p:spPr>
        <p:txBody>
          <a:bodyPr wrap="square" rtlCol="0">
            <a:spAutoFit/>
          </a:bodyPr>
          <a:lstStyle/>
          <a:p>
            <a:r>
              <a:rPr lang="en-US" noProof="0" dirty="0">
                <a:solidFill>
                  <a:srgbClr val="980602"/>
                </a:solidFill>
              </a:rPr>
              <a:t>User</a:t>
            </a:r>
          </a:p>
        </p:txBody>
      </p:sp>
      <p:sp>
        <p:nvSpPr>
          <p:cNvPr id="40" name="ZoneTexte 39">
            <a:extLst>
              <a:ext uri="{FF2B5EF4-FFF2-40B4-BE49-F238E27FC236}">
                <a16:creationId xmlns:a16="http://schemas.microsoft.com/office/drawing/2014/main" id="{8D0B5ADF-AD2E-A212-A423-3ED3CDA96EE9}"/>
              </a:ext>
            </a:extLst>
          </p:cNvPr>
          <p:cNvSpPr txBox="1"/>
          <p:nvPr/>
        </p:nvSpPr>
        <p:spPr>
          <a:xfrm>
            <a:off x="8532341" y="2511474"/>
            <a:ext cx="1210589" cy="646331"/>
          </a:xfrm>
          <a:prstGeom prst="rect">
            <a:avLst/>
          </a:prstGeom>
          <a:noFill/>
        </p:spPr>
        <p:txBody>
          <a:bodyPr wrap="none" rtlCol="0">
            <a:spAutoFit/>
          </a:bodyPr>
          <a:lstStyle/>
          <a:p>
            <a:pPr algn="ctr"/>
            <a:r>
              <a:rPr lang="en-US" noProof="0" dirty="0"/>
              <a:t>Cluster</a:t>
            </a:r>
          </a:p>
          <a:p>
            <a:pPr algn="ctr"/>
            <a:r>
              <a:rPr lang="en-US" noProof="0" dirty="0" err="1"/>
              <a:t>MesoBFC</a:t>
            </a:r>
            <a:endParaRPr lang="en-US" noProof="0" dirty="0"/>
          </a:p>
        </p:txBody>
      </p:sp>
      <p:sp>
        <p:nvSpPr>
          <p:cNvPr id="41" name="ZoneTexte 40">
            <a:extLst>
              <a:ext uri="{FF2B5EF4-FFF2-40B4-BE49-F238E27FC236}">
                <a16:creationId xmlns:a16="http://schemas.microsoft.com/office/drawing/2014/main" id="{EE0BCA52-31F4-1353-A440-08DFE29A9785}"/>
              </a:ext>
            </a:extLst>
          </p:cNvPr>
          <p:cNvSpPr txBox="1"/>
          <p:nvPr/>
        </p:nvSpPr>
        <p:spPr>
          <a:xfrm>
            <a:off x="5998890" y="4480058"/>
            <a:ext cx="1877501" cy="646331"/>
          </a:xfrm>
          <a:prstGeom prst="rect">
            <a:avLst/>
          </a:prstGeom>
          <a:noFill/>
        </p:spPr>
        <p:txBody>
          <a:bodyPr wrap="none" rtlCol="0">
            <a:spAutoFit/>
          </a:bodyPr>
          <a:lstStyle/>
          <a:p>
            <a:pPr algn="ctr"/>
            <a:r>
              <a:rPr lang="en-US" noProof="0" dirty="0" err="1"/>
              <a:t>Labkey</a:t>
            </a:r>
            <a:r>
              <a:rPr lang="en-US" noProof="0" dirty="0"/>
              <a:t> </a:t>
            </a:r>
            <a:r>
              <a:rPr lang="en-US" noProof="0" dirty="0" err="1"/>
              <a:t>Translad</a:t>
            </a:r>
            <a:endParaRPr lang="en-US" noProof="0" dirty="0"/>
          </a:p>
          <a:p>
            <a:pPr algn="ctr"/>
            <a:r>
              <a:rPr lang="en-US" noProof="0" dirty="0"/>
              <a:t>Données patient</a:t>
            </a:r>
          </a:p>
        </p:txBody>
      </p:sp>
      <p:sp>
        <p:nvSpPr>
          <p:cNvPr id="3" name="Rectangle : coins arrondis 2">
            <a:extLst>
              <a:ext uri="{FF2B5EF4-FFF2-40B4-BE49-F238E27FC236}">
                <a16:creationId xmlns:a16="http://schemas.microsoft.com/office/drawing/2014/main" id="{8E8DE357-A44E-F85C-CC20-B80DD5BA9B0C}"/>
              </a:ext>
            </a:extLst>
          </p:cNvPr>
          <p:cNvSpPr/>
          <p:nvPr/>
        </p:nvSpPr>
        <p:spPr>
          <a:xfrm>
            <a:off x="-2639770" y="2209994"/>
            <a:ext cx="1567543" cy="1320800"/>
          </a:xfrm>
          <a:prstGeom prst="roundRect">
            <a:avLst/>
          </a:prstGeom>
          <a:solidFill>
            <a:schemeClr val="accent6">
              <a:lumMod val="75000"/>
            </a:schemeClr>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4" name="Image 3">
            <a:extLst>
              <a:ext uri="{FF2B5EF4-FFF2-40B4-BE49-F238E27FC236}">
                <a16:creationId xmlns:a16="http://schemas.microsoft.com/office/drawing/2014/main" id="{C2A47D45-8652-9AC0-DEC6-0AF6D5511E68}"/>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2408136" y="2378992"/>
            <a:ext cx="1104273" cy="982803"/>
          </a:xfrm>
          <a:prstGeom prst="rect">
            <a:avLst/>
          </a:prstGeom>
        </p:spPr>
      </p:pic>
      <p:cxnSp>
        <p:nvCxnSpPr>
          <p:cNvPr id="5" name="Connecteur droit avec flèche 4">
            <a:extLst>
              <a:ext uri="{FF2B5EF4-FFF2-40B4-BE49-F238E27FC236}">
                <a16:creationId xmlns:a16="http://schemas.microsoft.com/office/drawing/2014/main" id="{C9197B19-A381-A066-6151-B2AF682BCE73}"/>
              </a:ext>
            </a:extLst>
          </p:cNvPr>
          <p:cNvCxnSpPr>
            <a:stCxn id="3" idx="3"/>
          </p:cNvCxnSpPr>
          <p:nvPr/>
        </p:nvCxnSpPr>
        <p:spPr>
          <a:xfrm>
            <a:off x="-1072227" y="2870394"/>
            <a:ext cx="882760"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 name="ZoneTexte 7">
            <a:extLst>
              <a:ext uri="{FF2B5EF4-FFF2-40B4-BE49-F238E27FC236}">
                <a16:creationId xmlns:a16="http://schemas.microsoft.com/office/drawing/2014/main" id="{B9945B32-CBCE-6BFB-7C5B-D41DAE66ED6B}"/>
              </a:ext>
            </a:extLst>
          </p:cNvPr>
          <p:cNvSpPr txBox="1"/>
          <p:nvPr/>
        </p:nvSpPr>
        <p:spPr>
          <a:xfrm>
            <a:off x="-4325771" y="2511474"/>
            <a:ext cx="1530586" cy="646331"/>
          </a:xfrm>
          <a:prstGeom prst="rect">
            <a:avLst/>
          </a:prstGeom>
          <a:noFill/>
        </p:spPr>
        <p:txBody>
          <a:bodyPr wrap="square" rtlCol="0">
            <a:spAutoFit/>
          </a:bodyPr>
          <a:lstStyle/>
          <a:p>
            <a:pPr algn="ctr"/>
            <a:r>
              <a:rPr lang="en-US" noProof="0" dirty="0"/>
              <a:t>Application Web</a:t>
            </a:r>
          </a:p>
        </p:txBody>
      </p:sp>
    </p:spTree>
    <p:extLst>
      <p:ext uri="{BB962C8B-B14F-4D97-AF65-F5344CB8AC3E}">
        <p14:creationId xmlns:p14="http://schemas.microsoft.com/office/powerpoint/2010/main" val="41066624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3.46457E-6 0 L 0.36363 -0.1103 " pathEditMode="relative" rAng="0" ptsTypes="AA">
                                      <p:cBhvr>
                                        <p:cTn id="6" dur="2000" fill="hold"/>
                                        <p:tgtEl>
                                          <p:spTgt spid="30"/>
                                        </p:tgtEl>
                                        <p:attrNameLst>
                                          <p:attrName>ppt_x</p:attrName>
                                          <p:attrName>ppt_y</p:attrName>
                                        </p:attrNameLst>
                                      </p:cBhvr>
                                      <p:rCtr x="18173" y="-5515"/>
                                    </p:animMotion>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nodeType="clickEffect">
                                  <p:stCondLst>
                                    <p:cond delay="0"/>
                                  </p:stCondLst>
                                  <p:childTnLst>
                                    <p:animMotion origin="layout" path="M 0.36363 -0.1103 L 0.6104 -0.11142 " pathEditMode="relative" rAng="0" ptsTypes="AA">
                                      <p:cBhvr>
                                        <p:cTn id="10" dur="2000" fill="hold"/>
                                        <p:tgtEl>
                                          <p:spTgt spid="30"/>
                                        </p:tgtEl>
                                        <p:attrNameLst>
                                          <p:attrName>ppt_x</p:attrName>
                                          <p:attrName>ppt_y</p:attrName>
                                        </p:attrNameLst>
                                      </p:cBhvr>
                                      <p:rCtr x="12331" y="-56"/>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5AA45E05-DE74-DC63-E42F-2D31B7E45B73}"/>
            </a:ext>
          </a:extLst>
        </p:cNvPr>
        <p:cNvGrpSpPr/>
        <p:nvPr/>
      </p:nvGrpSpPr>
      <p:grpSpPr>
        <a:xfrm>
          <a:off x="0" y="0"/>
          <a:ext cx="0" cy="0"/>
          <a:chOff x="0" y="0"/>
          <a:chExt cx="0" cy="0"/>
        </a:xfrm>
      </p:grpSpPr>
      <p:sp>
        <p:nvSpPr>
          <p:cNvPr id="42" name="ZoneTexte 41">
            <a:extLst>
              <a:ext uri="{FF2B5EF4-FFF2-40B4-BE49-F238E27FC236}">
                <a16:creationId xmlns:a16="http://schemas.microsoft.com/office/drawing/2014/main" id="{B6BB7D82-BD88-46E0-ABCC-583DD3FC100C}"/>
              </a:ext>
            </a:extLst>
          </p:cNvPr>
          <p:cNvSpPr txBox="1"/>
          <p:nvPr/>
        </p:nvSpPr>
        <p:spPr>
          <a:xfrm>
            <a:off x="8411818" y="2511474"/>
            <a:ext cx="1567544" cy="646331"/>
          </a:xfrm>
          <a:prstGeom prst="rect">
            <a:avLst/>
          </a:prstGeom>
          <a:noFill/>
        </p:spPr>
        <p:txBody>
          <a:bodyPr wrap="square" rtlCol="0">
            <a:spAutoFit/>
          </a:bodyPr>
          <a:lstStyle/>
          <a:p>
            <a:pPr algn="ctr"/>
            <a:r>
              <a:rPr lang="en-US" noProof="0" dirty="0"/>
              <a:t>Cluster </a:t>
            </a:r>
            <a:r>
              <a:rPr lang="en-US" noProof="0" dirty="0" err="1"/>
              <a:t>MesoBFC</a:t>
            </a:r>
            <a:endParaRPr lang="en-US" noProof="0" dirty="0"/>
          </a:p>
        </p:txBody>
      </p:sp>
      <p:sp>
        <p:nvSpPr>
          <p:cNvPr id="41" name="ZoneTexte 40">
            <a:extLst>
              <a:ext uri="{FF2B5EF4-FFF2-40B4-BE49-F238E27FC236}">
                <a16:creationId xmlns:a16="http://schemas.microsoft.com/office/drawing/2014/main" id="{37E1C637-9BAF-FCBB-A7F1-C2CD070BF28F}"/>
              </a:ext>
            </a:extLst>
          </p:cNvPr>
          <p:cNvSpPr txBox="1"/>
          <p:nvPr/>
        </p:nvSpPr>
        <p:spPr>
          <a:xfrm>
            <a:off x="4178856" y="1783758"/>
            <a:ext cx="1672253" cy="369332"/>
          </a:xfrm>
          <a:prstGeom prst="rect">
            <a:avLst/>
          </a:prstGeom>
          <a:noFill/>
        </p:spPr>
        <p:txBody>
          <a:bodyPr wrap="none" rtlCol="0">
            <a:spAutoFit/>
          </a:bodyPr>
          <a:lstStyle/>
          <a:p>
            <a:pPr algn="ctr"/>
            <a:r>
              <a:rPr lang="en-US" noProof="0" dirty="0"/>
              <a:t>Scripts Python</a:t>
            </a:r>
          </a:p>
        </p:txBody>
      </p:sp>
      <p:sp>
        <p:nvSpPr>
          <p:cNvPr id="161" name="Rectangle 160">
            <a:extLst>
              <a:ext uri="{FF2B5EF4-FFF2-40B4-BE49-F238E27FC236}">
                <a16:creationId xmlns:a16="http://schemas.microsoft.com/office/drawing/2014/main" id="{AB770B85-769D-3A37-9799-00C6253E55CC}"/>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Example</a:t>
            </a:r>
            <a:endParaRPr lang="en-US" sz="2000" b="0" u="none" strike="noStrike" noProof="0" dirty="0">
              <a:solidFill>
                <a:srgbClr val="000000"/>
              </a:solidFill>
              <a:effectLst/>
              <a:uFillTx/>
              <a:latin typeface="Arial"/>
            </a:endParaRPr>
          </a:p>
        </p:txBody>
      </p:sp>
      <p:sp>
        <p:nvSpPr>
          <p:cNvPr id="2" name="Rectangle : coins arrondis 1">
            <a:extLst>
              <a:ext uri="{FF2B5EF4-FFF2-40B4-BE49-F238E27FC236}">
                <a16:creationId xmlns:a16="http://schemas.microsoft.com/office/drawing/2014/main" id="{B94C516D-F8FB-0D6F-0453-48FDF74DDA85}"/>
              </a:ext>
            </a:extLst>
          </p:cNvPr>
          <p:cNvSpPr/>
          <p:nvPr/>
        </p:nvSpPr>
        <p:spPr>
          <a:xfrm>
            <a:off x="4237567" y="2209994"/>
            <a:ext cx="1567543" cy="1320800"/>
          </a:xfrm>
          <a:prstGeom prst="round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tangle : coins arrondis 3">
            <a:extLst>
              <a:ext uri="{FF2B5EF4-FFF2-40B4-BE49-F238E27FC236}">
                <a16:creationId xmlns:a16="http://schemas.microsoft.com/office/drawing/2014/main" id="{35025067-703D-573B-9593-0BB658D4CAF2}"/>
              </a:ext>
            </a:extLst>
          </p:cNvPr>
          <p:cNvSpPr/>
          <p:nvPr/>
        </p:nvSpPr>
        <p:spPr>
          <a:xfrm>
            <a:off x="1787264" y="2209994"/>
            <a:ext cx="1567543" cy="1320800"/>
          </a:xfrm>
          <a:prstGeom prst="roundRect">
            <a:avLst/>
          </a:prstGeom>
          <a:solidFill>
            <a:schemeClr val="accent6">
              <a:lumMod val="75000"/>
            </a:schemeClr>
          </a:solid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 coins arrondis 5">
            <a:extLst>
              <a:ext uri="{FF2B5EF4-FFF2-40B4-BE49-F238E27FC236}">
                <a16:creationId xmlns:a16="http://schemas.microsoft.com/office/drawing/2014/main" id="{F7136908-5DEE-8CBF-008B-9E530597915D}"/>
              </a:ext>
            </a:extLst>
          </p:cNvPr>
          <p:cNvSpPr/>
          <p:nvPr/>
        </p:nvSpPr>
        <p:spPr>
          <a:xfrm>
            <a:off x="6725818" y="2209994"/>
            <a:ext cx="1567543" cy="1320800"/>
          </a:xfrm>
          <a:prstGeom prst="round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0" name="Image 9">
            <a:extLst>
              <a:ext uri="{FF2B5EF4-FFF2-40B4-BE49-F238E27FC236}">
                <a16:creationId xmlns:a16="http://schemas.microsoft.com/office/drawing/2014/main" id="{EAC9A7FB-28E7-FF65-F872-D484C34136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18898" y="2378992"/>
            <a:ext cx="1104273" cy="982803"/>
          </a:xfrm>
          <a:prstGeom prst="rect">
            <a:avLst/>
          </a:prstGeom>
        </p:spPr>
      </p:pic>
      <p:pic>
        <p:nvPicPr>
          <p:cNvPr id="12" name="Image 11">
            <a:extLst>
              <a:ext uri="{FF2B5EF4-FFF2-40B4-BE49-F238E27FC236}">
                <a16:creationId xmlns:a16="http://schemas.microsoft.com/office/drawing/2014/main" id="{558ECFC5-613D-F2EB-28BC-54D3D6CC019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526571" y="2372261"/>
            <a:ext cx="989534" cy="989534"/>
          </a:xfrm>
          <a:prstGeom prst="rect">
            <a:avLst/>
          </a:prstGeom>
        </p:spPr>
      </p:pic>
      <p:pic>
        <p:nvPicPr>
          <p:cNvPr id="14" name="Image 13">
            <a:extLst>
              <a:ext uri="{FF2B5EF4-FFF2-40B4-BE49-F238E27FC236}">
                <a16:creationId xmlns:a16="http://schemas.microsoft.com/office/drawing/2014/main" id="{4CC32152-C387-7DB6-B078-A38BA82494A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937641" y="2343550"/>
            <a:ext cx="1143895" cy="1046955"/>
          </a:xfrm>
          <a:prstGeom prst="rect">
            <a:avLst/>
          </a:prstGeom>
        </p:spPr>
      </p:pic>
      <p:grpSp>
        <p:nvGrpSpPr>
          <p:cNvPr id="28" name="Groupe 27">
            <a:extLst>
              <a:ext uri="{FF2B5EF4-FFF2-40B4-BE49-F238E27FC236}">
                <a16:creationId xmlns:a16="http://schemas.microsoft.com/office/drawing/2014/main" id="{892FCCFB-1D53-DAE0-9C9E-E24D48D60697}"/>
              </a:ext>
            </a:extLst>
          </p:cNvPr>
          <p:cNvGrpSpPr/>
          <p:nvPr/>
        </p:nvGrpSpPr>
        <p:grpSpPr>
          <a:xfrm>
            <a:off x="4180262" y="4167187"/>
            <a:ext cx="1682151" cy="1320800"/>
            <a:chOff x="4199236" y="3463812"/>
            <a:chExt cx="1682151" cy="1320800"/>
          </a:xfrm>
        </p:grpSpPr>
        <p:sp>
          <p:nvSpPr>
            <p:cNvPr id="7" name="Rectangle : coins arrondis 6">
              <a:extLst>
                <a:ext uri="{FF2B5EF4-FFF2-40B4-BE49-F238E27FC236}">
                  <a16:creationId xmlns:a16="http://schemas.microsoft.com/office/drawing/2014/main" id="{52F9513F-A2F4-9B81-9B13-A3B98F81EEF8}"/>
                </a:ext>
              </a:extLst>
            </p:cNvPr>
            <p:cNvSpPr/>
            <p:nvPr/>
          </p:nvSpPr>
          <p:spPr>
            <a:xfrm>
              <a:off x="4264328" y="3463812"/>
              <a:ext cx="1567543" cy="1320800"/>
            </a:xfrm>
            <a:prstGeom prst="round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9" name="Groupe 18">
              <a:extLst>
                <a:ext uri="{FF2B5EF4-FFF2-40B4-BE49-F238E27FC236}">
                  <a16:creationId xmlns:a16="http://schemas.microsoft.com/office/drawing/2014/main" id="{C0F32B04-39C0-3853-046F-376703AF5C83}"/>
                </a:ext>
              </a:extLst>
            </p:cNvPr>
            <p:cNvGrpSpPr/>
            <p:nvPr/>
          </p:nvGrpSpPr>
          <p:grpSpPr>
            <a:xfrm>
              <a:off x="4706639" y="3532823"/>
              <a:ext cx="682920" cy="752475"/>
              <a:chOff x="4678397" y="3610461"/>
              <a:chExt cx="682920" cy="752475"/>
            </a:xfrm>
          </p:grpSpPr>
          <p:pic>
            <p:nvPicPr>
              <p:cNvPr id="16" name="Image 15">
                <a:extLst>
                  <a:ext uri="{FF2B5EF4-FFF2-40B4-BE49-F238E27FC236}">
                    <a16:creationId xmlns:a16="http://schemas.microsoft.com/office/drawing/2014/main" id="{F1AEA699-D331-253F-711B-87E06E845C74}"/>
                  </a:ext>
                </a:extLst>
              </p:cNvPr>
              <p:cNvPicPr>
                <a:picLocks noChangeAspect="1"/>
              </p:cNvPicPr>
              <p:nvPr/>
            </p:nvPicPr>
            <p:blipFill>
              <a:blip r:embed="rId6">
                <a:extLst>
                  <a:ext uri="{28A0092B-C50C-407E-A947-70E740481C1C}">
                    <a14:useLocalDpi xmlns:a14="http://schemas.microsoft.com/office/drawing/2010/main" val="0"/>
                  </a:ext>
                </a:extLst>
              </a:blip>
              <a:srcRect r="64506"/>
              <a:stretch>
                <a:fillRect/>
              </a:stretch>
            </p:blipFill>
            <p:spPr>
              <a:xfrm>
                <a:off x="4678397" y="3610461"/>
                <a:ext cx="682920" cy="752475"/>
              </a:xfrm>
              <a:prstGeom prst="rect">
                <a:avLst/>
              </a:prstGeom>
            </p:spPr>
          </p:pic>
          <p:sp>
            <p:nvSpPr>
              <p:cNvPr id="18" name="Rectangle 17">
                <a:extLst>
                  <a:ext uri="{FF2B5EF4-FFF2-40B4-BE49-F238E27FC236}">
                    <a16:creationId xmlns:a16="http://schemas.microsoft.com/office/drawing/2014/main" id="{7776A41E-46E0-1EAA-A079-6D055B58B85A}"/>
                  </a:ext>
                </a:extLst>
              </p:cNvPr>
              <p:cNvSpPr/>
              <p:nvPr/>
            </p:nvSpPr>
            <p:spPr>
              <a:xfrm>
                <a:off x="5223294" y="3748177"/>
                <a:ext cx="138023" cy="271732"/>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ZoneTexte 19">
              <a:extLst>
                <a:ext uri="{FF2B5EF4-FFF2-40B4-BE49-F238E27FC236}">
                  <a16:creationId xmlns:a16="http://schemas.microsoft.com/office/drawing/2014/main" id="{2BEA800F-FBC2-7168-9C10-E406554D9A6B}"/>
                </a:ext>
              </a:extLst>
            </p:cNvPr>
            <p:cNvSpPr txBox="1"/>
            <p:nvPr/>
          </p:nvSpPr>
          <p:spPr>
            <a:xfrm>
              <a:off x="4226115" y="4238348"/>
              <a:ext cx="1643968" cy="369332"/>
            </a:xfrm>
            <a:prstGeom prst="rect">
              <a:avLst/>
            </a:prstGeom>
            <a:noFill/>
          </p:spPr>
          <p:txBody>
            <a:bodyPr wrap="square" rtlCol="0">
              <a:spAutoFit/>
            </a:bodyPr>
            <a:lstStyle/>
            <a:p>
              <a:pPr algn="ctr"/>
              <a:r>
                <a:rPr lang="en-US" noProof="0" dirty="0">
                  <a:solidFill>
                    <a:srgbClr val="980602"/>
                  </a:solidFill>
                </a:rPr>
                <a:t>TRANSLAD</a:t>
              </a:r>
            </a:p>
          </p:txBody>
        </p:sp>
        <p:sp>
          <p:nvSpPr>
            <p:cNvPr id="21" name="ZoneTexte 20">
              <a:extLst>
                <a:ext uri="{FF2B5EF4-FFF2-40B4-BE49-F238E27FC236}">
                  <a16:creationId xmlns:a16="http://schemas.microsoft.com/office/drawing/2014/main" id="{D34F95F1-025F-6881-E31D-B5494FB6CD67}"/>
                </a:ext>
              </a:extLst>
            </p:cNvPr>
            <p:cNvSpPr txBox="1"/>
            <p:nvPr/>
          </p:nvSpPr>
          <p:spPr>
            <a:xfrm>
              <a:off x="4199236" y="4484569"/>
              <a:ext cx="1682151" cy="246221"/>
            </a:xfrm>
            <a:prstGeom prst="rect">
              <a:avLst/>
            </a:prstGeom>
            <a:noFill/>
          </p:spPr>
          <p:txBody>
            <a:bodyPr wrap="square" rtlCol="0">
              <a:spAutoFit/>
            </a:bodyPr>
            <a:lstStyle/>
            <a:p>
              <a:pPr algn="ctr"/>
              <a:r>
                <a:rPr lang="en-US" sz="500" noProof="0" dirty="0"/>
                <a:t>MEDECINE TRANSLATIONNELLE </a:t>
              </a:r>
            </a:p>
            <a:p>
              <a:pPr algn="ctr"/>
              <a:r>
                <a:rPr lang="en-US" sz="500" noProof="0" dirty="0"/>
                <a:t>DANS LES ANOMALIES DU DEVELOPPEMENT</a:t>
              </a:r>
            </a:p>
          </p:txBody>
        </p:sp>
      </p:grpSp>
      <p:cxnSp>
        <p:nvCxnSpPr>
          <p:cNvPr id="23" name="Connecteur droit avec flèche 22">
            <a:extLst>
              <a:ext uri="{FF2B5EF4-FFF2-40B4-BE49-F238E27FC236}">
                <a16:creationId xmlns:a16="http://schemas.microsoft.com/office/drawing/2014/main" id="{513827A4-559D-9CBF-A5DF-4B36AFE721C3}"/>
              </a:ext>
            </a:extLst>
          </p:cNvPr>
          <p:cNvCxnSpPr>
            <a:stCxn id="4" idx="3"/>
            <a:endCxn id="2" idx="1"/>
          </p:cNvCxnSpPr>
          <p:nvPr/>
        </p:nvCxnSpPr>
        <p:spPr>
          <a:xfrm>
            <a:off x="3354807" y="2870394"/>
            <a:ext cx="882760" cy="0"/>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Connecteur droit avec flèche 23">
            <a:extLst>
              <a:ext uri="{FF2B5EF4-FFF2-40B4-BE49-F238E27FC236}">
                <a16:creationId xmlns:a16="http://schemas.microsoft.com/office/drawing/2014/main" id="{58FA31EE-DFF9-E9E7-1A74-BE7EE3C2D6A0}"/>
              </a:ext>
            </a:extLst>
          </p:cNvPr>
          <p:cNvCxnSpPr>
            <a:cxnSpLocks/>
            <a:endCxn id="6" idx="1"/>
          </p:cNvCxnSpPr>
          <p:nvPr/>
        </p:nvCxnSpPr>
        <p:spPr>
          <a:xfrm>
            <a:off x="5805110" y="2867027"/>
            <a:ext cx="920708" cy="3367"/>
          </a:xfrm>
          <a:prstGeom prst="straightConnector1">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6" name="Connecteur droit avec flèche 25">
            <a:extLst>
              <a:ext uri="{FF2B5EF4-FFF2-40B4-BE49-F238E27FC236}">
                <a16:creationId xmlns:a16="http://schemas.microsoft.com/office/drawing/2014/main" id="{BC4C335D-C3E8-4B00-2749-45F86D2E8087}"/>
              </a:ext>
            </a:extLst>
          </p:cNvPr>
          <p:cNvCxnSpPr>
            <a:cxnSpLocks/>
            <a:stCxn id="2" idx="2"/>
            <a:endCxn id="7" idx="0"/>
          </p:cNvCxnSpPr>
          <p:nvPr/>
        </p:nvCxnSpPr>
        <p:spPr>
          <a:xfrm>
            <a:off x="5021339" y="3530794"/>
            <a:ext cx="7787" cy="636393"/>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Espace réservé du numéro de diapositive 3">
            <a:extLst>
              <a:ext uri="{FF2B5EF4-FFF2-40B4-BE49-F238E27FC236}">
                <a16:creationId xmlns:a16="http://schemas.microsoft.com/office/drawing/2014/main" id="{15D1E404-0F71-9CB0-A6CF-ECEF0AD18B0A}"/>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14</a:t>
            </a:fld>
            <a:endParaRPr lang="en-US" sz="1200" noProof="0" dirty="0"/>
          </a:p>
        </p:txBody>
      </p:sp>
      <p:pic>
        <p:nvPicPr>
          <p:cNvPr id="31" name="Graphique 30" descr="Utilisateur avec un remplissage uni">
            <a:extLst>
              <a:ext uri="{FF2B5EF4-FFF2-40B4-BE49-F238E27FC236}">
                <a16:creationId xmlns:a16="http://schemas.microsoft.com/office/drawing/2014/main" id="{B9F57C35-99D8-3EB3-214F-94196F6190F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90974" y="463584"/>
            <a:ext cx="914400" cy="914400"/>
          </a:xfrm>
          <a:prstGeom prst="rect">
            <a:avLst/>
          </a:prstGeom>
        </p:spPr>
      </p:pic>
      <p:cxnSp>
        <p:nvCxnSpPr>
          <p:cNvPr id="32" name="Connecteur droit avec flèche 31">
            <a:extLst>
              <a:ext uri="{FF2B5EF4-FFF2-40B4-BE49-F238E27FC236}">
                <a16:creationId xmlns:a16="http://schemas.microsoft.com/office/drawing/2014/main" id="{CC7F9D1E-07DC-FA92-3E99-385A3972A531}"/>
              </a:ext>
            </a:extLst>
          </p:cNvPr>
          <p:cNvCxnSpPr>
            <a:cxnSpLocks/>
          </p:cNvCxnSpPr>
          <p:nvPr/>
        </p:nvCxnSpPr>
        <p:spPr>
          <a:xfrm>
            <a:off x="2548174" y="1377984"/>
            <a:ext cx="0" cy="74752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ZoneTexte 32">
            <a:extLst>
              <a:ext uri="{FF2B5EF4-FFF2-40B4-BE49-F238E27FC236}">
                <a16:creationId xmlns:a16="http://schemas.microsoft.com/office/drawing/2014/main" id="{30C7F4F7-BE18-2D2B-8E35-89FBDE984CB2}"/>
              </a:ext>
            </a:extLst>
          </p:cNvPr>
          <p:cNvSpPr txBox="1"/>
          <p:nvPr/>
        </p:nvSpPr>
        <p:spPr>
          <a:xfrm>
            <a:off x="3120122" y="802640"/>
            <a:ext cx="1567543" cy="369332"/>
          </a:xfrm>
          <a:prstGeom prst="rect">
            <a:avLst/>
          </a:prstGeom>
          <a:noFill/>
        </p:spPr>
        <p:txBody>
          <a:bodyPr wrap="square" rtlCol="0">
            <a:spAutoFit/>
          </a:bodyPr>
          <a:lstStyle/>
          <a:p>
            <a:r>
              <a:rPr lang="en-US" noProof="0" dirty="0">
                <a:solidFill>
                  <a:srgbClr val="980602"/>
                </a:solidFill>
              </a:rPr>
              <a:t>User</a:t>
            </a:r>
          </a:p>
        </p:txBody>
      </p:sp>
      <p:grpSp>
        <p:nvGrpSpPr>
          <p:cNvPr id="34" name="Groupe 33">
            <a:extLst>
              <a:ext uri="{FF2B5EF4-FFF2-40B4-BE49-F238E27FC236}">
                <a16:creationId xmlns:a16="http://schemas.microsoft.com/office/drawing/2014/main" id="{A131A252-EF13-C4C6-AE0C-B50DDE92C233}"/>
              </a:ext>
            </a:extLst>
          </p:cNvPr>
          <p:cNvGrpSpPr/>
          <p:nvPr/>
        </p:nvGrpSpPr>
        <p:grpSpPr>
          <a:xfrm>
            <a:off x="4601705" y="520198"/>
            <a:ext cx="914400" cy="914400"/>
            <a:chOff x="1682041" y="2378075"/>
            <a:chExt cx="914400" cy="914400"/>
          </a:xfrm>
        </p:grpSpPr>
        <p:sp>
          <p:nvSpPr>
            <p:cNvPr id="35" name="Rectangle 34">
              <a:extLst>
                <a:ext uri="{FF2B5EF4-FFF2-40B4-BE49-F238E27FC236}">
                  <a16:creationId xmlns:a16="http://schemas.microsoft.com/office/drawing/2014/main" id="{2FAD988A-4D20-5314-C273-C742AA9B962A}"/>
                </a:ext>
              </a:extLst>
            </p:cNvPr>
            <p:cNvSpPr/>
            <p:nvPr/>
          </p:nvSpPr>
          <p:spPr>
            <a:xfrm>
              <a:off x="1844601" y="2448560"/>
              <a:ext cx="589280" cy="772160"/>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6" name="Graphique 35" descr="Document avec un remplissage uni">
              <a:extLst>
                <a:ext uri="{FF2B5EF4-FFF2-40B4-BE49-F238E27FC236}">
                  <a16:creationId xmlns:a16="http://schemas.microsoft.com/office/drawing/2014/main" id="{8E0EC7CA-896D-EDD6-2101-0A328D06672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682041" y="2378075"/>
              <a:ext cx="914400" cy="914400"/>
            </a:xfrm>
            <a:prstGeom prst="rect">
              <a:avLst/>
            </a:prstGeom>
          </p:spPr>
        </p:pic>
      </p:grpSp>
      <p:grpSp>
        <p:nvGrpSpPr>
          <p:cNvPr id="40" name="Groupe 39">
            <a:extLst>
              <a:ext uri="{FF2B5EF4-FFF2-40B4-BE49-F238E27FC236}">
                <a16:creationId xmlns:a16="http://schemas.microsoft.com/office/drawing/2014/main" id="{C75CD049-37EE-2230-DF38-5C43CCA9CB8A}"/>
              </a:ext>
            </a:extLst>
          </p:cNvPr>
          <p:cNvGrpSpPr/>
          <p:nvPr/>
        </p:nvGrpSpPr>
        <p:grpSpPr>
          <a:xfrm>
            <a:off x="8299669" y="3073594"/>
            <a:ext cx="914400" cy="914400"/>
            <a:chOff x="7979192" y="3595380"/>
            <a:chExt cx="914400" cy="914400"/>
          </a:xfrm>
        </p:grpSpPr>
        <p:sp>
          <p:nvSpPr>
            <p:cNvPr id="39" name="Rectangle 38">
              <a:extLst>
                <a:ext uri="{FF2B5EF4-FFF2-40B4-BE49-F238E27FC236}">
                  <a16:creationId xmlns:a16="http://schemas.microsoft.com/office/drawing/2014/main" id="{0533AA64-9608-E7D9-A5D6-3C0C6FBEB760}"/>
                </a:ext>
              </a:extLst>
            </p:cNvPr>
            <p:cNvSpPr/>
            <p:nvPr/>
          </p:nvSpPr>
          <p:spPr>
            <a:xfrm>
              <a:off x="8107680" y="3730752"/>
              <a:ext cx="640080" cy="643162"/>
            </a:xfrm>
            <a:prstGeom prst="rect">
              <a:avLst/>
            </a:pr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38" name="Graphique 37" descr="Graphique à barres avec un remplissage uni">
              <a:extLst>
                <a:ext uri="{FF2B5EF4-FFF2-40B4-BE49-F238E27FC236}">
                  <a16:creationId xmlns:a16="http://schemas.microsoft.com/office/drawing/2014/main" id="{99C20FB0-B3DD-DF4E-A42C-47896F88143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979192" y="3595380"/>
              <a:ext cx="914400" cy="914400"/>
            </a:xfrm>
            <a:prstGeom prst="rect">
              <a:avLst/>
            </a:prstGeom>
          </p:spPr>
        </p:pic>
      </p:grpSp>
      <p:sp>
        <p:nvSpPr>
          <p:cNvPr id="43" name="ZoneTexte 42">
            <a:extLst>
              <a:ext uri="{FF2B5EF4-FFF2-40B4-BE49-F238E27FC236}">
                <a16:creationId xmlns:a16="http://schemas.microsoft.com/office/drawing/2014/main" id="{C9546AF3-308B-FBA7-620C-289F4AFEED10}"/>
              </a:ext>
            </a:extLst>
          </p:cNvPr>
          <p:cNvSpPr txBox="1"/>
          <p:nvPr/>
        </p:nvSpPr>
        <p:spPr>
          <a:xfrm>
            <a:off x="5998890" y="4480058"/>
            <a:ext cx="1877501" cy="646331"/>
          </a:xfrm>
          <a:prstGeom prst="rect">
            <a:avLst/>
          </a:prstGeom>
          <a:noFill/>
        </p:spPr>
        <p:txBody>
          <a:bodyPr wrap="none" rtlCol="0">
            <a:spAutoFit/>
          </a:bodyPr>
          <a:lstStyle/>
          <a:p>
            <a:pPr algn="ctr"/>
            <a:r>
              <a:rPr lang="en-US" noProof="0" dirty="0" err="1"/>
              <a:t>Labkey</a:t>
            </a:r>
            <a:r>
              <a:rPr lang="en-US" noProof="0" dirty="0"/>
              <a:t> </a:t>
            </a:r>
            <a:r>
              <a:rPr lang="en-US" noProof="0" dirty="0" err="1"/>
              <a:t>Translad</a:t>
            </a:r>
            <a:endParaRPr lang="en-US" noProof="0" dirty="0"/>
          </a:p>
          <a:p>
            <a:pPr algn="ctr"/>
            <a:r>
              <a:rPr lang="en-US" noProof="0" dirty="0"/>
              <a:t>Données patient</a:t>
            </a:r>
          </a:p>
        </p:txBody>
      </p:sp>
      <p:sp>
        <p:nvSpPr>
          <p:cNvPr id="44" name="ZoneTexte 43">
            <a:extLst>
              <a:ext uri="{FF2B5EF4-FFF2-40B4-BE49-F238E27FC236}">
                <a16:creationId xmlns:a16="http://schemas.microsoft.com/office/drawing/2014/main" id="{92AFDD31-BCA3-E311-1563-21CC4C10CE0C}"/>
              </a:ext>
            </a:extLst>
          </p:cNvPr>
          <p:cNvSpPr txBox="1"/>
          <p:nvPr/>
        </p:nvSpPr>
        <p:spPr>
          <a:xfrm>
            <a:off x="101263" y="2511474"/>
            <a:ext cx="1530586" cy="646331"/>
          </a:xfrm>
          <a:prstGeom prst="rect">
            <a:avLst/>
          </a:prstGeom>
          <a:noFill/>
        </p:spPr>
        <p:txBody>
          <a:bodyPr wrap="square" rtlCol="0">
            <a:spAutoFit/>
          </a:bodyPr>
          <a:lstStyle/>
          <a:p>
            <a:pPr algn="ctr"/>
            <a:r>
              <a:rPr lang="en-US" noProof="0" dirty="0"/>
              <a:t>Application Web</a:t>
            </a:r>
          </a:p>
        </p:txBody>
      </p:sp>
    </p:spTree>
    <p:extLst>
      <p:ext uri="{BB962C8B-B14F-4D97-AF65-F5344CB8AC3E}">
        <p14:creationId xmlns:p14="http://schemas.microsoft.com/office/powerpoint/2010/main" val="31189147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3622E-7 -2.40761E-6 L 0.07402 0.22425 " pathEditMode="relative" rAng="0" ptsTypes="AA">
                                      <p:cBhvr>
                                        <p:cTn id="6" dur="2000" fill="hold"/>
                                        <p:tgtEl>
                                          <p:spTgt spid="34"/>
                                        </p:tgtEl>
                                        <p:attrNameLst>
                                          <p:attrName>ppt_x</p:attrName>
                                          <p:attrName>ppt_y</p:attrName>
                                        </p:attrNameLst>
                                      </p:cBhvr>
                                      <p:rCtr x="3701" y="11198"/>
                                    </p:animMotion>
                                  </p:childTnLst>
                                </p:cTn>
                              </p:par>
                            </p:childTnLst>
                          </p:cTn>
                        </p:par>
                        <p:par>
                          <p:cTn id="7" fill="hold">
                            <p:stCondLst>
                              <p:cond delay="2000"/>
                            </p:stCondLst>
                            <p:childTnLst>
                              <p:par>
                                <p:cTn id="8" presetID="42" presetClass="path" presetSubtype="0" accel="50000" decel="50000" fill="hold" nodeType="afterEffect">
                                  <p:stCondLst>
                                    <p:cond delay="0"/>
                                  </p:stCondLst>
                                  <p:childTnLst>
                                    <p:animMotion origin="layout" path="M 0.07402 0.22425 L 0.32079 0.22313 " pathEditMode="relative" rAng="0" ptsTypes="AA">
                                      <p:cBhvr>
                                        <p:cTn id="9" dur="2000" fill="hold"/>
                                        <p:tgtEl>
                                          <p:spTgt spid="34"/>
                                        </p:tgtEl>
                                        <p:attrNameLst>
                                          <p:attrName>ppt_x</p:attrName>
                                          <p:attrName>ppt_y</p:attrName>
                                        </p:attrNameLst>
                                      </p:cBhvr>
                                      <p:rCtr x="12331" y="-56"/>
                                    </p:animMotion>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nodeType="clickEffect">
                                  <p:stCondLst>
                                    <p:cond delay="0"/>
                                  </p:stCondLst>
                                  <p:childTnLst>
                                    <p:set>
                                      <p:cBhvr>
                                        <p:cTn id="13" dur="1" fill="hold">
                                          <p:stCondLst>
                                            <p:cond delay="0"/>
                                          </p:stCondLst>
                                        </p:cTn>
                                        <p:tgtEl>
                                          <p:spTgt spid="40"/>
                                        </p:tgtEl>
                                        <p:attrNameLst>
                                          <p:attrName>style.visibility</p:attrName>
                                        </p:attrNameLst>
                                      </p:cBhvr>
                                      <p:to>
                                        <p:strVal val="visible"/>
                                      </p:to>
                                    </p:set>
                                    <p:animEffect transition="in" filter="fade">
                                      <p:cBhvr>
                                        <p:cTn id="14" dur="1000"/>
                                        <p:tgtEl>
                                          <p:spTgt spid="40"/>
                                        </p:tgtEl>
                                      </p:cBhvr>
                                    </p:animEffect>
                                    <p:anim calcmode="lin" valueType="num">
                                      <p:cBhvr>
                                        <p:cTn id="15" dur="1000" fill="hold"/>
                                        <p:tgtEl>
                                          <p:spTgt spid="40"/>
                                        </p:tgtEl>
                                        <p:attrNameLst>
                                          <p:attrName>ppt_x</p:attrName>
                                        </p:attrNameLst>
                                      </p:cBhvr>
                                      <p:tavLst>
                                        <p:tav tm="0">
                                          <p:val>
                                            <p:strVal val="#ppt_x"/>
                                          </p:val>
                                        </p:tav>
                                        <p:tav tm="100000">
                                          <p:val>
                                            <p:strVal val="#ppt_x"/>
                                          </p:val>
                                        </p:tav>
                                      </p:tavLst>
                                    </p:anim>
                                    <p:anim calcmode="lin" valueType="num">
                                      <p:cBhvr>
                                        <p:cTn id="16" dur="1000" fill="hold"/>
                                        <p:tgtEl>
                                          <p:spTgt spid="40"/>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path" presetSubtype="0" accel="50000" decel="50000" fill="hold" nodeType="afterEffect">
                                  <p:stCondLst>
                                    <p:cond delay="0"/>
                                  </p:stCondLst>
                                  <p:childTnLst>
                                    <p:animMotion origin="layout" path="M -1.41732E-6 -3.80739E-7 L -0.29275 -3.80739E-7 " pathEditMode="relative" rAng="0" ptsTypes="AA">
                                      <p:cBhvr>
                                        <p:cTn id="19" dur="2000" fill="hold"/>
                                        <p:tgtEl>
                                          <p:spTgt spid="40"/>
                                        </p:tgtEl>
                                        <p:attrNameLst>
                                          <p:attrName>ppt_x</p:attrName>
                                          <p:attrName>ppt_y</p:attrName>
                                        </p:attrNameLst>
                                      </p:cBhvr>
                                      <p:rCtr x="-14646" y="0"/>
                                    </p:animMotion>
                                  </p:childTnLst>
                                </p:cTn>
                              </p:par>
                            </p:childTnLst>
                          </p:cTn>
                        </p:par>
                      </p:childTnLst>
                    </p:cTn>
                  </p:par>
                  <p:par>
                    <p:cTn id="20" fill="hold">
                      <p:stCondLst>
                        <p:cond delay="indefinite"/>
                      </p:stCondLst>
                      <p:childTnLst>
                        <p:par>
                          <p:cTn id="21" fill="hold">
                            <p:stCondLst>
                              <p:cond delay="0"/>
                            </p:stCondLst>
                            <p:childTnLst>
                              <p:par>
                                <p:cTn id="22" presetID="42" presetClass="path" presetSubtype="0" accel="50000" decel="50000" fill="hold" nodeType="clickEffect">
                                  <p:stCondLst>
                                    <p:cond delay="0"/>
                                  </p:stCondLst>
                                  <p:childTnLst>
                                    <p:animMotion origin="layout" path="M -0.29275 -3.80739E-7 L -0.73417 0.01484 " pathEditMode="relative" rAng="0" ptsTypes="AA">
                                      <p:cBhvr>
                                        <p:cTn id="23" dur="2000" fill="hold"/>
                                        <p:tgtEl>
                                          <p:spTgt spid="40"/>
                                        </p:tgtEl>
                                        <p:attrNameLst>
                                          <p:attrName>ppt_x</p:attrName>
                                          <p:attrName>ppt_y</p:attrName>
                                        </p:attrNameLst>
                                      </p:cBhvr>
                                      <p:rCtr x="-22079" y="72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8182A0C-6D91-9945-ADD4-3B460EE9421B}"/>
            </a:ext>
          </a:extLst>
        </p:cNvPr>
        <p:cNvGrpSpPr/>
        <p:nvPr/>
      </p:nvGrpSpPr>
      <p:grpSpPr>
        <a:xfrm>
          <a:off x="0" y="0"/>
          <a:ext cx="0" cy="0"/>
          <a:chOff x="0" y="0"/>
          <a:chExt cx="0" cy="0"/>
        </a:xfrm>
      </p:grpSpPr>
      <p:sp>
        <p:nvSpPr>
          <p:cNvPr id="161" name="Rectangle 160">
            <a:extLst>
              <a:ext uri="{FF2B5EF4-FFF2-40B4-BE49-F238E27FC236}">
                <a16:creationId xmlns:a16="http://schemas.microsoft.com/office/drawing/2014/main" id="{5E905EA1-DFC0-0452-8A95-666EE6C1C003}"/>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Current Functionalities</a:t>
            </a:r>
            <a:endParaRPr lang="en-US" sz="2000" b="0" u="none" strike="noStrike" noProof="0" dirty="0">
              <a:solidFill>
                <a:srgbClr val="000000"/>
              </a:solidFill>
              <a:effectLst/>
              <a:uFillTx/>
              <a:latin typeface="Arial"/>
            </a:endParaRPr>
          </a:p>
        </p:txBody>
      </p:sp>
      <p:sp>
        <p:nvSpPr>
          <p:cNvPr id="5" name="ZoneTexte 4">
            <a:extLst>
              <a:ext uri="{FF2B5EF4-FFF2-40B4-BE49-F238E27FC236}">
                <a16:creationId xmlns:a16="http://schemas.microsoft.com/office/drawing/2014/main" id="{A03FF0AF-6D76-93D3-1E83-CCFFDD362374}"/>
              </a:ext>
            </a:extLst>
          </p:cNvPr>
          <p:cNvSpPr txBox="1"/>
          <p:nvPr/>
        </p:nvSpPr>
        <p:spPr>
          <a:xfrm>
            <a:off x="292658" y="373579"/>
            <a:ext cx="5091344" cy="369332"/>
          </a:xfrm>
          <a:prstGeom prst="rect">
            <a:avLst/>
          </a:prstGeom>
          <a:noFill/>
        </p:spPr>
        <p:txBody>
          <a:bodyPr wrap="square">
            <a:spAutoFit/>
          </a:bodyPr>
          <a:lstStyle/>
          <a:p>
            <a:r>
              <a:rPr lang="en-US" noProof="0" dirty="0"/>
              <a:t>Web Interface Demonstration</a:t>
            </a:r>
          </a:p>
        </p:txBody>
      </p:sp>
      <p:sp>
        <p:nvSpPr>
          <p:cNvPr id="2" name="Espace réservé du numéro de diapositive 3">
            <a:extLst>
              <a:ext uri="{FF2B5EF4-FFF2-40B4-BE49-F238E27FC236}">
                <a16:creationId xmlns:a16="http://schemas.microsoft.com/office/drawing/2014/main" id="{EDDC8382-A5FA-C754-162A-0A3CD3BC9CC7}"/>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15</a:t>
            </a:fld>
            <a:endParaRPr lang="en-US" sz="1200" noProof="0" dirty="0"/>
          </a:p>
        </p:txBody>
      </p:sp>
      <p:pic>
        <p:nvPicPr>
          <p:cNvPr id="4" name="Image 3" descr="Une image contenant texte, logiciel, Icône d’ordinateur, nombre&#10;&#10;Le contenu généré par l’IA peut être incorrect.">
            <a:extLst>
              <a:ext uri="{FF2B5EF4-FFF2-40B4-BE49-F238E27FC236}">
                <a16:creationId xmlns:a16="http://schemas.microsoft.com/office/drawing/2014/main" id="{0DD5CAA4-2F56-A2D8-5649-19EFF782C9F7}"/>
              </a:ext>
            </a:extLst>
          </p:cNvPr>
          <p:cNvPicPr>
            <a:picLocks noChangeAspect="1"/>
          </p:cNvPicPr>
          <p:nvPr/>
        </p:nvPicPr>
        <p:blipFill>
          <a:blip r:embed="rId3" cstate="print">
            <a:extLst>
              <a:ext uri="{28A0092B-C50C-407E-A947-70E740481C1C}">
                <a14:useLocalDpi xmlns:a14="http://schemas.microsoft.com/office/drawing/2010/main" val="0"/>
              </a:ext>
            </a:extLst>
          </a:blip>
          <a:srcRect l="1451" t="7477" r="1546" b="2954"/>
          <a:stretch>
            <a:fillRect/>
          </a:stretch>
        </p:blipFill>
        <p:spPr>
          <a:xfrm>
            <a:off x="1575431" y="1277932"/>
            <a:ext cx="6929761" cy="3114686"/>
          </a:xfrm>
          <a:prstGeom prst="rect">
            <a:avLst/>
          </a:prstGeom>
        </p:spPr>
      </p:pic>
      <p:pic>
        <p:nvPicPr>
          <p:cNvPr id="7" name="Image 6" descr="Une image contenant texte, capture d’écran, logiciel, nombre&#10;&#10;Le contenu généré par l’IA peut être incorrect.">
            <a:extLst>
              <a:ext uri="{FF2B5EF4-FFF2-40B4-BE49-F238E27FC236}">
                <a16:creationId xmlns:a16="http://schemas.microsoft.com/office/drawing/2014/main" id="{3A243C48-B7E3-98AA-F072-23DDB0BCD6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6426" y="917857"/>
            <a:ext cx="9507770" cy="4276958"/>
          </a:xfrm>
          <a:prstGeom prst="rect">
            <a:avLst/>
          </a:prstGeom>
        </p:spPr>
      </p:pic>
    </p:spTree>
    <p:extLst>
      <p:ext uri="{BB962C8B-B14F-4D97-AF65-F5344CB8AC3E}">
        <p14:creationId xmlns:p14="http://schemas.microsoft.com/office/powerpoint/2010/main" val="28628596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9CAD943-911B-3CE3-4906-12D57ED40355}"/>
            </a:ext>
          </a:extLst>
        </p:cNvPr>
        <p:cNvGrpSpPr/>
        <p:nvPr/>
      </p:nvGrpSpPr>
      <p:grpSpPr>
        <a:xfrm>
          <a:off x="0" y="0"/>
          <a:ext cx="0" cy="0"/>
          <a:chOff x="0" y="0"/>
          <a:chExt cx="0" cy="0"/>
        </a:xfrm>
      </p:grpSpPr>
      <p:sp>
        <p:nvSpPr>
          <p:cNvPr id="161" name="Rectangle 160">
            <a:extLst>
              <a:ext uri="{FF2B5EF4-FFF2-40B4-BE49-F238E27FC236}">
                <a16:creationId xmlns:a16="http://schemas.microsoft.com/office/drawing/2014/main" id="{F2871AC3-E179-C462-1118-73A0C51D7519}"/>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Current Functionalities</a:t>
            </a:r>
            <a:endParaRPr lang="en-US" sz="2000" noProof="0" dirty="0">
              <a:solidFill>
                <a:srgbClr val="000000"/>
              </a:solidFill>
            </a:endParaRPr>
          </a:p>
        </p:txBody>
      </p:sp>
      <p:sp>
        <p:nvSpPr>
          <p:cNvPr id="2" name="Espace réservé du numéro de diapositive 3">
            <a:extLst>
              <a:ext uri="{FF2B5EF4-FFF2-40B4-BE49-F238E27FC236}">
                <a16:creationId xmlns:a16="http://schemas.microsoft.com/office/drawing/2014/main" id="{A4B2B7C8-3C12-DC72-AEA7-EDC133B2C955}"/>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16</a:t>
            </a:fld>
            <a:endParaRPr lang="en-US" sz="1200" noProof="0" dirty="0"/>
          </a:p>
        </p:txBody>
      </p:sp>
      <p:pic>
        <p:nvPicPr>
          <p:cNvPr id="5" name="Image 4">
            <a:extLst>
              <a:ext uri="{FF2B5EF4-FFF2-40B4-BE49-F238E27FC236}">
                <a16:creationId xmlns:a16="http://schemas.microsoft.com/office/drawing/2014/main" id="{F916E3B0-66B2-7A01-5DAB-9EF8799D7944}"/>
              </a:ext>
            </a:extLst>
          </p:cNvPr>
          <p:cNvPicPr>
            <a:picLocks noChangeAspect="1"/>
          </p:cNvPicPr>
          <p:nvPr/>
        </p:nvPicPr>
        <p:blipFill>
          <a:blip r:embed="rId3"/>
          <a:stretch>
            <a:fillRect/>
          </a:stretch>
        </p:blipFill>
        <p:spPr>
          <a:xfrm>
            <a:off x="2752637" y="799330"/>
            <a:ext cx="4590925" cy="4578047"/>
          </a:xfrm>
          <a:prstGeom prst="rect">
            <a:avLst/>
          </a:prstGeom>
        </p:spPr>
      </p:pic>
      <p:sp>
        <p:nvSpPr>
          <p:cNvPr id="3" name="ZoneTexte 2">
            <a:extLst>
              <a:ext uri="{FF2B5EF4-FFF2-40B4-BE49-F238E27FC236}">
                <a16:creationId xmlns:a16="http://schemas.microsoft.com/office/drawing/2014/main" id="{F7E1DCFA-5921-9E20-15BD-47FDBBC30092}"/>
              </a:ext>
            </a:extLst>
          </p:cNvPr>
          <p:cNvSpPr txBox="1"/>
          <p:nvPr/>
        </p:nvSpPr>
        <p:spPr>
          <a:xfrm>
            <a:off x="292658" y="373579"/>
            <a:ext cx="5091344" cy="369332"/>
          </a:xfrm>
          <a:prstGeom prst="rect">
            <a:avLst/>
          </a:prstGeom>
          <a:noFill/>
        </p:spPr>
        <p:txBody>
          <a:bodyPr wrap="square">
            <a:spAutoFit/>
          </a:bodyPr>
          <a:lstStyle/>
          <a:p>
            <a:r>
              <a:rPr lang="en-US" noProof="0" dirty="0"/>
              <a:t>Web Interface Demonstration</a:t>
            </a:r>
          </a:p>
        </p:txBody>
      </p:sp>
    </p:spTree>
    <p:extLst>
      <p:ext uri="{BB962C8B-B14F-4D97-AF65-F5344CB8AC3E}">
        <p14:creationId xmlns:p14="http://schemas.microsoft.com/office/powerpoint/2010/main" val="19099339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187BDEE-0F14-5DB9-6EA5-00609F92BC30}"/>
            </a:ext>
          </a:extLst>
        </p:cNvPr>
        <p:cNvGrpSpPr/>
        <p:nvPr/>
      </p:nvGrpSpPr>
      <p:grpSpPr>
        <a:xfrm>
          <a:off x="0" y="0"/>
          <a:ext cx="0" cy="0"/>
          <a:chOff x="0" y="0"/>
          <a:chExt cx="0" cy="0"/>
        </a:xfrm>
      </p:grpSpPr>
      <p:sp>
        <p:nvSpPr>
          <p:cNvPr id="161" name="Rectangle 160">
            <a:extLst>
              <a:ext uri="{FF2B5EF4-FFF2-40B4-BE49-F238E27FC236}">
                <a16:creationId xmlns:a16="http://schemas.microsoft.com/office/drawing/2014/main" id="{1B76A093-AAD7-3ABF-AD3A-8ACC4DFF1338}"/>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Planning</a:t>
            </a:r>
            <a:endParaRPr lang="en-US" sz="2000" b="0" u="none" strike="noStrike" noProof="0" dirty="0">
              <a:solidFill>
                <a:srgbClr val="000000"/>
              </a:solidFill>
              <a:effectLst/>
              <a:uFillTx/>
              <a:latin typeface="Arial"/>
            </a:endParaRPr>
          </a:p>
        </p:txBody>
      </p:sp>
      <p:sp>
        <p:nvSpPr>
          <p:cNvPr id="6" name="Espace réservé du numéro de diapositive 3">
            <a:extLst>
              <a:ext uri="{FF2B5EF4-FFF2-40B4-BE49-F238E27FC236}">
                <a16:creationId xmlns:a16="http://schemas.microsoft.com/office/drawing/2014/main" id="{AFE7BC3C-A0F5-2EB3-533E-E361468E3798}"/>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17</a:t>
            </a:fld>
            <a:endParaRPr lang="en-US" sz="1200" noProof="0" dirty="0"/>
          </a:p>
        </p:txBody>
      </p:sp>
      <p:sp>
        <p:nvSpPr>
          <p:cNvPr id="2" name="ZoneTexte 1">
            <a:extLst>
              <a:ext uri="{FF2B5EF4-FFF2-40B4-BE49-F238E27FC236}">
                <a16:creationId xmlns:a16="http://schemas.microsoft.com/office/drawing/2014/main" id="{30C831B5-C264-8476-7418-796467B20C3E}"/>
              </a:ext>
            </a:extLst>
          </p:cNvPr>
          <p:cNvSpPr txBox="1"/>
          <p:nvPr/>
        </p:nvSpPr>
        <p:spPr>
          <a:xfrm>
            <a:off x="292658" y="373579"/>
            <a:ext cx="5091344" cy="369332"/>
          </a:xfrm>
          <a:prstGeom prst="rect">
            <a:avLst/>
          </a:prstGeom>
          <a:noFill/>
        </p:spPr>
        <p:txBody>
          <a:bodyPr wrap="square">
            <a:spAutoFit/>
          </a:bodyPr>
          <a:lstStyle/>
          <a:p>
            <a:r>
              <a:rPr lang="en-US" noProof="0" dirty="0"/>
              <a:t>Orchestration abilities</a:t>
            </a:r>
          </a:p>
        </p:txBody>
      </p:sp>
      <p:sp>
        <p:nvSpPr>
          <p:cNvPr id="3" name="Hexagone 2">
            <a:extLst>
              <a:ext uri="{FF2B5EF4-FFF2-40B4-BE49-F238E27FC236}">
                <a16:creationId xmlns:a16="http://schemas.microsoft.com/office/drawing/2014/main" id="{F0704D5A-7E16-0061-983A-CE3FFE39D705}"/>
              </a:ext>
            </a:extLst>
          </p:cNvPr>
          <p:cNvSpPr/>
          <p:nvPr/>
        </p:nvSpPr>
        <p:spPr>
          <a:xfrm>
            <a:off x="1834658" y="2342401"/>
            <a:ext cx="2007344" cy="1730469"/>
          </a:xfrm>
          <a:prstGeom prst="hexagon">
            <a:avLst/>
          </a:prstGeom>
          <a:solidFill>
            <a:srgbClr val="980602"/>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noProof="0" dirty="0"/>
          </a:p>
        </p:txBody>
      </p:sp>
      <p:sp>
        <p:nvSpPr>
          <p:cNvPr id="12" name="Hexagone 11">
            <a:extLst>
              <a:ext uri="{FF2B5EF4-FFF2-40B4-BE49-F238E27FC236}">
                <a16:creationId xmlns:a16="http://schemas.microsoft.com/office/drawing/2014/main" id="{F4ACB7E2-DAC5-58D6-B498-07FF55B780D8}"/>
              </a:ext>
            </a:extLst>
          </p:cNvPr>
          <p:cNvSpPr/>
          <p:nvPr/>
        </p:nvSpPr>
        <p:spPr>
          <a:xfrm>
            <a:off x="6238624" y="2342401"/>
            <a:ext cx="2007344" cy="1730469"/>
          </a:xfrm>
          <a:prstGeom prst="hexagon">
            <a:avLst/>
          </a:prstGeom>
          <a:solidFill>
            <a:srgbClr val="980602"/>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noProof="0" dirty="0"/>
          </a:p>
        </p:txBody>
      </p:sp>
      <p:sp>
        <p:nvSpPr>
          <p:cNvPr id="13" name="ZoneTexte 12">
            <a:extLst>
              <a:ext uri="{FF2B5EF4-FFF2-40B4-BE49-F238E27FC236}">
                <a16:creationId xmlns:a16="http://schemas.microsoft.com/office/drawing/2014/main" id="{F2F5E032-933F-56D7-94B8-ABD1B06E9AEB}"/>
              </a:ext>
            </a:extLst>
          </p:cNvPr>
          <p:cNvSpPr txBox="1"/>
          <p:nvPr/>
        </p:nvSpPr>
        <p:spPr>
          <a:xfrm>
            <a:off x="616741" y="1681455"/>
            <a:ext cx="4403966" cy="369332"/>
          </a:xfrm>
          <a:prstGeom prst="rect">
            <a:avLst/>
          </a:prstGeom>
          <a:noFill/>
        </p:spPr>
        <p:txBody>
          <a:bodyPr wrap="square" rtlCol="0">
            <a:spAutoFit/>
          </a:bodyPr>
          <a:lstStyle/>
          <a:p>
            <a:pPr algn="ctr"/>
            <a:r>
              <a:rPr lang="en-US" noProof="0" dirty="0"/>
              <a:t>Intelligent Management of Resources</a:t>
            </a:r>
          </a:p>
        </p:txBody>
      </p:sp>
      <p:pic>
        <p:nvPicPr>
          <p:cNvPr id="14" name="Graphique 13" descr="Processeur avec un remplissage uni">
            <a:extLst>
              <a:ext uri="{FF2B5EF4-FFF2-40B4-BE49-F238E27FC236}">
                <a16:creationId xmlns:a16="http://schemas.microsoft.com/office/drawing/2014/main" id="{C7D58EDD-998F-39AF-BFFB-2B4A387C339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72578" y="2641884"/>
            <a:ext cx="1131504" cy="1131504"/>
          </a:xfrm>
          <a:prstGeom prst="rect">
            <a:avLst/>
          </a:prstGeom>
        </p:spPr>
      </p:pic>
      <p:pic>
        <p:nvPicPr>
          <p:cNvPr id="15" name="Graphique 14" descr="Aléatoire avec un remplissage uni">
            <a:extLst>
              <a:ext uri="{FF2B5EF4-FFF2-40B4-BE49-F238E27FC236}">
                <a16:creationId xmlns:a16="http://schemas.microsoft.com/office/drawing/2014/main" id="{EC0B050B-5DD0-44C6-E517-7851F88739B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76544" y="2641885"/>
            <a:ext cx="1131503" cy="1131503"/>
          </a:xfrm>
          <a:prstGeom prst="rect">
            <a:avLst/>
          </a:prstGeom>
        </p:spPr>
      </p:pic>
      <p:sp>
        <p:nvSpPr>
          <p:cNvPr id="16" name="ZoneTexte 15">
            <a:extLst>
              <a:ext uri="{FF2B5EF4-FFF2-40B4-BE49-F238E27FC236}">
                <a16:creationId xmlns:a16="http://schemas.microsoft.com/office/drawing/2014/main" id="{FD6F86E8-F172-E1BE-268F-F750816017C6}"/>
              </a:ext>
            </a:extLst>
          </p:cNvPr>
          <p:cNvSpPr txBox="1"/>
          <p:nvPr/>
        </p:nvSpPr>
        <p:spPr>
          <a:xfrm>
            <a:off x="5552886" y="1681455"/>
            <a:ext cx="3378820" cy="369332"/>
          </a:xfrm>
          <a:prstGeom prst="rect">
            <a:avLst/>
          </a:prstGeom>
          <a:noFill/>
        </p:spPr>
        <p:txBody>
          <a:bodyPr wrap="square" rtlCol="0">
            <a:spAutoFit/>
          </a:bodyPr>
          <a:lstStyle/>
          <a:p>
            <a:pPr algn="ctr"/>
            <a:r>
              <a:rPr lang="en-US" noProof="0" dirty="0"/>
              <a:t>Complete Traceability</a:t>
            </a:r>
          </a:p>
        </p:txBody>
      </p:sp>
      <p:sp>
        <p:nvSpPr>
          <p:cNvPr id="17" name="ZoneTexte 16">
            <a:extLst>
              <a:ext uri="{FF2B5EF4-FFF2-40B4-BE49-F238E27FC236}">
                <a16:creationId xmlns:a16="http://schemas.microsoft.com/office/drawing/2014/main" id="{D9F42661-A253-25F2-EB3F-6633CAACF219}"/>
              </a:ext>
            </a:extLst>
          </p:cNvPr>
          <p:cNvSpPr txBox="1"/>
          <p:nvPr/>
        </p:nvSpPr>
        <p:spPr>
          <a:xfrm>
            <a:off x="675941" y="2406776"/>
            <a:ext cx="1441591" cy="523220"/>
          </a:xfrm>
          <a:prstGeom prst="rect">
            <a:avLst/>
          </a:prstGeom>
          <a:noFill/>
        </p:spPr>
        <p:txBody>
          <a:bodyPr wrap="square" rtlCol="0">
            <a:spAutoFit/>
          </a:bodyPr>
          <a:lstStyle/>
          <a:p>
            <a:pPr algn="ctr"/>
            <a:r>
              <a:rPr lang="en-US" sz="1400" noProof="0" dirty="0">
                <a:solidFill>
                  <a:srgbClr val="980602"/>
                </a:solidFill>
              </a:rPr>
              <a:t>Dynamic allocation</a:t>
            </a:r>
          </a:p>
        </p:txBody>
      </p:sp>
      <p:sp>
        <p:nvSpPr>
          <p:cNvPr id="18" name="ZoneTexte 17">
            <a:extLst>
              <a:ext uri="{FF2B5EF4-FFF2-40B4-BE49-F238E27FC236}">
                <a16:creationId xmlns:a16="http://schemas.microsoft.com/office/drawing/2014/main" id="{6149A973-15E7-D8C1-FE8F-540191708230}"/>
              </a:ext>
            </a:extLst>
          </p:cNvPr>
          <p:cNvSpPr txBox="1"/>
          <p:nvPr/>
        </p:nvSpPr>
        <p:spPr>
          <a:xfrm>
            <a:off x="628560" y="3465611"/>
            <a:ext cx="1562552" cy="523220"/>
          </a:xfrm>
          <a:prstGeom prst="rect">
            <a:avLst/>
          </a:prstGeom>
          <a:noFill/>
        </p:spPr>
        <p:txBody>
          <a:bodyPr wrap="square" rtlCol="0">
            <a:spAutoFit/>
          </a:bodyPr>
          <a:lstStyle/>
          <a:p>
            <a:pPr algn="ctr"/>
            <a:r>
              <a:rPr lang="en-US" sz="1400" noProof="0" dirty="0">
                <a:solidFill>
                  <a:srgbClr val="980602"/>
                </a:solidFill>
              </a:rPr>
              <a:t>Automatic merging</a:t>
            </a:r>
          </a:p>
        </p:txBody>
      </p:sp>
      <p:sp>
        <p:nvSpPr>
          <p:cNvPr id="19" name="ZoneTexte 18">
            <a:extLst>
              <a:ext uri="{FF2B5EF4-FFF2-40B4-BE49-F238E27FC236}">
                <a16:creationId xmlns:a16="http://schemas.microsoft.com/office/drawing/2014/main" id="{B5E78279-75BE-F2FF-0DB0-984435D51BF0}"/>
              </a:ext>
            </a:extLst>
          </p:cNvPr>
          <p:cNvSpPr txBox="1"/>
          <p:nvPr/>
        </p:nvSpPr>
        <p:spPr>
          <a:xfrm>
            <a:off x="1834658" y="4202865"/>
            <a:ext cx="2007344" cy="307777"/>
          </a:xfrm>
          <a:prstGeom prst="rect">
            <a:avLst/>
          </a:prstGeom>
          <a:noFill/>
        </p:spPr>
        <p:txBody>
          <a:bodyPr wrap="square" rtlCol="0">
            <a:spAutoFit/>
          </a:bodyPr>
          <a:lstStyle/>
          <a:p>
            <a:pPr algn="ctr"/>
            <a:r>
              <a:rPr lang="en-US" sz="1400" noProof="0" dirty="0">
                <a:solidFill>
                  <a:srgbClr val="980602"/>
                </a:solidFill>
              </a:rPr>
              <a:t>Prioritization</a:t>
            </a:r>
          </a:p>
        </p:txBody>
      </p:sp>
      <p:sp>
        <p:nvSpPr>
          <p:cNvPr id="22" name="ZoneTexte 21">
            <a:extLst>
              <a:ext uri="{FF2B5EF4-FFF2-40B4-BE49-F238E27FC236}">
                <a16:creationId xmlns:a16="http://schemas.microsoft.com/office/drawing/2014/main" id="{373FB528-8309-BE86-5F57-4F3986FDBD48}"/>
              </a:ext>
            </a:extLst>
          </p:cNvPr>
          <p:cNvSpPr txBox="1"/>
          <p:nvPr/>
        </p:nvSpPr>
        <p:spPr>
          <a:xfrm>
            <a:off x="3276250" y="2515392"/>
            <a:ext cx="2007344" cy="307777"/>
          </a:xfrm>
          <a:prstGeom prst="rect">
            <a:avLst/>
          </a:prstGeom>
          <a:noFill/>
        </p:spPr>
        <p:txBody>
          <a:bodyPr wrap="square" rtlCol="0">
            <a:spAutoFit/>
          </a:bodyPr>
          <a:lstStyle/>
          <a:p>
            <a:pPr algn="ctr"/>
            <a:r>
              <a:rPr lang="en-US" sz="1400" noProof="0" dirty="0">
                <a:solidFill>
                  <a:srgbClr val="980602"/>
                </a:solidFill>
              </a:rPr>
              <a:t>Balancing</a:t>
            </a:r>
          </a:p>
        </p:txBody>
      </p:sp>
      <p:sp>
        <p:nvSpPr>
          <p:cNvPr id="23" name="ZoneTexte 22">
            <a:extLst>
              <a:ext uri="{FF2B5EF4-FFF2-40B4-BE49-F238E27FC236}">
                <a16:creationId xmlns:a16="http://schemas.microsoft.com/office/drawing/2014/main" id="{DAC8FC46-8477-FBBE-10B5-9083F0A6DB65}"/>
              </a:ext>
            </a:extLst>
          </p:cNvPr>
          <p:cNvSpPr txBox="1"/>
          <p:nvPr/>
        </p:nvSpPr>
        <p:spPr>
          <a:xfrm>
            <a:off x="3484350" y="3465611"/>
            <a:ext cx="1591144" cy="523220"/>
          </a:xfrm>
          <a:prstGeom prst="rect">
            <a:avLst/>
          </a:prstGeom>
          <a:noFill/>
        </p:spPr>
        <p:txBody>
          <a:bodyPr wrap="square" rtlCol="0">
            <a:spAutoFit/>
          </a:bodyPr>
          <a:lstStyle/>
          <a:p>
            <a:pPr algn="ctr"/>
            <a:r>
              <a:rPr lang="en-US" sz="1400" noProof="0" dirty="0">
                <a:solidFill>
                  <a:srgbClr val="980602"/>
                </a:solidFill>
              </a:rPr>
              <a:t>Flexible Configuration</a:t>
            </a:r>
          </a:p>
        </p:txBody>
      </p:sp>
      <p:sp>
        <p:nvSpPr>
          <p:cNvPr id="25" name="ZoneTexte 24">
            <a:extLst>
              <a:ext uri="{FF2B5EF4-FFF2-40B4-BE49-F238E27FC236}">
                <a16:creationId xmlns:a16="http://schemas.microsoft.com/office/drawing/2014/main" id="{28F51CA4-B1C8-C221-E4EB-3E3E76FCC34F}"/>
              </a:ext>
            </a:extLst>
          </p:cNvPr>
          <p:cNvSpPr txBox="1"/>
          <p:nvPr/>
        </p:nvSpPr>
        <p:spPr>
          <a:xfrm>
            <a:off x="5158061" y="2406776"/>
            <a:ext cx="1441590" cy="523220"/>
          </a:xfrm>
          <a:prstGeom prst="rect">
            <a:avLst/>
          </a:prstGeom>
          <a:noFill/>
        </p:spPr>
        <p:txBody>
          <a:bodyPr wrap="square" rtlCol="0">
            <a:spAutoFit/>
          </a:bodyPr>
          <a:lstStyle/>
          <a:p>
            <a:pPr algn="ctr"/>
            <a:r>
              <a:rPr lang="en-US" sz="1400" noProof="0" dirty="0">
                <a:solidFill>
                  <a:srgbClr val="980602"/>
                </a:solidFill>
              </a:rPr>
              <a:t>Logs per samples</a:t>
            </a:r>
          </a:p>
        </p:txBody>
      </p:sp>
      <p:sp>
        <p:nvSpPr>
          <p:cNvPr id="26" name="ZoneTexte 25">
            <a:extLst>
              <a:ext uri="{FF2B5EF4-FFF2-40B4-BE49-F238E27FC236}">
                <a16:creationId xmlns:a16="http://schemas.microsoft.com/office/drawing/2014/main" id="{6B96D3D9-B51E-9E78-3206-67F66FA8CCFD}"/>
              </a:ext>
            </a:extLst>
          </p:cNvPr>
          <p:cNvSpPr txBox="1"/>
          <p:nvPr/>
        </p:nvSpPr>
        <p:spPr>
          <a:xfrm>
            <a:off x="5196508" y="3559346"/>
            <a:ext cx="1441590" cy="307777"/>
          </a:xfrm>
          <a:prstGeom prst="rect">
            <a:avLst/>
          </a:prstGeom>
          <a:noFill/>
        </p:spPr>
        <p:txBody>
          <a:bodyPr wrap="square" rtlCol="0">
            <a:spAutoFit/>
          </a:bodyPr>
          <a:lstStyle/>
          <a:p>
            <a:pPr algn="ctr"/>
            <a:r>
              <a:rPr lang="en-US" sz="1400" noProof="0" dirty="0">
                <a:solidFill>
                  <a:srgbClr val="980602"/>
                </a:solidFill>
              </a:rPr>
              <a:t>Exit code</a:t>
            </a:r>
          </a:p>
        </p:txBody>
      </p:sp>
      <p:sp>
        <p:nvSpPr>
          <p:cNvPr id="27" name="ZoneTexte 26">
            <a:extLst>
              <a:ext uri="{FF2B5EF4-FFF2-40B4-BE49-F238E27FC236}">
                <a16:creationId xmlns:a16="http://schemas.microsoft.com/office/drawing/2014/main" id="{88609506-850C-0948-D8AF-932817A3E9A0}"/>
              </a:ext>
            </a:extLst>
          </p:cNvPr>
          <p:cNvSpPr txBox="1"/>
          <p:nvPr/>
        </p:nvSpPr>
        <p:spPr>
          <a:xfrm>
            <a:off x="7854553" y="2513870"/>
            <a:ext cx="1441590" cy="307777"/>
          </a:xfrm>
          <a:prstGeom prst="rect">
            <a:avLst/>
          </a:prstGeom>
          <a:noFill/>
        </p:spPr>
        <p:txBody>
          <a:bodyPr wrap="square" rtlCol="0">
            <a:spAutoFit/>
          </a:bodyPr>
          <a:lstStyle/>
          <a:p>
            <a:pPr algn="ctr"/>
            <a:r>
              <a:rPr lang="en-US" sz="1400" noProof="0" dirty="0">
                <a:solidFill>
                  <a:srgbClr val="980602"/>
                </a:solidFill>
              </a:rPr>
              <a:t>Logs Paths</a:t>
            </a:r>
          </a:p>
        </p:txBody>
      </p:sp>
      <p:sp>
        <p:nvSpPr>
          <p:cNvPr id="28" name="ZoneTexte 27">
            <a:extLst>
              <a:ext uri="{FF2B5EF4-FFF2-40B4-BE49-F238E27FC236}">
                <a16:creationId xmlns:a16="http://schemas.microsoft.com/office/drawing/2014/main" id="{10708D29-D8A2-3B2F-4B2D-A9435CE17A9D}"/>
              </a:ext>
            </a:extLst>
          </p:cNvPr>
          <p:cNvSpPr txBox="1"/>
          <p:nvPr/>
        </p:nvSpPr>
        <p:spPr>
          <a:xfrm>
            <a:off x="7811546" y="3592507"/>
            <a:ext cx="1441590" cy="307777"/>
          </a:xfrm>
          <a:prstGeom prst="rect">
            <a:avLst/>
          </a:prstGeom>
          <a:noFill/>
        </p:spPr>
        <p:txBody>
          <a:bodyPr wrap="square" rtlCol="0">
            <a:spAutoFit/>
          </a:bodyPr>
          <a:lstStyle/>
          <a:p>
            <a:pPr algn="ctr"/>
            <a:r>
              <a:rPr lang="en-US" sz="1400" noProof="0" dirty="0">
                <a:solidFill>
                  <a:srgbClr val="980602"/>
                </a:solidFill>
              </a:rPr>
              <a:t>Audit trail</a:t>
            </a:r>
          </a:p>
        </p:txBody>
      </p:sp>
    </p:spTree>
    <p:extLst>
      <p:ext uri="{BB962C8B-B14F-4D97-AF65-F5344CB8AC3E}">
        <p14:creationId xmlns:p14="http://schemas.microsoft.com/office/powerpoint/2010/main" val="26415233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779C314-C487-2993-877E-27F87D9C12DB}"/>
            </a:ext>
          </a:extLst>
        </p:cNvPr>
        <p:cNvGrpSpPr/>
        <p:nvPr/>
      </p:nvGrpSpPr>
      <p:grpSpPr>
        <a:xfrm>
          <a:off x="0" y="0"/>
          <a:ext cx="0" cy="0"/>
          <a:chOff x="0" y="0"/>
          <a:chExt cx="0" cy="0"/>
        </a:xfrm>
      </p:grpSpPr>
      <p:sp>
        <p:nvSpPr>
          <p:cNvPr id="161" name="Rectangle 160">
            <a:extLst>
              <a:ext uri="{FF2B5EF4-FFF2-40B4-BE49-F238E27FC236}">
                <a16:creationId xmlns:a16="http://schemas.microsoft.com/office/drawing/2014/main" id="{7BAF8B39-A12C-D066-6FD1-79846B856C06}"/>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Planning</a:t>
            </a:r>
            <a:endParaRPr lang="en-US" sz="2000" b="0" u="none" strike="noStrike" noProof="0" dirty="0">
              <a:solidFill>
                <a:srgbClr val="000000"/>
              </a:solidFill>
              <a:effectLst/>
              <a:uFillTx/>
              <a:latin typeface="Arial"/>
            </a:endParaRPr>
          </a:p>
        </p:txBody>
      </p:sp>
      <p:sp>
        <p:nvSpPr>
          <p:cNvPr id="5" name="Espace réservé du numéro de diapositive 3">
            <a:extLst>
              <a:ext uri="{FF2B5EF4-FFF2-40B4-BE49-F238E27FC236}">
                <a16:creationId xmlns:a16="http://schemas.microsoft.com/office/drawing/2014/main" id="{ACF7D74F-D50F-B197-0509-FA409B239F32}"/>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18</a:t>
            </a:fld>
            <a:endParaRPr lang="en-US" sz="1200" noProof="0" dirty="0"/>
          </a:p>
        </p:txBody>
      </p:sp>
      <p:sp>
        <p:nvSpPr>
          <p:cNvPr id="2" name="ZoneTexte 1">
            <a:extLst>
              <a:ext uri="{FF2B5EF4-FFF2-40B4-BE49-F238E27FC236}">
                <a16:creationId xmlns:a16="http://schemas.microsoft.com/office/drawing/2014/main" id="{35528CCD-4622-D6F4-2CB9-DFCB6239454E}"/>
              </a:ext>
            </a:extLst>
          </p:cNvPr>
          <p:cNvSpPr txBox="1"/>
          <p:nvPr/>
        </p:nvSpPr>
        <p:spPr>
          <a:xfrm>
            <a:off x="292658" y="373579"/>
            <a:ext cx="5091344" cy="369332"/>
          </a:xfrm>
          <a:prstGeom prst="rect">
            <a:avLst/>
          </a:prstGeom>
          <a:noFill/>
        </p:spPr>
        <p:txBody>
          <a:bodyPr wrap="square">
            <a:spAutoFit/>
          </a:bodyPr>
          <a:lstStyle/>
          <a:p>
            <a:r>
              <a:rPr lang="en-US" noProof="0" dirty="0"/>
              <a:t>Automation &amp; Optimization</a:t>
            </a:r>
          </a:p>
        </p:txBody>
      </p:sp>
      <p:sp>
        <p:nvSpPr>
          <p:cNvPr id="3" name="Hexagone 2">
            <a:extLst>
              <a:ext uri="{FF2B5EF4-FFF2-40B4-BE49-F238E27FC236}">
                <a16:creationId xmlns:a16="http://schemas.microsoft.com/office/drawing/2014/main" id="{23345E76-B90F-75FA-9317-54F17A09BBBA}"/>
              </a:ext>
            </a:extLst>
          </p:cNvPr>
          <p:cNvSpPr/>
          <p:nvPr/>
        </p:nvSpPr>
        <p:spPr>
          <a:xfrm>
            <a:off x="1834658" y="2342401"/>
            <a:ext cx="2007344" cy="1730469"/>
          </a:xfrm>
          <a:prstGeom prst="hexagon">
            <a:avLst/>
          </a:prstGeom>
          <a:solidFill>
            <a:srgbClr val="980602"/>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noProof="0" dirty="0"/>
          </a:p>
        </p:txBody>
      </p:sp>
      <p:sp>
        <p:nvSpPr>
          <p:cNvPr id="6" name="Hexagone 5">
            <a:extLst>
              <a:ext uri="{FF2B5EF4-FFF2-40B4-BE49-F238E27FC236}">
                <a16:creationId xmlns:a16="http://schemas.microsoft.com/office/drawing/2014/main" id="{9FD0EC7F-3FF9-0305-99E9-220A5A51534D}"/>
              </a:ext>
            </a:extLst>
          </p:cNvPr>
          <p:cNvSpPr/>
          <p:nvPr/>
        </p:nvSpPr>
        <p:spPr>
          <a:xfrm>
            <a:off x="6238624" y="2342401"/>
            <a:ext cx="2007344" cy="1730469"/>
          </a:xfrm>
          <a:prstGeom prst="hexagon">
            <a:avLst/>
          </a:prstGeom>
          <a:solidFill>
            <a:srgbClr val="980602"/>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noProof="0" dirty="0"/>
          </a:p>
        </p:txBody>
      </p:sp>
      <p:sp>
        <p:nvSpPr>
          <p:cNvPr id="7" name="ZoneTexte 6">
            <a:extLst>
              <a:ext uri="{FF2B5EF4-FFF2-40B4-BE49-F238E27FC236}">
                <a16:creationId xmlns:a16="http://schemas.microsoft.com/office/drawing/2014/main" id="{B3D83CB5-755E-FAD4-53D3-6B19297BB936}"/>
              </a:ext>
            </a:extLst>
          </p:cNvPr>
          <p:cNvSpPr txBox="1"/>
          <p:nvPr/>
        </p:nvSpPr>
        <p:spPr>
          <a:xfrm>
            <a:off x="616741" y="1681455"/>
            <a:ext cx="4403966" cy="369332"/>
          </a:xfrm>
          <a:prstGeom prst="rect">
            <a:avLst/>
          </a:prstGeom>
          <a:noFill/>
        </p:spPr>
        <p:txBody>
          <a:bodyPr wrap="square" rtlCol="0">
            <a:spAutoFit/>
          </a:bodyPr>
          <a:lstStyle/>
          <a:p>
            <a:pPr algn="ctr"/>
            <a:r>
              <a:rPr lang="en-US" noProof="0" dirty="0"/>
              <a:t>Automatic Launcher</a:t>
            </a:r>
          </a:p>
        </p:txBody>
      </p:sp>
      <p:pic>
        <p:nvPicPr>
          <p:cNvPr id="8" name="Graphique 7" descr="Fusée avec un remplissage uni">
            <a:extLst>
              <a:ext uri="{FF2B5EF4-FFF2-40B4-BE49-F238E27FC236}">
                <a16:creationId xmlns:a16="http://schemas.microsoft.com/office/drawing/2014/main" id="{F503FE75-A8D7-8B21-E8D5-F1036B6EA793}"/>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2272578" y="2641884"/>
            <a:ext cx="1131504" cy="1131504"/>
          </a:xfrm>
          <a:prstGeom prst="rect">
            <a:avLst/>
          </a:prstGeom>
        </p:spPr>
      </p:pic>
      <p:pic>
        <p:nvPicPr>
          <p:cNvPr id="9" name="Graphique 8" descr="Liste avec un remplissage uni">
            <a:extLst>
              <a:ext uri="{FF2B5EF4-FFF2-40B4-BE49-F238E27FC236}">
                <a16:creationId xmlns:a16="http://schemas.microsoft.com/office/drawing/2014/main" id="{6DE427FC-C5BB-6603-9DE4-AE168A9882C2}"/>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6676544" y="2641885"/>
            <a:ext cx="1131503" cy="1131503"/>
          </a:xfrm>
          <a:prstGeom prst="rect">
            <a:avLst/>
          </a:prstGeom>
        </p:spPr>
      </p:pic>
      <p:sp>
        <p:nvSpPr>
          <p:cNvPr id="10" name="ZoneTexte 9">
            <a:extLst>
              <a:ext uri="{FF2B5EF4-FFF2-40B4-BE49-F238E27FC236}">
                <a16:creationId xmlns:a16="http://schemas.microsoft.com/office/drawing/2014/main" id="{108CAFF6-E85A-1114-05A0-FAAAF9897BBC}"/>
              </a:ext>
            </a:extLst>
          </p:cNvPr>
          <p:cNvSpPr txBox="1"/>
          <p:nvPr/>
        </p:nvSpPr>
        <p:spPr>
          <a:xfrm>
            <a:off x="5552886" y="1681455"/>
            <a:ext cx="3378820" cy="369332"/>
          </a:xfrm>
          <a:prstGeom prst="rect">
            <a:avLst/>
          </a:prstGeom>
          <a:noFill/>
        </p:spPr>
        <p:txBody>
          <a:bodyPr wrap="square" rtlCol="0">
            <a:spAutoFit/>
          </a:bodyPr>
          <a:lstStyle/>
          <a:p>
            <a:pPr algn="ctr"/>
            <a:r>
              <a:rPr lang="en-US" noProof="0" dirty="0"/>
              <a:t>Performance Optimization</a:t>
            </a:r>
          </a:p>
        </p:txBody>
      </p:sp>
      <p:sp>
        <p:nvSpPr>
          <p:cNvPr id="11" name="ZoneTexte 10">
            <a:extLst>
              <a:ext uri="{FF2B5EF4-FFF2-40B4-BE49-F238E27FC236}">
                <a16:creationId xmlns:a16="http://schemas.microsoft.com/office/drawing/2014/main" id="{75C46384-6BDC-3C95-B9F2-415E0A9145C8}"/>
              </a:ext>
            </a:extLst>
          </p:cNvPr>
          <p:cNvSpPr txBox="1"/>
          <p:nvPr/>
        </p:nvSpPr>
        <p:spPr>
          <a:xfrm>
            <a:off x="675941" y="2406776"/>
            <a:ext cx="1441591" cy="523220"/>
          </a:xfrm>
          <a:prstGeom prst="rect">
            <a:avLst/>
          </a:prstGeom>
          <a:noFill/>
        </p:spPr>
        <p:txBody>
          <a:bodyPr wrap="square" rtlCol="0">
            <a:spAutoFit/>
          </a:bodyPr>
          <a:lstStyle/>
          <a:p>
            <a:pPr algn="ctr"/>
            <a:r>
              <a:rPr lang="en-US" sz="1400" noProof="0" dirty="0">
                <a:solidFill>
                  <a:srgbClr val="980602"/>
                </a:solidFill>
              </a:rPr>
              <a:t>Automatic Detection</a:t>
            </a:r>
          </a:p>
        </p:txBody>
      </p:sp>
      <p:sp>
        <p:nvSpPr>
          <p:cNvPr id="12" name="ZoneTexte 11">
            <a:extLst>
              <a:ext uri="{FF2B5EF4-FFF2-40B4-BE49-F238E27FC236}">
                <a16:creationId xmlns:a16="http://schemas.microsoft.com/office/drawing/2014/main" id="{6C519470-0547-30AA-66DA-056BBF8ACF29}"/>
              </a:ext>
            </a:extLst>
          </p:cNvPr>
          <p:cNvSpPr txBox="1"/>
          <p:nvPr/>
        </p:nvSpPr>
        <p:spPr>
          <a:xfrm>
            <a:off x="628560" y="3465611"/>
            <a:ext cx="1562552" cy="523220"/>
          </a:xfrm>
          <a:prstGeom prst="rect">
            <a:avLst/>
          </a:prstGeom>
          <a:noFill/>
        </p:spPr>
        <p:txBody>
          <a:bodyPr wrap="square" rtlCol="0">
            <a:spAutoFit/>
          </a:bodyPr>
          <a:lstStyle/>
          <a:p>
            <a:pPr algn="ctr"/>
            <a:r>
              <a:rPr lang="en-US" sz="1400" noProof="0" dirty="0">
                <a:solidFill>
                  <a:srgbClr val="980602"/>
                </a:solidFill>
              </a:rPr>
              <a:t>Automatic merging</a:t>
            </a:r>
          </a:p>
        </p:txBody>
      </p:sp>
      <p:sp>
        <p:nvSpPr>
          <p:cNvPr id="14" name="ZoneTexte 13">
            <a:extLst>
              <a:ext uri="{FF2B5EF4-FFF2-40B4-BE49-F238E27FC236}">
                <a16:creationId xmlns:a16="http://schemas.microsoft.com/office/drawing/2014/main" id="{FB5A6B43-62C6-0EF4-1120-538ADAC3AA80}"/>
              </a:ext>
            </a:extLst>
          </p:cNvPr>
          <p:cNvSpPr txBox="1"/>
          <p:nvPr/>
        </p:nvSpPr>
        <p:spPr>
          <a:xfrm>
            <a:off x="3579117" y="2514497"/>
            <a:ext cx="1441590" cy="307777"/>
          </a:xfrm>
          <a:prstGeom prst="rect">
            <a:avLst/>
          </a:prstGeom>
          <a:noFill/>
        </p:spPr>
        <p:txBody>
          <a:bodyPr wrap="square" rtlCol="0">
            <a:spAutoFit/>
          </a:bodyPr>
          <a:lstStyle/>
          <a:p>
            <a:pPr algn="ctr"/>
            <a:r>
              <a:rPr lang="en-US" sz="1400" noProof="0" dirty="0">
                <a:solidFill>
                  <a:srgbClr val="980602"/>
                </a:solidFill>
              </a:rPr>
              <a:t>Balancing</a:t>
            </a:r>
          </a:p>
        </p:txBody>
      </p:sp>
      <p:sp>
        <p:nvSpPr>
          <p:cNvPr id="15" name="ZoneTexte 14">
            <a:extLst>
              <a:ext uri="{FF2B5EF4-FFF2-40B4-BE49-F238E27FC236}">
                <a16:creationId xmlns:a16="http://schemas.microsoft.com/office/drawing/2014/main" id="{C6B34EE2-C7FA-9E0D-E4AD-5FAAF516F8EC}"/>
              </a:ext>
            </a:extLst>
          </p:cNvPr>
          <p:cNvSpPr txBox="1"/>
          <p:nvPr/>
        </p:nvSpPr>
        <p:spPr>
          <a:xfrm>
            <a:off x="3484350" y="3465611"/>
            <a:ext cx="1591144" cy="523220"/>
          </a:xfrm>
          <a:prstGeom prst="rect">
            <a:avLst/>
          </a:prstGeom>
          <a:noFill/>
        </p:spPr>
        <p:txBody>
          <a:bodyPr wrap="square" rtlCol="0">
            <a:spAutoFit/>
          </a:bodyPr>
          <a:lstStyle/>
          <a:p>
            <a:pPr algn="ctr"/>
            <a:r>
              <a:rPr lang="en-US" sz="1400" noProof="0" dirty="0">
                <a:solidFill>
                  <a:srgbClr val="980602"/>
                </a:solidFill>
              </a:rPr>
              <a:t>Automatic Relaunch</a:t>
            </a:r>
          </a:p>
        </p:txBody>
      </p:sp>
      <p:sp>
        <p:nvSpPr>
          <p:cNvPr id="16" name="ZoneTexte 15">
            <a:extLst>
              <a:ext uri="{FF2B5EF4-FFF2-40B4-BE49-F238E27FC236}">
                <a16:creationId xmlns:a16="http://schemas.microsoft.com/office/drawing/2014/main" id="{1D193055-9EA6-793D-5212-DB728F07092A}"/>
              </a:ext>
            </a:extLst>
          </p:cNvPr>
          <p:cNvSpPr txBox="1"/>
          <p:nvPr/>
        </p:nvSpPr>
        <p:spPr>
          <a:xfrm>
            <a:off x="5075494" y="2301196"/>
            <a:ext cx="1441590" cy="738664"/>
          </a:xfrm>
          <a:prstGeom prst="rect">
            <a:avLst/>
          </a:prstGeom>
          <a:noFill/>
        </p:spPr>
        <p:txBody>
          <a:bodyPr wrap="square" rtlCol="0">
            <a:spAutoFit/>
          </a:bodyPr>
          <a:lstStyle/>
          <a:p>
            <a:pPr algn="ctr"/>
            <a:r>
              <a:rPr lang="en-US" sz="1400" noProof="0" dirty="0">
                <a:solidFill>
                  <a:srgbClr val="980602"/>
                </a:solidFill>
              </a:rPr>
              <a:t>Optimal configuration calculation</a:t>
            </a:r>
          </a:p>
        </p:txBody>
      </p:sp>
      <p:sp>
        <p:nvSpPr>
          <p:cNvPr id="17" name="ZoneTexte 16">
            <a:extLst>
              <a:ext uri="{FF2B5EF4-FFF2-40B4-BE49-F238E27FC236}">
                <a16:creationId xmlns:a16="http://schemas.microsoft.com/office/drawing/2014/main" id="{BE799FDA-3AE2-973E-40AD-3BAB78FA8322}"/>
              </a:ext>
            </a:extLst>
          </p:cNvPr>
          <p:cNvSpPr txBox="1"/>
          <p:nvPr/>
        </p:nvSpPr>
        <p:spPr>
          <a:xfrm>
            <a:off x="5158061" y="3465611"/>
            <a:ext cx="1441590" cy="523220"/>
          </a:xfrm>
          <a:prstGeom prst="rect">
            <a:avLst/>
          </a:prstGeom>
          <a:noFill/>
        </p:spPr>
        <p:txBody>
          <a:bodyPr wrap="square" rtlCol="0">
            <a:spAutoFit/>
          </a:bodyPr>
          <a:lstStyle/>
          <a:p>
            <a:pPr algn="ctr"/>
            <a:r>
              <a:rPr lang="en-US" sz="1400" noProof="0" dirty="0">
                <a:solidFill>
                  <a:srgbClr val="980602"/>
                </a:solidFill>
              </a:rPr>
              <a:t>Intelligent parallelization</a:t>
            </a:r>
          </a:p>
        </p:txBody>
      </p:sp>
      <p:sp>
        <p:nvSpPr>
          <p:cNvPr id="18" name="ZoneTexte 17">
            <a:extLst>
              <a:ext uri="{FF2B5EF4-FFF2-40B4-BE49-F238E27FC236}">
                <a16:creationId xmlns:a16="http://schemas.microsoft.com/office/drawing/2014/main" id="{C2196483-5A40-4CCA-A43B-65A2CA1E835D}"/>
              </a:ext>
            </a:extLst>
          </p:cNvPr>
          <p:cNvSpPr txBox="1"/>
          <p:nvPr/>
        </p:nvSpPr>
        <p:spPr>
          <a:xfrm>
            <a:off x="7928833" y="2406776"/>
            <a:ext cx="1441590" cy="523220"/>
          </a:xfrm>
          <a:prstGeom prst="rect">
            <a:avLst/>
          </a:prstGeom>
          <a:noFill/>
        </p:spPr>
        <p:txBody>
          <a:bodyPr wrap="square" rtlCol="0">
            <a:spAutoFit/>
          </a:bodyPr>
          <a:lstStyle/>
          <a:p>
            <a:pPr algn="ctr"/>
            <a:r>
              <a:rPr lang="en-US" sz="1400" noProof="0" dirty="0">
                <a:solidFill>
                  <a:srgbClr val="980602"/>
                </a:solidFill>
              </a:rPr>
              <a:t>Slot strengthening</a:t>
            </a:r>
          </a:p>
        </p:txBody>
      </p:sp>
      <p:sp>
        <p:nvSpPr>
          <p:cNvPr id="19" name="ZoneTexte 18">
            <a:extLst>
              <a:ext uri="{FF2B5EF4-FFF2-40B4-BE49-F238E27FC236}">
                <a16:creationId xmlns:a16="http://schemas.microsoft.com/office/drawing/2014/main" id="{4668D264-7A37-7D09-06A0-F3D73B722D6D}"/>
              </a:ext>
            </a:extLst>
          </p:cNvPr>
          <p:cNvSpPr txBox="1"/>
          <p:nvPr/>
        </p:nvSpPr>
        <p:spPr>
          <a:xfrm>
            <a:off x="7928833" y="3465611"/>
            <a:ext cx="1441590" cy="523220"/>
          </a:xfrm>
          <a:prstGeom prst="rect">
            <a:avLst/>
          </a:prstGeom>
          <a:noFill/>
        </p:spPr>
        <p:txBody>
          <a:bodyPr wrap="square" rtlCol="0">
            <a:spAutoFit/>
          </a:bodyPr>
          <a:lstStyle/>
          <a:p>
            <a:pPr algn="ctr"/>
            <a:r>
              <a:rPr lang="en-US" sz="1400" noProof="0" dirty="0">
                <a:solidFill>
                  <a:srgbClr val="980602"/>
                </a:solidFill>
              </a:rPr>
              <a:t>Queue management</a:t>
            </a:r>
          </a:p>
        </p:txBody>
      </p:sp>
      <p:sp>
        <p:nvSpPr>
          <p:cNvPr id="20" name="ZoneTexte 19">
            <a:extLst>
              <a:ext uri="{FF2B5EF4-FFF2-40B4-BE49-F238E27FC236}">
                <a16:creationId xmlns:a16="http://schemas.microsoft.com/office/drawing/2014/main" id="{D28CD82E-877A-C9D3-1820-7DFD78C96F88}"/>
              </a:ext>
            </a:extLst>
          </p:cNvPr>
          <p:cNvSpPr txBox="1"/>
          <p:nvPr/>
        </p:nvSpPr>
        <p:spPr>
          <a:xfrm>
            <a:off x="975116" y="5076098"/>
            <a:ext cx="7370231" cy="307777"/>
          </a:xfrm>
          <a:prstGeom prst="rect">
            <a:avLst/>
          </a:prstGeom>
          <a:noFill/>
        </p:spPr>
        <p:txBody>
          <a:bodyPr wrap="square" rtlCol="0">
            <a:spAutoFit/>
          </a:bodyPr>
          <a:lstStyle/>
          <a:p>
            <a:r>
              <a:rPr lang="en-US" sz="1400" noProof="0" dirty="0"/>
              <a:t>Keeping the auto-emailing in case of repeated errors </a:t>
            </a:r>
          </a:p>
        </p:txBody>
      </p:sp>
      <p:pic>
        <p:nvPicPr>
          <p:cNvPr id="22" name="Graphique 21" descr="Enveloppe avec un remplissage uni">
            <a:extLst>
              <a:ext uri="{FF2B5EF4-FFF2-40B4-BE49-F238E27FC236}">
                <a16:creationId xmlns:a16="http://schemas.microsoft.com/office/drawing/2014/main" id="{05F7481A-CB8B-ADB4-86CE-81C55A3D812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76765" y="4961589"/>
            <a:ext cx="598351" cy="598351"/>
          </a:xfrm>
          <a:prstGeom prst="rect">
            <a:avLst/>
          </a:prstGeom>
        </p:spPr>
      </p:pic>
    </p:spTree>
    <p:extLst>
      <p:ext uri="{BB962C8B-B14F-4D97-AF65-F5344CB8AC3E}">
        <p14:creationId xmlns:p14="http://schemas.microsoft.com/office/powerpoint/2010/main" val="32303009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7649B34-7DA9-E690-054D-3B6AD1DB0779}"/>
            </a:ext>
          </a:extLst>
        </p:cNvPr>
        <p:cNvGrpSpPr/>
        <p:nvPr/>
      </p:nvGrpSpPr>
      <p:grpSpPr>
        <a:xfrm>
          <a:off x="0" y="0"/>
          <a:ext cx="0" cy="0"/>
          <a:chOff x="0" y="0"/>
          <a:chExt cx="0" cy="0"/>
        </a:xfrm>
      </p:grpSpPr>
      <p:sp>
        <p:nvSpPr>
          <p:cNvPr id="161" name="Rectangle 160">
            <a:extLst>
              <a:ext uri="{FF2B5EF4-FFF2-40B4-BE49-F238E27FC236}">
                <a16:creationId xmlns:a16="http://schemas.microsoft.com/office/drawing/2014/main" id="{B2FDD9F0-6A3B-0A2B-5CD3-86290DE476F1}"/>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Planning</a:t>
            </a:r>
            <a:endParaRPr lang="en-US" sz="2000" b="0" u="none" strike="noStrike" noProof="0" dirty="0">
              <a:solidFill>
                <a:srgbClr val="000000"/>
              </a:solidFill>
              <a:effectLst/>
              <a:uFillTx/>
              <a:latin typeface="Arial"/>
            </a:endParaRPr>
          </a:p>
        </p:txBody>
      </p:sp>
      <p:sp>
        <p:nvSpPr>
          <p:cNvPr id="2" name="Espace réservé du numéro de diapositive 3">
            <a:extLst>
              <a:ext uri="{FF2B5EF4-FFF2-40B4-BE49-F238E27FC236}">
                <a16:creationId xmlns:a16="http://schemas.microsoft.com/office/drawing/2014/main" id="{AF24C0AE-2257-3133-01CF-A43E9F8BA561}"/>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19</a:t>
            </a:fld>
            <a:endParaRPr lang="en-US" sz="1200" noProof="0" dirty="0"/>
          </a:p>
        </p:txBody>
      </p:sp>
      <p:sp>
        <p:nvSpPr>
          <p:cNvPr id="3" name="ZoneTexte 2">
            <a:extLst>
              <a:ext uri="{FF2B5EF4-FFF2-40B4-BE49-F238E27FC236}">
                <a16:creationId xmlns:a16="http://schemas.microsoft.com/office/drawing/2014/main" id="{93AF7D73-8B42-F186-DEC8-EE7CC79F2D2D}"/>
              </a:ext>
            </a:extLst>
          </p:cNvPr>
          <p:cNvSpPr txBox="1"/>
          <p:nvPr/>
        </p:nvSpPr>
        <p:spPr>
          <a:xfrm>
            <a:off x="292658" y="373579"/>
            <a:ext cx="5091344" cy="369332"/>
          </a:xfrm>
          <a:prstGeom prst="rect">
            <a:avLst/>
          </a:prstGeom>
          <a:noFill/>
        </p:spPr>
        <p:txBody>
          <a:bodyPr wrap="square">
            <a:spAutoFit/>
          </a:bodyPr>
          <a:lstStyle/>
          <a:p>
            <a:r>
              <a:rPr lang="en-US" noProof="0" dirty="0"/>
              <a:t>Benefits &amp; Impact</a:t>
            </a:r>
          </a:p>
        </p:txBody>
      </p:sp>
      <p:sp>
        <p:nvSpPr>
          <p:cNvPr id="5" name="Rectangle 4">
            <a:extLst>
              <a:ext uri="{FF2B5EF4-FFF2-40B4-BE49-F238E27FC236}">
                <a16:creationId xmlns:a16="http://schemas.microsoft.com/office/drawing/2014/main" id="{95E0CFBB-7508-6157-DA48-3ABDFCBF3F93}"/>
              </a:ext>
            </a:extLst>
          </p:cNvPr>
          <p:cNvSpPr/>
          <p:nvPr/>
        </p:nvSpPr>
        <p:spPr>
          <a:xfrm>
            <a:off x="1458409" y="3148314"/>
            <a:ext cx="520860" cy="2046501"/>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tangle 5">
            <a:extLst>
              <a:ext uri="{FF2B5EF4-FFF2-40B4-BE49-F238E27FC236}">
                <a16:creationId xmlns:a16="http://schemas.microsoft.com/office/drawing/2014/main" id="{246BEF4D-D7E0-3D73-4588-8556DA76708C}"/>
              </a:ext>
            </a:extLst>
          </p:cNvPr>
          <p:cNvSpPr/>
          <p:nvPr/>
        </p:nvSpPr>
        <p:spPr>
          <a:xfrm>
            <a:off x="2060291" y="2558005"/>
            <a:ext cx="520860" cy="2636809"/>
          </a:xfrm>
          <a:prstGeom prst="rect">
            <a:avLst/>
          </a:prstGeom>
          <a:solidFill>
            <a:schemeClr val="tx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Rectangle 6">
            <a:extLst>
              <a:ext uri="{FF2B5EF4-FFF2-40B4-BE49-F238E27FC236}">
                <a16:creationId xmlns:a16="http://schemas.microsoft.com/office/drawing/2014/main" id="{69F81770-3DDC-00EB-17E1-7A55CE5A08BB}"/>
              </a:ext>
            </a:extLst>
          </p:cNvPr>
          <p:cNvSpPr/>
          <p:nvPr/>
        </p:nvSpPr>
        <p:spPr>
          <a:xfrm>
            <a:off x="2662173" y="1967696"/>
            <a:ext cx="520860" cy="3227119"/>
          </a:xfrm>
          <a:prstGeom prst="rect">
            <a:avLst/>
          </a:prstGeom>
          <a:solidFill>
            <a:schemeClr val="tx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EF40ABAD-6D45-561B-C036-819252B20C06}"/>
              </a:ext>
            </a:extLst>
          </p:cNvPr>
          <p:cNvSpPr/>
          <p:nvPr/>
        </p:nvSpPr>
        <p:spPr>
          <a:xfrm>
            <a:off x="3264055" y="1261641"/>
            <a:ext cx="520860" cy="3933173"/>
          </a:xfrm>
          <a:prstGeom prst="rect">
            <a:avLst/>
          </a:prstGeom>
          <a:solidFill>
            <a:schemeClr val="tx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EB13A880-E7A7-AC65-063A-556A197729BF}"/>
              </a:ext>
            </a:extLst>
          </p:cNvPr>
          <p:cNvSpPr/>
          <p:nvPr/>
        </p:nvSpPr>
        <p:spPr>
          <a:xfrm>
            <a:off x="5696547" y="3148313"/>
            <a:ext cx="520860" cy="2046501"/>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70D6E215-1EE3-0074-67E7-FB0A9A524E18}"/>
              </a:ext>
            </a:extLst>
          </p:cNvPr>
          <p:cNvSpPr/>
          <p:nvPr/>
        </p:nvSpPr>
        <p:spPr>
          <a:xfrm>
            <a:off x="6298429" y="2558004"/>
            <a:ext cx="520860" cy="2636809"/>
          </a:xfrm>
          <a:prstGeom prst="rect">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725C4524-CA91-BC0F-E88C-34AE3E999FE2}"/>
              </a:ext>
            </a:extLst>
          </p:cNvPr>
          <p:cNvSpPr/>
          <p:nvPr/>
        </p:nvSpPr>
        <p:spPr>
          <a:xfrm>
            <a:off x="6900311" y="1967695"/>
            <a:ext cx="520860" cy="3227119"/>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B4823D6F-D704-7FAB-71D6-A2C04F4D1F95}"/>
              </a:ext>
            </a:extLst>
          </p:cNvPr>
          <p:cNvSpPr/>
          <p:nvPr/>
        </p:nvSpPr>
        <p:spPr>
          <a:xfrm>
            <a:off x="7502193" y="1261640"/>
            <a:ext cx="520860" cy="3933173"/>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ZoneTexte 12">
            <a:extLst>
              <a:ext uri="{FF2B5EF4-FFF2-40B4-BE49-F238E27FC236}">
                <a16:creationId xmlns:a16="http://schemas.microsoft.com/office/drawing/2014/main" id="{10559AC6-C568-3564-7777-1D1AB9B2B196}"/>
              </a:ext>
            </a:extLst>
          </p:cNvPr>
          <p:cNvSpPr txBox="1"/>
          <p:nvPr/>
        </p:nvSpPr>
        <p:spPr>
          <a:xfrm>
            <a:off x="998667" y="1252916"/>
            <a:ext cx="1544012" cy="369332"/>
          </a:xfrm>
          <a:prstGeom prst="rect">
            <a:avLst/>
          </a:prstGeom>
          <a:noFill/>
        </p:spPr>
        <p:txBody>
          <a:bodyPr wrap="none" rtlCol="0">
            <a:spAutoFit/>
          </a:bodyPr>
          <a:lstStyle/>
          <a:p>
            <a:r>
              <a:rPr lang="en-US" noProof="0" dirty="0"/>
              <a:t>For the users</a:t>
            </a:r>
          </a:p>
        </p:txBody>
      </p:sp>
      <p:sp>
        <p:nvSpPr>
          <p:cNvPr id="14" name="ZoneTexte 13">
            <a:extLst>
              <a:ext uri="{FF2B5EF4-FFF2-40B4-BE49-F238E27FC236}">
                <a16:creationId xmlns:a16="http://schemas.microsoft.com/office/drawing/2014/main" id="{2C55968B-1D73-8241-4913-64334D57395A}"/>
              </a:ext>
            </a:extLst>
          </p:cNvPr>
          <p:cNvSpPr txBox="1"/>
          <p:nvPr/>
        </p:nvSpPr>
        <p:spPr>
          <a:xfrm>
            <a:off x="5094893" y="1252916"/>
            <a:ext cx="2326278" cy="369332"/>
          </a:xfrm>
          <a:prstGeom prst="rect">
            <a:avLst/>
          </a:prstGeom>
          <a:noFill/>
        </p:spPr>
        <p:txBody>
          <a:bodyPr wrap="none" rtlCol="0">
            <a:spAutoFit/>
          </a:bodyPr>
          <a:lstStyle/>
          <a:p>
            <a:pPr algn="r"/>
            <a:r>
              <a:rPr lang="en-US" noProof="0" dirty="0"/>
              <a:t>For the infrastructure</a:t>
            </a:r>
          </a:p>
        </p:txBody>
      </p:sp>
      <p:sp>
        <p:nvSpPr>
          <p:cNvPr id="15" name="ZoneTexte 14">
            <a:extLst>
              <a:ext uri="{FF2B5EF4-FFF2-40B4-BE49-F238E27FC236}">
                <a16:creationId xmlns:a16="http://schemas.microsoft.com/office/drawing/2014/main" id="{8D3EBC77-28D6-1E8D-C0CA-E5EC3997573E}"/>
              </a:ext>
            </a:extLst>
          </p:cNvPr>
          <p:cNvSpPr txBox="1"/>
          <p:nvPr/>
        </p:nvSpPr>
        <p:spPr>
          <a:xfrm rot="16200000">
            <a:off x="998129" y="3986897"/>
            <a:ext cx="1441420" cy="369332"/>
          </a:xfrm>
          <a:prstGeom prst="rect">
            <a:avLst/>
          </a:prstGeom>
          <a:noFill/>
        </p:spPr>
        <p:txBody>
          <a:bodyPr wrap="none" rtlCol="0">
            <a:spAutoFit/>
          </a:bodyPr>
          <a:lstStyle/>
          <a:p>
            <a:pPr algn="ctr"/>
            <a:r>
              <a:rPr lang="en-US" noProof="0" dirty="0">
                <a:solidFill>
                  <a:schemeClr val="bg1"/>
                </a:solidFill>
              </a:rPr>
              <a:t>Accessibility</a:t>
            </a:r>
          </a:p>
        </p:txBody>
      </p:sp>
      <p:sp>
        <p:nvSpPr>
          <p:cNvPr id="16" name="ZoneTexte 15">
            <a:extLst>
              <a:ext uri="{FF2B5EF4-FFF2-40B4-BE49-F238E27FC236}">
                <a16:creationId xmlns:a16="http://schemas.microsoft.com/office/drawing/2014/main" id="{158CEECD-EB0C-699A-7652-C165685E35A9}"/>
              </a:ext>
            </a:extLst>
          </p:cNvPr>
          <p:cNvSpPr txBox="1"/>
          <p:nvPr/>
        </p:nvSpPr>
        <p:spPr>
          <a:xfrm rot="16200000">
            <a:off x="5370925" y="3986897"/>
            <a:ext cx="1172117" cy="369332"/>
          </a:xfrm>
          <a:prstGeom prst="rect">
            <a:avLst/>
          </a:prstGeom>
          <a:noFill/>
        </p:spPr>
        <p:txBody>
          <a:bodyPr wrap="none" rtlCol="0">
            <a:spAutoFit/>
          </a:bodyPr>
          <a:lstStyle/>
          <a:p>
            <a:pPr algn="ctr"/>
            <a:r>
              <a:rPr lang="en-US" noProof="0" dirty="0">
                <a:solidFill>
                  <a:schemeClr val="bg1"/>
                </a:solidFill>
              </a:rPr>
              <a:t>Reliability</a:t>
            </a:r>
          </a:p>
        </p:txBody>
      </p:sp>
      <p:sp>
        <p:nvSpPr>
          <p:cNvPr id="17" name="ZoneTexte 16">
            <a:extLst>
              <a:ext uri="{FF2B5EF4-FFF2-40B4-BE49-F238E27FC236}">
                <a16:creationId xmlns:a16="http://schemas.microsoft.com/office/drawing/2014/main" id="{57882DDA-C7BC-C1BD-F678-C7258DE3C072}"/>
              </a:ext>
            </a:extLst>
          </p:cNvPr>
          <p:cNvSpPr txBox="1"/>
          <p:nvPr/>
        </p:nvSpPr>
        <p:spPr>
          <a:xfrm rot="16200000">
            <a:off x="1813692" y="3684357"/>
            <a:ext cx="1014060" cy="369332"/>
          </a:xfrm>
          <a:prstGeom prst="rect">
            <a:avLst/>
          </a:prstGeom>
          <a:noFill/>
        </p:spPr>
        <p:txBody>
          <a:bodyPr wrap="none" rtlCol="0">
            <a:spAutoFit/>
          </a:bodyPr>
          <a:lstStyle/>
          <a:p>
            <a:pPr algn="ctr"/>
            <a:r>
              <a:rPr lang="en-US" noProof="0" dirty="0">
                <a:solidFill>
                  <a:schemeClr val="bg1"/>
                </a:solidFill>
              </a:rPr>
              <a:t>Visibility</a:t>
            </a:r>
          </a:p>
        </p:txBody>
      </p:sp>
      <p:sp>
        <p:nvSpPr>
          <p:cNvPr id="18" name="ZoneTexte 17">
            <a:extLst>
              <a:ext uri="{FF2B5EF4-FFF2-40B4-BE49-F238E27FC236}">
                <a16:creationId xmlns:a16="http://schemas.microsoft.com/office/drawing/2014/main" id="{A8BE5AB7-0A09-D0F6-64BA-32688B31ABC3}"/>
              </a:ext>
            </a:extLst>
          </p:cNvPr>
          <p:cNvSpPr txBox="1"/>
          <p:nvPr/>
        </p:nvSpPr>
        <p:spPr>
          <a:xfrm rot="16200000">
            <a:off x="2261009" y="3391801"/>
            <a:ext cx="1317412" cy="369332"/>
          </a:xfrm>
          <a:prstGeom prst="rect">
            <a:avLst/>
          </a:prstGeom>
          <a:noFill/>
        </p:spPr>
        <p:txBody>
          <a:bodyPr wrap="none" rtlCol="0">
            <a:spAutoFit/>
          </a:bodyPr>
          <a:lstStyle/>
          <a:p>
            <a:pPr algn="ctr"/>
            <a:r>
              <a:rPr lang="en-US" noProof="0" dirty="0"/>
              <a:t>Time saver</a:t>
            </a:r>
          </a:p>
        </p:txBody>
      </p:sp>
      <p:sp>
        <p:nvSpPr>
          <p:cNvPr id="19" name="ZoneTexte 18">
            <a:extLst>
              <a:ext uri="{FF2B5EF4-FFF2-40B4-BE49-F238E27FC236}">
                <a16:creationId xmlns:a16="http://schemas.microsoft.com/office/drawing/2014/main" id="{55F75809-6132-44E8-2EA9-F384A4D06B51}"/>
              </a:ext>
            </a:extLst>
          </p:cNvPr>
          <p:cNvSpPr txBox="1"/>
          <p:nvPr/>
        </p:nvSpPr>
        <p:spPr>
          <a:xfrm rot="16200000">
            <a:off x="3116508" y="2971032"/>
            <a:ext cx="813043" cy="369332"/>
          </a:xfrm>
          <a:prstGeom prst="rect">
            <a:avLst/>
          </a:prstGeom>
          <a:noFill/>
        </p:spPr>
        <p:txBody>
          <a:bodyPr wrap="none" rtlCol="0">
            <a:spAutoFit/>
          </a:bodyPr>
          <a:lstStyle/>
          <a:p>
            <a:pPr algn="ctr"/>
            <a:r>
              <a:rPr lang="en-US" noProof="0" dirty="0"/>
              <a:t>Focus</a:t>
            </a:r>
          </a:p>
        </p:txBody>
      </p:sp>
      <p:sp>
        <p:nvSpPr>
          <p:cNvPr id="20" name="ZoneTexte 19">
            <a:extLst>
              <a:ext uri="{FF2B5EF4-FFF2-40B4-BE49-F238E27FC236}">
                <a16:creationId xmlns:a16="http://schemas.microsoft.com/office/drawing/2014/main" id="{F4303F1D-B974-2106-BB71-FD077F64542E}"/>
              </a:ext>
            </a:extLst>
          </p:cNvPr>
          <p:cNvSpPr txBox="1"/>
          <p:nvPr/>
        </p:nvSpPr>
        <p:spPr>
          <a:xfrm rot="16200000">
            <a:off x="5966391" y="3684357"/>
            <a:ext cx="1184941" cy="369332"/>
          </a:xfrm>
          <a:prstGeom prst="rect">
            <a:avLst/>
          </a:prstGeom>
          <a:noFill/>
        </p:spPr>
        <p:txBody>
          <a:bodyPr wrap="none" rtlCol="0">
            <a:spAutoFit/>
          </a:bodyPr>
          <a:lstStyle/>
          <a:p>
            <a:pPr algn="ctr"/>
            <a:r>
              <a:rPr lang="en-US" noProof="0" dirty="0">
                <a:solidFill>
                  <a:schemeClr val="bg1"/>
                </a:solidFill>
              </a:rPr>
              <a:t>Utilization</a:t>
            </a:r>
          </a:p>
        </p:txBody>
      </p:sp>
      <p:sp>
        <p:nvSpPr>
          <p:cNvPr id="21" name="ZoneTexte 20">
            <a:extLst>
              <a:ext uri="{FF2B5EF4-FFF2-40B4-BE49-F238E27FC236}">
                <a16:creationId xmlns:a16="http://schemas.microsoft.com/office/drawing/2014/main" id="{507147E8-4465-A35A-F348-C9481217EC1E}"/>
              </a:ext>
            </a:extLst>
          </p:cNvPr>
          <p:cNvSpPr txBox="1"/>
          <p:nvPr/>
        </p:nvSpPr>
        <p:spPr>
          <a:xfrm rot="16200000">
            <a:off x="6651629" y="3266186"/>
            <a:ext cx="1018228" cy="369332"/>
          </a:xfrm>
          <a:prstGeom prst="rect">
            <a:avLst/>
          </a:prstGeom>
          <a:noFill/>
        </p:spPr>
        <p:txBody>
          <a:bodyPr wrap="none" rtlCol="0">
            <a:spAutoFit/>
          </a:bodyPr>
          <a:lstStyle/>
          <a:p>
            <a:pPr algn="ctr"/>
            <a:r>
              <a:rPr lang="en-US" noProof="0" dirty="0">
                <a:solidFill>
                  <a:srgbClr val="980602"/>
                </a:solidFill>
              </a:rPr>
              <a:t>Fiablitily</a:t>
            </a:r>
          </a:p>
        </p:txBody>
      </p:sp>
      <p:sp>
        <p:nvSpPr>
          <p:cNvPr id="22" name="ZoneTexte 21">
            <a:extLst>
              <a:ext uri="{FF2B5EF4-FFF2-40B4-BE49-F238E27FC236}">
                <a16:creationId xmlns:a16="http://schemas.microsoft.com/office/drawing/2014/main" id="{3A673283-AB06-8120-C124-5AE1CCC7AC05}"/>
              </a:ext>
            </a:extLst>
          </p:cNvPr>
          <p:cNvSpPr txBox="1"/>
          <p:nvPr/>
        </p:nvSpPr>
        <p:spPr>
          <a:xfrm rot="16200000">
            <a:off x="7146403" y="2963647"/>
            <a:ext cx="1223413" cy="369332"/>
          </a:xfrm>
          <a:prstGeom prst="rect">
            <a:avLst/>
          </a:prstGeom>
          <a:noFill/>
        </p:spPr>
        <p:txBody>
          <a:bodyPr wrap="none" rtlCol="0">
            <a:spAutoFit/>
          </a:bodyPr>
          <a:lstStyle/>
          <a:p>
            <a:pPr algn="ctr"/>
            <a:r>
              <a:rPr lang="en-US" noProof="0" dirty="0">
                <a:solidFill>
                  <a:srgbClr val="980602"/>
                </a:solidFill>
              </a:rPr>
              <a:t>Scalability</a:t>
            </a:r>
          </a:p>
        </p:txBody>
      </p:sp>
    </p:spTree>
    <p:extLst>
      <p:ext uri="{BB962C8B-B14F-4D97-AF65-F5344CB8AC3E}">
        <p14:creationId xmlns:p14="http://schemas.microsoft.com/office/powerpoint/2010/main" val="12374311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FBFAEF7-E718-B06A-99DE-7AB41F64512E}"/>
            </a:ext>
          </a:extLst>
        </p:cNvPr>
        <p:cNvGrpSpPr/>
        <p:nvPr/>
      </p:nvGrpSpPr>
      <p:grpSpPr>
        <a:xfrm>
          <a:off x="0" y="0"/>
          <a:ext cx="0" cy="0"/>
          <a:chOff x="0" y="0"/>
          <a:chExt cx="0" cy="0"/>
        </a:xfrm>
      </p:grpSpPr>
      <p:sp>
        <p:nvSpPr>
          <p:cNvPr id="161" name="Rectangle 160">
            <a:extLst>
              <a:ext uri="{FF2B5EF4-FFF2-40B4-BE49-F238E27FC236}">
                <a16:creationId xmlns:a16="http://schemas.microsoft.com/office/drawing/2014/main" id="{171D68E4-32D1-47C7-5E88-ABC30F12E88B}"/>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Planning</a:t>
            </a:r>
            <a:endParaRPr lang="en-US" sz="2000" b="0" u="none" strike="noStrike" noProof="0" dirty="0">
              <a:solidFill>
                <a:srgbClr val="000000"/>
              </a:solidFill>
              <a:effectLst/>
              <a:uFillTx/>
              <a:latin typeface="Arial"/>
            </a:endParaRPr>
          </a:p>
        </p:txBody>
      </p:sp>
      <p:cxnSp>
        <p:nvCxnSpPr>
          <p:cNvPr id="2" name="Connecteur droit avec flèche 1">
            <a:extLst>
              <a:ext uri="{FF2B5EF4-FFF2-40B4-BE49-F238E27FC236}">
                <a16:creationId xmlns:a16="http://schemas.microsoft.com/office/drawing/2014/main" id="{8AB94962-9EA9-7D17-49D6-3A79C6B7F249}"/>
              </a:ext>
            </a:extLst>
          </p:cNvPr>
          <p:cNvCxnSpPr>
            <a:cxnSpLocks/>
          </p:cNvCxnSpPr>
          <p:nvPr/>
        </p:nvCxnSpPr>
        <p:spPr>
          <a:xfrm>
            <a:off x="995680" y="2835275"/>
            <a:ext cx="8148320" cy="0"/>
          </a:xfrm>
          <a:prstGeom prst="straightConnector1">
            <a:avLst/>
          </a:prstGeom>
          <a:ln w="57150">
            <a:solidFill>
              <a:srgbClr val="980602"/>
            </a:solidFill>
            <a:tailEnd type="triangle"/>
          </a:ln>
        </p:spPr>
        <p:style>
          <a:lnRef idx="2">
            <a:schemeClr val="accent1"/>
          </a:lnRef>
          <a:fillRef idx="0">
            <a:schemeClr val="accent1"/>
          </a:fillRef>
          <a:effectRef idx="1">
            <a:schemeClr val="accent1"/>
          </a:effectRef>
          <a:fontRef idx="minor">
            <a:schemeClr val="tx1"/>
          </a:fontRef>
        </p:style>
      </p:cxnSp>
      <p:sp>
        <p:nvSpPr>
          <p:cNvPr id="5" name="Ellipse 4">
            <a:extLst>
              <a:ext uri="{FF2B5EF4-FFF2-40B4-BE49-F238E27FC236}">
                <a16:creationId xmlns:a16="http://schemas.microsoft.com/office/drawing/2014/main" id="{A1A4355D-0175-DF38-1A2B-75EC77240D1B}"/>
              </a:ext>
            </a:extLst>
          </p:cNvPr>
          <p:cNvSpPr/>
          <p:nvPr/>
        </p:nvSpPr>
        <p:spPr>
          <a:xfrm>
            <a:off x="1655812" y="2075644"/>
            <a:ext cx="1519261" cy="1519261"/>
          </a:xfrm>
          <a:prstGeom prst="ellipse">
            <a:avLst/>
          </a:prstGeom>
          <a:solidFill>
            <a:srgbClr val="F8F8F8"/>
          </a:solid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ZoneTexte 11">
            <a:extLst>
              <a:ext uri="{FF2B5EF4-FFF2-40B4-BE49-F238E27FC236}">
                <a16:creationId xmlns:a16="http://schemas.microsoft.com/office/drawing/2014/main" id="{B1D3050C-F804-4025-0052-9F6302AF44A5}"/>
              </a:ext>
            </a:extLst>
          </p:cNvPr>
          <p:cNvSpPr txBox="1"/>
          <p:nvPr/>
        </p:nvSpPr>
        <p:spPr>
          <a:xfrm>
            <a:off x="995680" y="1337355"/>
            <a:ext cx="2869602" cy="646331"/>
          </a:xfrm>
          <a:prstGeom prst="rect">
            <a:avLst/>
          </a:prstGeom>
          <a:noFill/>
        </p:spPr>
        <p:txBody>
          <a:bodyPr wrap="square">
            <a:spAutoFit/>
          </a:bodyPr>
          <a:lstStyle/>
          <a:p>
            <a:pPr algn="ctr"/>
            <a:r>
              <a:rPr lang="en-US" b="1" noProof="0" dirty="0"/>
              <a:t>Step 1 </a:t>
            </a:r>
          </a:p>
          <a:p>
            <a:pPr algn="ctr"/>
            <a:r>
              <a:rPr lang="en-US" b="1" noProof="0" dirty="0"/>
              <a:t>Core &amp; Interface</a:t>
            </a:r>
            <a:endParaRPr lang="en-US" noProof="0" dirty="0"/>
          </a:p>
        </p:txBody>
      </p:sp>
      <p:sp>
        <p:nvSpPr>
          <p:cNvPr id="13" name="ZoneTexte 12">
            <a:extLst>
              <a:ext uri="{FF2B5EF4-FFF2-40B4-BE49-F238E27FC236}">
                <a16:creationId xmlns:a16="http://schemas.microsoft.com/office/drawing/2014/main" id="{898419F3-32E3-90D1-1E2D-A13652C09264}"/>
              </a:ext>
            </a:extLst>
          </p:cNvPr>
          <p:cNvSpPr txBox="1"/>
          <p:nvPr/>
        </p:nvSpPr>
        <p:spPr>
          <a:xfrm>
            <a:off x="3605508" y="1337354"/>
            <a:ext cx="2869602" cy="646331"/>
          </a:xfrm>
          <a:prstGeom prst="rect">
            <a:avLst/>
          </a:prstGeom>
          <a:noFill/>
        </p:spPr>
        <p:txBody>
          <a:bodyPr wrap="square">
            <a:spAutoFit/>
          </a:bodyPr>
          <a:lstStyle/>
          <a:p>
            <a:pPr algn="ctr"/>
            <a:r>
              <a:rPr lang="en-US" b="1" noProof="0" dirty="0"/>
              <a:t>Step 2 </a:t>
            </a:r>
          </a:p>
          <a:p>
            <a:pPr algn="ctr"/>
            <a:r>
              <a:rPr lang="en-US" b="1" noProof="0" dirty="0"/>
              <a:t>Optimization</a:t>
            </a:r>
            <a:endParaRPr lang="en-US" noProof="0" dirty="0"/>
          </a:p>
        </p:txBody>
      </p:sp>
      <p:sp>
        <p:nvSpPr>
          <p:cNvPr id="14" name="ZoneTexte 13">
            <a:extLst>
              <a:ext uri="{FF2B5EF4-FFF2-40B4-BE49-F238E27FC236}">
                <a16:creationId xmlns:a16="http://schemas.microsoft.com/office/drawing/2014/main" id="{AA7D989D-4563-1852-B35A-8AE3205B6D3E}"/>
              </a:ext>
            </a:extLst>
          </p:cNvPr>
          <p:cNvSpPr txBox="1"/>
          <p:nvPr/>
        </p:nvSpPr>
        <p:spPr>
          <a:xfrm>
            <a:off x="6230377" y="1337354"/>
            <a:ext cx="2869602" cy="646331"/>
          </a:xfrm>
          <a:prstGeom prst="rect">
            <a:avLst/>
          </a:prstGeom>
          <a:noFill/>
        </p:spPr>
        <p:txBody>
          <a:bodyPr wrap="square">
            <a:spAutoFit/>
          </a:bodyPr>
          <a:lstStyle/>
          <a:p>
            <a:pPr algn="ctr"/>
            <a:r>
              <a:rPr lang="en-US" b="1" noProof="0" dirty="0"/>
              <a:t>Step 3 </a:t>
            </a:r>
          </a:p>
          <a:p>
            <a:pPr algn="ctr"/>
            <a:r>
              <a:rPr lang="en-US" b="1" noProof="0" dirty="0"/>
              <a:t>AI</a:t>
            </a:r>
            <a:endParaRPr lang="en-US" noProof="0" dirty="0"/>
          </a:p>
        </p:txBody>
      </p:sp>
      <p:sp>
        <p:nvSpPr>
          <p:cNvPr id="15" name="ZoneTexte 14">
            <a:extLst>
              <a:ext uri="{FF2B5EF4-FFF2-40B4-BE49-F238E27FC236}">
                <a16:creationId xmlns:a16="http://schemas.microsoft.com/office/drawing/2014/main" id="{6CC71CED-3B37-6B16-99AE-A0CE88D9BAD4}"/>
              </a:ext>
            </a:extLst>
          </p:cNvPr>
          <p:cNvSpPr txBox="1"/>
          <p:nvPr/>
        </p:nvSpPr>
        <p:spPr>
          <a:xfrm>
            <a:off x="842187" y="3806691"/>
            <a:ext cx="3141118" cy="646331"/>
          </a:xfrm>
          <a:prstGeom prst="rect">
            <a:avLst/>
          </a:prstGeom>
          <a:noFill/>
        </p:spPr>
        <p:txBody>
          <a:bodyPr wrap="square">
            <a:spAutoFit/>
          </a:bodyPr>
          <a:lstStyle/>
          <a:p>
            <a:pPr algn="ctr"/>
            <a:r>
              <a:rPr lang="en-US" sz="1200" noProof="0" dirty="0"/>
              <a:t>Main orchestration engine</a:t>
            </a:r>
          </a:p>
          <a:p>
            <a:pPr algn="ctr"/>
            <a:r>
              <a:rPr lang="en-US" sz="1200" noProof="0" dirty="0"/>
              <a:t>Real time Dashboard</a:t>
            </a:r>
          </a:p>
          <a:p>
            <a:pPr algn="ctr"/>
            <a:endParaRPr lang="en-US" sz="1200" noProof="0" dirty="0"/>
          </a:p>
        </p:txBody>
      </p:sp>
      <p:sp>
        <p:nvSpPr>
          <p:cNvPr id="16" name="ZoneTexte 15">
            <a:extLst>
              <a:ext uri="{FF2B5EF4-FFF2-40B4-BE49-F238E27FC236}">
                <a16:creationId xmlns:a16="http://schemas.microsoft.com/office/drawing/2014/main" id="{DEB997F5-DE0B-0236-8C39-2E1F2BCF390D}"/>
              </a:ext>
            </a:extLst>
          </p:cNvPr>
          <p:cNvSpPr txBox="1"/>
          <p:nvPr/>
        </p:nvSpPr>
        <p:spPr>
          <a:xfrm>
            <a:off x="6389393" y="3844099"/>
            <a:ext cx="2551570" cy="646331"/>
          </a:xfrm>
          <a:prstGeom prst="rect">
            <a:avLst/>
          </a:prstGeom>
          <a:noFill/>
        </p:spPr>
        <p:txBody>
          <a:bodyPr wrap="square">
            <a:spAutoFit/>
          </a:bodyPr>
          <a:lstStyle/>
          <a:p>
            <a:pPr algn="ctr"/>
            <a:r>
              <a:rPr lang="en-US" sz="1200" noProof="0" dirty="0"/>
              <a:t>Machine Learning</a:t>
            </a:r>
          </a:p>
          <a:p>
            <a:pPr algn="ctr"/>
            <a:r>
              <a:rPr lang="en-US" sz="1200" noProof="0" dirty="0"/>
              <a:t>Pattern Analysis</a:t>
            </a:r>
          </a:p>
          <a:p>
            <a:pPr algn="ctr"/>
            <a:r>
              <a:rPr lang="en-US" sz="1200" noProof="0" dirty="0"/>
              <a:t>Resources Optimization</a:t>
            </a:r>
          </a:p>
        </p:txBody>
      </p:sp>
      <p:sp>
        <p:nvSpPr>
          <p:cNvPr id="17" name="ZoneTexte 16">
            <a:extLst>
              <a:ext uri="{FF2B5EF4-FFF2-40B4-BE49-F238E27FC236}">
                <a16:creationId xmlns:a16="http://schemas.microsoft.com/office/drawing/2014/main" id="{76BE6FD6-361B-228C-3612-D5314EAC68B0}"/>
              </a:ext>
            </a:extLst>
          </p:cNvPr>
          <p:cNvSpPr txBox="1"/>
          <p:nvPr/>
        </p:nvSpPr>
        <p:spPr>
          <a:xfrm>
            <a:off x="3235858" y="3806691"/>
            <a:ext cx="3608902" cy="461665"/>
          </a:xfrm>
          <a:prstGeom prst="rect">
            <a:avLst/>
          </a:prstGeom>
          <a:noFill/>
        </p:spPr>
        <p:txBody>
          <a:bodyPr wrap="square">
            <a:spAutoFit/>
          </a:bodyPr>
          <a:lstStyle/>
          <a:p>
            <a:pPr algn="ctr"/>
            <a:r>
              <a:rPr lang="en-US" sz="1200" noProof="0" dirty="0"/>
              <a:t>Optimization algorithms</a:t>
            </a:r>
          </a:p>
          <a:p>
            <a:pPr algn="ctr"/>
            <a:r>
              <a:rPr lang="en-US" sz="1200" noProof="0" dirty="0"/>
              <a:t>Dependency job grouping</a:t>
            </a:r>
          </a:p>
        </p:txBody>
      </p:sp>
      <p:sp>
        <p:nvSpPr>
          <p:cNvPr id="30" name="Ellipse 29">
            <a:extLst>
              <a:ext uri="{FF2B5EF4-FFF2-40B4-BE49-F238E27FC236}">
                <a16:creationId xmlns:a16="http://schemas.microsoft.com/office/drawing/2014/main" id="{07CB9531-0FEA-FA0A-9175-92FFE4F2C872}"/>
              </a:ext>
            </a:extLst>
          </p:cNvPr>
          <p:cNvSpPr/>
          <p:nvPr/>
        </p:nvSpPr>
        <p:spPr>
          <a:xfrm>
            <a:off x="6905548" y="2075644"/>
            <a:ext cx="1519261" cy="1519261"/>
          </a:xfrm>
          <a:prstGeom prst="ellipse">
            <a:avLst/>
          </a:prstGeom>
          <a:solidFill>
            <a:srgbClr val="F8F8F8"/>
          </a:solid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2" name="Graphique 21" descr="Partie gauche du cerveau avec un remplissage uni">
            <a:extLst>
              <a:ext uri="{FF2B5EF4-FFF2-40B4-BE49-F238E27FC236}">
                <a16:creationId xmlns:a16="http://schemas.microsoft.com/office/drawing/2014/main" id="{B7898073-A9B2-49AD-25E8-AC06CBD1D60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127976" y="2297922"/>
            <a:ext cx="1074404" cy="1074404"/>
          </a:xfrm>
          <a:prstGeom prst="rect">
            <a:avLst/>
          </a:prstGeom>
        </p:spPr>
      </p:pic>
      <p:sp>
        <p:nvSpPr>
          <p:cNvPr id="27" name="Ellipse 26">
            <a:extLst>
              <a:ext uri="{FF2B5EF4-FFF2-40B4-BE49-F238E27FC236}">
                <a16:creationId xmlns:a16="http://schemas.microsoft.com/office/drawing/2014/main" id="{3624119A-0189-9DE4-811E-4E119091B8AB}"/>
              </a:ext>
            </a:extLst>
          </p:cNvPr>
          <p:cNvSpPr/>
          <p:nvPr/>
        </p:nvSpPr>
        <p:spPr>
          <a:xfrm>
            <a:off x="4280680" y="2075644"/>
            <a:ext cx="1519261" cy="1519261"/>
          </a:xfrm>
          <a:prstGeom prst="ellipse">
            <a:avLst/>
          </a:prstGeom>
          <a:solidFill>
            <a:srgbClr val="F8F8F8"/>
          </a:solidFill>
          <a:ln w="57150">
            <a:solidFill>
              <a:srgbClr val="98060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24" name="Graphique 23" descr="Boîte avec un remplissage uni">
            <a:extLst>
              <a:ext uri="{FF2B5EF4-FFF2-40B4-BE49-F238E27FC236}">
                <a16:creationId xmlns:a16="http://schemas.microsoft.com/office/drawing/2014/main" id="{B9062E9E-314D-83B6-1720-89644DD7516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40516" y="2335331"/>
            <a:ext cx="999587" cy="999587"/>
          </a:xfrm>
          <a:prstGeom prst="rect">
            <a:avLst/>
          </a:prstGeom>
        </p:spPr>
      </p:pic>
      <p:pic>
        <p:nvPicPr>
          <p:cNvPr id="26" name="Graphique 25" descr="Interface utilisateur ou expérience utilisateur avec un remplissage uni">
            <a:extLst>
              <a:ext uri="{FF2B5EF4-FFF2-40B4-BE49-F238E27FC236}">
                <a16:creationId xmlns:a16="http://schemas.microsoft.com/office/drawing/2014/main" id="{EDEDED22-1CA4-5737-DEEE-ED9092608A1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41123" y="2363502"/>
            <a:ext cx="943246" cy="943246"/>
          </a:xfrm>
          <a:prstGeom prst="rect">
            <a:avLst/>
          </a:prstGeom>
        </p:spPr>
      </p:pic>
      <p:sp>
        <p:nvSpPr>
          <p:cNvPr id="4" name="Espace réservé du numéro de diapositive 3">
            <a:extLst>
              <a:ext uri="{FF2B5EF4-FFF2-40B4-BE49-F238E27FC236}">
                <a16:creationId xmlns:a16="http://schemas.microsoft.com/office/drawing/2014/main" id="{9ED7962E-EF90-F902-8A70-6D5B0CA69D8E}"/>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20</a:t>
            </a:fld>
            <a:endParaRPr lang="en-US" sz="1200" noProof="0" dirty="0"/>
          </a:p>
        </p:txBody>
      </p:sp>
    </p:spTree>
    <p:extLst>
      <p:ext uri="{BB962C8B-B14F-4D97-AF65-F5344CB8AC3E}">
        <p14:creationId xmlns:p14="http://schemas.microsoft.com/office/powerpoint/2010/main" val="13745490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B43C0F-53C6-B1CD-77AD-4A3C038D8858}"/>
            </a:ext>
          </a:extLst>
        </p:cNvPr>
        <p:cNvGrpSpPr/>
        <p:nvPr/>
      </p:nvGrpSpPr>
      <p:grpSpPr>
        <a:xfrm>
          <a:off x="0" y="0"/>
          <a:ext cx="0" cy="0"/>
          <a:chOff x="0" y="0"/>
          <a:chExt cx="0" cy="0"/>
        </a:xfrm>
      </p:grpSpPr>
      <p:sp>
        <p:nvSpPr>
          <p:cNvPr id="161" name="Rectangle 160">
            <a:extLst>
              <a:ext uri="{FF2B5EF4-FFF2-40B4-BE49-F238E27FC236}">
                <a16:creationId xmlns:a16="http://schemas.microsoft.com/office/drawing/2014/main" id="{B06E0CBC-E69A-3776-AC11-F2A686DFC16F}"/>
              </a:ext>
            </a:extLst>
          </p:cNvPr>
          <p:cNvSpPr/>
          <p:nvPr/>
        </p:nvSpPr>
        <p:spPr>
          <a:xfrm>
            <a:off x="3240" y="-11160"/>
            <a:ext cx="10089720" cy="328320"/>
          </a:xfrm>
          <a:prstGeom prst="rect">
            <a:avLst/>
          </a:prstGeom>
          <a:gradFill rotWithShape="0">
            <a:gsLst>
              <a:gs pos="0">
                <a:srgbClr val="5C0101"/>
              </a:gs>
              <a:gs pos="100000">
                <a:srgbClr val="830202"/>
              </a:gs>
            </a:gsLst>
            <a:lin ang="5400000"/>
          </a:gradFill>
          <a:ln w="0">
            <a:noFill/>
          </a:ln>
          <a:effectLst>
            <a:outerShdw dist="37674" dir="18900000" rotWithShape="0">
              <a:srgbClr val="808080">
                <a:alpha val="40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gn="just">
              <a:lnSpc>
                <a:spcPct val="100000"/>
              </a:lnSpc>
              <a:spcBef>
                <a:spcPts val="74"/>
              </a:spcBef>
              <a:spcAft>
                <a:spcPts val="74"/>
              </a:spcAft>
              <a:tabLst>
                <a:tab pos="0" algn="l"/>
                <a:tab pos="447840" algn="l"/>
                <a:tab pos="896760" algn="l"/>
                <a:tab pos="1346040" algn="l"/>
                <a:tab pos="1795320" algn="l"/>
                <a:tab pos="2244600" algn="l"/>
                <a:tab pos="2693880" algn="l"/>
                <a:tab pos="3143160" algn="l"/>
                <a:tab pos="3592440" algn="l"/>
                <a:tab pos="4041720" algn="l"/>
                <a:tab pos="4491000" algn="l"/>
                <a:tab pos="4940280" algn="l"/>
                <a:tab pos="5389560" algn="l"/>
                <a:tab pos="5838840" algn="l"/>
                <a:tab pos="6288120" algn="l"/>
                <a:tab pos="6737400" algn="l"/>
                <a:tab pos="7186680" algn="l"/>
                <a:tab pos="7635960" algn="l"/>
                <a:tab pos="8085240" algn="l"/>
                <a:tab pos="8534520" algn="l"/>
                <a:tab pos="8983800" algn="l"/>
                <a:tab pos="8985240" algn="l"/>
                <a:tab pos="9434520" algn="l"/>
                <a:tab pos="9883800" algn="l"/>
                <a:tab pos="10333080" algn="l"/>
                <a:tab pos="10782360" algn="l"/>
              </a:tabLst>
            </a:pPr>
            <a:r>
              <a:rPr lang="en-US" sz="2000" b="1" noProof="0" dirty="0">
                <a:solidFill>
                  <a:srgbClr val="FEFFFF"/>
                </a:solidFill>
                <a:latin typeface="Calibri"/>
              </a:rPr>
              <a:t>Conclusion</a:t>
            </a:r>
            <a:endParaRPr lang="en-US" sz="2000" b="0" u="none" strike="noStrike" noProof="0" dirty="0">
              <a:solidFill>
                <a:srgbClr val="000000"/>
              </a:solidFill>
              <a:effectLst/>
              <a:uFillTx/>
              <a:latin typeface="Arial"/>
            </a:endParaRPr>
          </a:p>
        </p:txBody>
      </p:sp>
      <p:sp>
        <p:nvSpPr>
          <p:cNvPr id="2" name="Espace réservé du numéro de diapositive 3">
            <a:extLst>
              <a:ext uri="{FF2B5EF4-FFF2-40B4-BE49-F238E27FC236}">
                <a16:creationId xmlns:a16="http://schemas.microsoft.com/office/drawing/2014/main" id="{6476153F-3526-54F1-6647-BFCCEF772329}"/>
              </a:ext>
            </a:extLst>
          </p:cNvPr>
          <p:cNvSpPr txBox="1">
            <a:spLocks/>
          </p:cNvSpPr>
          <p:nvPr/>
        </p:nvSpPr>
        <p:spPr>
          <a:xfrm>
            <a:off x="7160741" y="5194815"/>
            <a:ext cx="2743200" cy="365125"/>
          </a:xfrm>
          <a:prstGeom prst="rect">
            <a:avLst/>
          </a:prstGeom>
        </p:spPr>
        <p:txBody>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7C6CCC6-2BE5-4E42-96A4-D1E8E81A3D8E}" type="slidenum">
              <a:rPr lang="en-US" sz="1200" noProof="0" smtClean="0"/>
              <a:pPr algn="r"/>
              <a:t>21</a:t>
            </a:fld>
            <a:endParaRPr lang="en-US" sz="1200" noProof="0" dirty="0"/>
          </a:p>
        </p:txBody>
      </p:sp>
      <p:grpSp>
        <p:nvGrpSpPr>
          <p:cNvPr id="6" name="Groupe 5">
            <a:extLst>
              <a:ext uri="{FF2B5EF4-FFF2-40B4-BE49-F238E27FC236}">
                <a16:creationId xmlns:a16="http://schemas.microsoft.com/office/drawing/2014/main" id="{155B0D36-ED7E-1E0E-D8F0-EC2E3D386784}"/>
              </a:ext>
            </a:extLst>
          </p:cNvPr>
          <p:cNvGrpSpPr/>
          <p:nvPr/>
        </p:nvGrpSpPr>
        <p:grpSpPr>
          <a:xfrm>
            <a:off x="3903732" y="565834"/>
            <a:ext cx="2324989" cy="707886"/>
            <a:chOff x="3903732" y="565834"/>
            <a:chExt cx="2324989" cy="707886"/>
          </a:xfrm>
        </p:grpSpPr>
        <p:sp>
          <p:nvSpPr>
            <p:cNvPr id="3" name="ZoneTexte 2">
              <a:extLst>
                <a:ext uri="{FF2B5EF4-FFF2-40B4-BE49-F238E27FC236}">
                  <a16:creationId xmlns:a16="http://schemas.microsoft.com/office/drawing/2014/main" id="{E38A14E0-71A7-DE39-4891-95FC8C0AC04A}"/>
                </a:ext>
              </a:extLst>
            </p:cNvPr>
            <p:cNvSpPr txBox="1"/>
            <p:nvPr/>
          </p:nvSpPr>
          <p:spPr>
            <a:xfrm>
              <a:off x="4260530" y="565834"/>
              <a:ext cx="1968191" cy="707886"/>
            </a:xfrm>
            <a:prstGeom prst="rect">
              <a:avLst/>
            </a:prstGeom>
            <a:noFill/>
          </p:spPr>
          <p:txBody>
            <a:bodyPr wrap="square" rtlCol="0">
              <a:spAutoFit/>
            </a:bodyPr>
            <a:lstStyle/>
            <a:p>
              <a:pPr algn="ctr"/>
              <a:r>
                <a:rPr lang="en-US" sz="4000" noProof="0" dirty="0">
                  <a:latin typeface="Calibri" panose="020F0502020204030204" pitchFamily="34" charset="0"/>
                  <a:ea typeface="Calibri" panose="020F0502020204030204" pitchFamily="34" charset="0"/>
                  <a:cs typeface="Calibri" panose="020F0502020204030204" pitchFamily="34" charset="0"/>
                </a:rPr>
                <a:t>Quark</a:t>
              </a:r>
            </a:p>
          </p:txBody>
        </p:sp>
        <p:pic>
          <p:nvPicPr>
            <p:cNvPr id="4" name="Image 3" descr="Une image contenant cercle, Graphique, Caractère coloré&#10;&#10;Le contenu généré par l’IA peut être incorrect.">
              <a:extLst>
                <a:ext uri="{FF2B5EF4-FFF2-40B4-BE49-F238E27FC236}">
                  <a16:creationId xmlns:a16="http://schemas.microsoft.com/office/drawing/2014/main" id="{A39F1028-6A91-5BA6-E011-BE9EB012B52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03732" y="572594"/>
              <a:ext cx="603580" cy="682537"/>
            </a:xfrm>
            <a:prstGeom prst="rect">
              <a:avLst/>
            </a:prstGeom>
          </p:spPr>
        </p:pic>
      </p:grpSp>
      <p:sp>
        <p:nvSpPr>
          <p:cNvPr id="8" name="ZoneTexte 7">
            <a:extLst>
              <a:ext uri="{FF2B5EF4-FFF2-40B4-BE49-F238E27FC236}">
                <a16:creationId xmlns:a16="http://schemas.microsoft.com/office/drawing/2014/main" id="{BD9B7DA7-8ADF-DAFF-662D-61260558684B}"/>
              </a:ext>
            </a:extLst>
          </p:cNvPr>
          <p:cNvSpPr txBox="1"/>
          <p:nvPr/>
        </p:nvSpPr>
        <p:spPr>
          <a:xfrm>
            <a:off x="1428233" y="1394818"/>
            <a:ext cx="7239733" cy="646331"/>
          </a:xfrm>
          <a:prstGeom prst="rect">
            <a:avLst/>
          </a:prstGeom>
          <a:noFill/>
        </p:spPr>
        <p:txBody>
          <a:bodyPr wrap="square">
            <a:spAutoFit/>
          </a:bodyPr>
          <a:lstStyle/>
          <a:p>
            <a:pPr algn="ctr"/>
            <a:r>
              <a:rPr lang="en-US" b="0" i="0" dirty="0">
                <a:effectLst/>
                <a:latin typeface="Segoe UI Web (West European)"/>
              </a:rPr>
              <a:t>Quark represents a leap forward in modernizing bioinformatics analysis management</a:t>
            </a:r>
            <a:endParaRPr lang="fr-FR" dirty="0"/>
          </a:p>
        </p:txBody>
      </p:sp>
      <p:pic>
        <p:nvPicPr>
          <p:cNvPr id="9" name="Graphique 8" descr="Interface utilisateur ou expérience utilisateur avec un remplissage uni">
            <a:extLst>
              <a:ext uri="{FF2B5EF4-FFF2-40B4-BE49-F238E27FC236}">
                <a16:creationId xmlns:a16="http://schemas.microsoft.com/office/drawing/2014/main" id="{C42F8D21-2C37-D030-CCC9-05EBE24DDF0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253960" y="2413788"/>
            <a:ext cx="943246" cy="943246"/>
          </a:xfrm>
          <a:prstGeom prst="rect">
            <a:avLst/>
          </a:prstGeom>
        </p:spPr>
      </p:pic>
      <p:pic>
        <p:nvPicPr>
          <p:cNvPr id="10" name="Graphique 9" descr="Terminal Cmd avec un remplissage uni">
            <a:extLst>
              <a:ext uri="{FF2B5EF4-FFF2-40B4-BE49-F238E27FC236}">
                <a16:creationId xmlns:a16="http://schemas.microsoft.com/office/drawing/2014/main" id="{39CFA23D-76A2-7280-7096-78FC6068683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71409" y="2428211"/>
            <a:ext cx="914400" cy="914400"/>
          </a:xfrm>
          <a:prstGeom prst="rect">
            <a:avLst/>
          </a:prstGeom>
        </p:spPr>
      </p:pic>
      <p:sp>
        <p:nvSpPr>
          <p:cNvPr id="11" name="Flèche : droite 10">
            <a:extLst>
              <a:ext uri="{FF2B5EF4-FFF2-40B4-BE49-F238E27FC236}">
                <a16:creationId xmlns:a16="http://schemas.microsoft.com/office/drawing/2014/main" id="{1F8ED6C9-E5E1-F2BF-5FC6-B59719066D4A}"/>
              </a:ext>
            </a:extLst>
          </p:cNvPr>
          <p:cNvSpPr/>
          <p:nvPr/>
        </p:nvSpPr>
        <p:spPr>
          <a:xfrm>
            <a:off x="2668557" y="2724159"/>
            <a:ext cx="502654" cy="336926"/>
          </a:xfrm>
          <a:prstGeom prst="rightArrow">
            <a:avLst/>
          </a:prstGeom>
          <a:solidFill>
            <a:srgbClr val="98060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C517E38D-46FF-0CA5-C8DE-FC25D81A99D8}"/>
              </a:ext>
            </a:extLst>
          </p:cNvPr>
          <p:cNvSpPr txBox="1"/>
          <p:nvPr/>
        </p:nvSpPr>
        <p:spPr>
          <a:xfrm>
            <a:off x="1485083" y="4935170"/>
            <a:ext cx="2869602" cy="369332"/>
          </a:xfrm>
          <a:prstGeom prst="rect">
            <a:avLst/>
          </a:prstGeom>
          <a:noFill/>
        </p:spPr>
        <p:txBody>
          <a:bodyPr wrap="square">
            <a:spAutoFit/>
          </a:bodyPr>
          <a:lstStyle/>
          <a:p>
            <a:pPr algn="ctr"/>
            <a:r>
              <a:rPr lang="en-US" b="1" noProof="0" dirty="0">
                <a:solidFill>
                  <a:srgbClr val="980602"/>
                </a:solidFill>
              </a:rPr>
              <a:t>Reliability</a:t>
            </a:r>
          </a:p>
        </p:txBody>
      </p:sp>
      <p:sp>
        <p:nvSpPr>
          <p:cNvPr id="13" name="ZoneTexte 12">
            <a:extLst>
              <a:ext uri="{FF2B5EF4-FFF2-40B4-BE49-F238E27FC236}">
                <a16:creationId xmlns:a16="http://schemas.microsoft.com/office/drawing/2014/main" id="{764CE317-B5D0-3BEB-0795-70EFA11872C4}"/>
              </a:ext>
            </a:extLst>
          </p:cNvPr>
          <p:cNvSpPr txBox="1"/>
          <p:nvPr/>
        </p:nvSpPr>
        <p:spPr>
          <a:xfrm>
            <a:off x="1485083" y="3352667"/>
            <a:ext cx="2869602" cy="369332"/>
          </a:xfrm>
          <a:prstGeom prst="rect">
            <a:avLst/>
          </a:prstGeom>
          <a:noFill/>
        </p:spPr>
        <p:txBody>
          <a:bodyPr wrap="square">
            <a:spAutoFit/>
          </a:bodyPr>
          <a:lstStyle/>
          <a:p>
            <a:pPr algn="ctr"/>
            <a:r>
              <a:rPr lang="en-US" b="1" noProof="0" dirty="0">
                <a:solidFill>
                  <a:srgbClr val="980602"/>
                </a:solidFill>
              </a:rPr>
              <a:t>Operational Efficiency</a:t>
            </a:r>
          </a:p>
        </p:txBody>
      </p:sp>
      <p:pic>
        <p:nvPicPr>
          <p:cNvPr id="15" name="Graphique 14" descr="Poignée de main avec un remplissage uni">
            <a:extLst>
              <a:ext uri="{FF2B5EF4-FFF2-40B4-BE49-F238E27FC236}">
                <a16:creationId xmlns:a16="http://schemas.microsoft.com/office/drawing/2014/main" id="{91825797-7644-4A13-7855-85463117085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462684" y="4025621"/>
            <a:ext cx="914400" cy="914400"/>
          </a:xfrm>
          <a:prstGeom prst="rect">
            <a:avLst/>
          </a:prstGeom>
        </p:spPr>
      </p:pic>
      <p:sp>
        <p:nvSpPr>
          <p:cNvPr id="16" name="ZoneTexte 15">
            <a:extLst>
              <a:ext uri="{FF2B5EF4-FFF2-40B4-BE49-F238E27FC236}">
                <a16:creationId xmlns:a16="http://schemas.microsoft.com/office/drawing/2014/main" id="{43EDC419-0006-D656-C6E4-3317E372BDB9}"/>
              </a:ext>
            </a:extLst>
          </p:cNvPr>
          <p:cNvSpPr txBox="1"/>
          <p:nvPr/>
        </p:nvSpPr>
        <p:spPr>
          <a:xfrm>
            <a:off x="5798364" y="3352667"/>
            <a:ext cx="2869602" cy="369332"/>
          </a:xfrm>
          <a:prstGeom prst="rect">
            <a:avLst/>
          </a:prstGeom>
          <a:noFill/>
        </p:spPr>
        <p:txBody>
          <a:bodyPr wrap="square">
            <a:spAutoFit/>
          </a:bodyPr>
          <a:lstStyle/>
          <a:p>
            <a:pPr algn="ctr"/>
            <a:r>
              <a:rPr lang="en-US" b="1" noProof="0" dirty="0">
                <a:solidFill>
                  <a:srgbClr val="980602"/>
                </a:solidFill>
              </a:rPr>
              <a:t>Focus on dev</a:t>
            </a:r>
          </a:p>
        </p:txBody>
      </p:sp>
      <p:sp>
        <p:nvSpPr>
          <p:cNvPr id="17" name="ZoneTexte 16">
            <a:extLst>
              <a:ext uri="{FF2B5EF4-FFF2-40B4-BE49-F238E27FC236}">
                <a16:creationId xmlns:a16="http://schemas.microsoft.com/office/drawing/2014/main" id="{DC711BC9-A30C-25A4-5BBE-6D827B493824}"/>
              </a:ext>
            </a:extLst>
          </p:cNvPr>
          <p:cNvSpPr txBox="1"/>
          <p:nvPr/>
        </p:nvSpPr>
        <p:spPr>
          <a:xfrm>
            <a:off x="5798364" y="4935170"/>
            <a:ext cx="2869602" cy="369332"/>
          </a:xfrm>
          <a:prstGeom prst="rect">
            <a:avLst/>
          </a:prstGeom>
          <a:noFill/>
        </p:spPr>
        <p:txBody>
          <a:bodyPr wrap="square">
            <a:spAutoFit/>
          </a:bodyPr>
          <a:lstStyle/>
          <a:p>
            <a:pPr algn="ctr"/>
            <a:r>
              <a:rPr lang="en-US" b="1" noProof="0" dirty="0">
                <a:solidFill>
                  <a:srgbClr val="980602"/>
                </a:solidFill>
              </a:rPr>
              <a:t>Scalability</a:t>
            </a:r>
          </a:p>
        </p:txBody>
      </p:sp>
      <p:pic>
        <p:nvPicPr>
          <p:cNvPr id="19" name="Graphique 18" descr="Recherche avec un remplissage uni">
            <a:extLst>
              <a:ext uri="{FF2B5EF4-FFF2-40B4-BE49-F238E27FC236}">
                <a16:creationId xmlns:a16="http://schemas.microsoft.com/office/drawing/2014/main" id="{72681F36-D1A1-5269-1B6A-B004C9C4D9A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775965" y="2426028"/>
            <a:ext cx="914400" cy="914400"/>
          </a:xfrm>
          <a:prstGeom prst="rect">
            <a:avLst/>
          </a:prstGeom>
        </p:spPr>
      </p:pic>
      <p:pic>
        <p:nvPicPr>
          <p:cNvPr id="21" name="Graphique 20" descr="Intelligence artificielle avec un remplissage uni">
            <a:extLst>
              <a:ext uri="{FF2B5EF4-FFF2-40B4-BE49-F238E27FC236}">
                <a16:creationId xmlns:a16="http://schemas.microsoft.com/office/drawing/2014/main" id="{4825F0F8-92BB-EB82-40E5-53CCDA23BDD7}"/>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781290" y="3969020"/>
            <a:ext cx="914400" cy="914400"/>
          </a:xfrm>
          <a:prstGeom prst="rect">
            <a:avLst/>
          </a:prstGeom>
        </p:spPr>
      </p:pic>
    </p:spTree>
    <p:extLst>
      <p:ext uri="{BB962C8B-B14F-4D97-AF65-F5344CB8AC3E}">
        <p14:creationId xmlns:p14="http://schemas.microsoft.com/office/powerpoint/2010/main" val="26478825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38B60469-8D40-5CDB-2CE2-FEAF82D91563}"/>
            </a:ext>
          </a:extLst>
        </p:cNvPr>
        <p:cNvGrpSpPr/>
        <p:nvPr/>
      </p:nvGrpSpPr>
      <p:grpSpPr>
        <a:xfrm>
          <a:off x="0" y="0"/>
          <a:ext cx="0" cy="0"/>
          <a:chOff x="0" y="0"/>
          <a:chExt cx="0" cy="0"/>
        </a:xfrm>
      </p:grpSpPr>
      <p:pic>
        <p:nvPicPr>
          <p:cNvPr id="8" name="Picture 1">
            <a:extLst>
              <a:ext uri="{FF2B5EF4-FFF2-40B4-BE49-F238E27FC236}">
                <a16:creationId xmlns:a16="http://schemas.microsoft.com/office/drawing/2014/main" id="{8DE34F91-9AE7-F119-BA66-97F4FF53ED1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05838" y="3856038"/>
            <a:ext cx="1157287" cy="7207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9" name="AutoShape 2">
            <a:extLst>
              <a:ext uri="{FF2B5EF4-FFF2-40B4-BE49-F238E27FC236}">
                <a16:creationId xmlns:a16="http://schemas.microsoft.com/office/drawing/2014/main" id="{6BFD05BE-B672-67A3-75E9-1C4A93F58B41}"/>
              </a:ext>
            </a:extLst>
          </p:cNvPr>
          <p:cNvSpPr>
            <a:spLocks noChangeArrowheads="1"/>
          </p:cNvSpPr>
          <p:nvPr/>
        </p:nvSpPr>
        <p:spPr bwMode="auto">
          <a:xfrm flipV="1">
            <a:off x="7105650" y="1301750"/>
            <a:ext cx="2881313" cy="2319338"/>
          </a:xfrm>
          <a:prstGeom prst="wedgeRoundRectCallout">
            <a:avLst>
              <a:gd name="adj1" fmla="val -66778"/>
              <a:gd name="adj2" fmla="val 36560"/>
              <a:gd name="adj3" fmla="val 16667"/>
            </a:avLst>
          </a:prstGeom>
          <a:solidFill>
            <a:srgbClr val="DCDCDC"/>
          </a:solidFill>
          <a:ln w="36000" cap="flat">
            <a:solidFill>
              <a:srgbClr val="778899"/>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fr-FR"/>
          </a:p>
        </p:txBody>
      </p:sp>
      <p:pic>
        <p:nvPicPr>
          <p:cNvPr id="13" name="Picture 3">
            <a:extLst>
              <a:ext uri="{FF2B5EF4-FFF2-40B4-BE49-F238E27FC236}">
                <a16:creationId xmlns:a16="http://schemas.microsoft.com/office/drawing/2014/main" id="{94CEFF02-4657-6AF2-B79C-9306EC9A5E1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56625" y="1774825"/>
            <a:ext cx="992188" cy="52228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4" name="Picture 4">
            <a:extLst>
              <a:ext uri="{FF2B5EF4-FFF2-40B4-BE49-F238E27FC236}">
                <a16:creationId xmlns:a16="http://schemas.microsoft.com/office/drawing/2014/main" id="{191AE902-3B2D-8BD2-BA91-98190B08ABD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018463" y="2259013"/>
            <a:ext cx="1871662" cy="10842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15" name="Rectangle 5">
            <a:extLst>
              <a:ext uri="{FF2B5EF4-FFF2-40B4-BE49-F238E27FC236}">
                <a16:creationId xmlns:a16="http://schemas.microsoft.com/office/drawing/2014/main" id="{5D58AE59-409A-4BF9-E4A3-5E79381693AD}"/>
              </a:ext>
            </a:extLst>
          </p:cNvPr>
          <p:cNvSpPr>
            <a:spLocks noChangeArrowheads="1"/>
          </p:cNvSpPr>
          <p:nvPr/>
        </p:nvSpPr>
        <p:spPr bwMode="auto">
          <a:xfrm>
            <a:off x="3749675" y="107950"/>
            <a:ext cx="5703888" cy="700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spAutoFit/>
          </a:bodyPr>
          <a:lstStyle>
            <a:lvl1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1pPr>
            <a:lvl2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5pPr>
            <a:lvl6pPr marL="25146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6pPr>
            <a:lvl7pPr marL="29718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7pPr>
            <a:lvl8pPr marL="34290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8pPr>
            <a:lvl9pPr marL="38862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9pPr>
          </a:lstStyle>
          <a:p>
            <a:pPr algn="ctr">
              <a:lnSpc>
                <a:spcPct val="100000"/>
              </a:lnSpc>
              <a:buClrTx/>
              <a:buFontTx/>
              <a:buNone/>
            </a:pPr>
            <a:r>
              <a:rPr lang="fr-FR" altLang="fr-FR" sz="4000" b="1" dirty="0" err="1">
                <a:solidFill>
                  <a:srgbClr val="B22222"/>
                </a:solidFill>
                <a:latin typeface="Calibri" panose="020F0502020204030204" pitchFamily="34" charset="0"/>
                <a:cs typeface="DejaVu Sans" charset="0"/>
              </a:rPr>
              <a:t>Thanks</a:t>
            </a:r>
            <a:r>
              <a:rPr lang="fr-FR" altLang="fr-FR" sz="4000" b="1" dirty="0">
                <a:solidFill>
                  <a:srgbClr val="B22222"/>
                </a:solidFill>
                <a:latin typeface="Calibri" panose="020F0502020204030204" pitchFamily="34" charset="0"/>
                <a:cs typeface="DejaVu Sans" charset="0"/>
              </a:rPr>
              <a:t> for </a:t>
            </a:r>
            <a:r>
              <a:rPr lang="fr-FR" altLang="fr-FR" sz="4000" b="1" dirty="0" err="1">
                <a:solidFill>
                  <a:srgbClr val="B22222"/>
                </a:solidFill>
                <a:latin typeface="Calibri" panose="020F0502020204030204" pitchFamily="34" charset="0"/>
                <a:cs typeface="DejaVu Sans" charset="0"/>
              </a:rPr>
              <a:t>your</a:t>
            </a:r>
            <a:r>
              <a:rPr lang="fr-FR" altLang="fr-FR" sz="4000" b="1" dirty="0">
                <a:solidFill>
                  <a:srgbClr val="B22222"/>
                </a:solidFill>
                <a:latin typeface="Calibri" panose="020F0502020204030204" pitchFamily="34" charset="0"/>
                <a:cs typeface="DejaVu Sans" charset="0"/>
              </a:rPr>
              <a:t> attention</a:t>
            </a:r>
          </a:p>
        </p:txBody>
      </p:sp>
      <p:pic>
        <p:nvPicPr>
          <p:cNvPr id="16" name="Picture 6">
            <a:extLst>
              <a:ext uri="{FF2B5EF4-FFF2-40B4-BE49-F238E27FC236}">
                <a16:creationId xmlns:a16="http://schemas.microsoft.com/office/drawing/2014/main" id="{EB1CA7F5-4064-B1C3-C122-D0A0B9BFB3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1825" y="5305425"/>
            <a:ext cx="392113" cy="3651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7" name="Picture 7">
            <a:extLst>
              <a:ext uri="{FF2B5EF4-FFF2-40B4-BE49-F238E27FC236}">
                <a16:creationId xmlns:a16="http://schemas.microsoft.com/office/drawing/2014/main" id="{BF8BBAB1-28FE-4A04-B762-F47A907352C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81375" y="5165725"/>
            <a:ext cx="442913" cy="50323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8" name="Picture 8">
            <a:extLst>
              <a:ext uri="{FF2B5EF4-FFF2-40B4-BE49-F238E27FC236}">
                <a16:creationId xmlns:a16="http://schemas.microsoft.com/office/drawing/2014/main" id="{008470EA-405B-1129-3C3F-7BDEAD93DE1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35050" y="5314950"/>
            <a:ext cx="800100" cy="3556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19" name="Picture 9">
            <a:extLst>
              <a:ext uri="{FF2B5EF4-FFF2-40B4-BE49-F238E27FC236}">
                <a16:creationId xmlns:a16="http://schemas.microsoft.com/office/drawing/2014/main" id="{1A7598CE-3B57-6166-B536-E9DE9B0CC66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40713" y="5265738"/>
            <a:ext cx="539750" cy="3444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0" name="Picture 10">
            <a:extLst>
              <a:ext uri="{FF2B5EF4-FFF2-40B4-BE49-F238E27FC236}">
                <a16:creationId xmlns:a16="http://schemas.microsoft.com/office/drawing/2014/main" id="{EC1A8456-73F2-6F74-9B72-BC327608B35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855075" y="5303838"/>
            <a:ext cx="428625" cy="2603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1" name="Picture 11">
            <a:extLst>
              <a:ext uri="{FF2B5EF4-FFF2-40B4-BE49-F238E27FC236}">
                <a16:creationId xmlns:a16="http://schemas.microsoft.com/office/drawing/2014/main" id="{7864FE42-254A-0777-30F8-49571447160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l="39212"/>
          <a:stretch>
            <a:fillRect/>
          </a:stretch>
        </p:blipFill>
        <p:spPr bwMode="auto">
          <a:xfrm>
            <a:off x="3825875" y="5345113"/>
            <a:ext cx="560388" cy="244475"/>
          </a:xfrm>
          <a:prstGeom prst="rect">
            <a:avLst/>
          </a:prstGeom>
          <a:noFill/>
          <a:ln>
            <a:noFill/>
          </a:ln>
          <a:effectLst/>
          <a:extLst>
            <a:ext uri="{909E8E84-426E-40DD-AFC4-6F175D3DCCD1}">
              <a14:hiddenFill xmlns:a14="http://schemas.microsoft.com/office/drawing/2010/main">
                <a:blipFill dpi="0" rotWithShape="0">
                  <a:blip/>
                  <a:srcRect l="39212"/>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2" name="Picture 12">
            <a:extLst>
              <a:ext uri="{FF2B5EF4-FFF2-40B4-BE49-F238E27FC236}">
                <a16:creationId xmlns:a16="http://schemas.microsoft.com/office/drawing/2014/main" id="{443B0F66-406C-3AFF-7704-9EAB58432561}"/>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88163" y="5300663"/>
            <a:ext cx="763587" cy="27305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3" name="Picture 13">
            <a:extLst>
              <a:ext uri="{FF2B5EF4-FFF2-40B4-BE49-F238E27FC236}">
                <a16:creationId xmlns:a16="http://schemas.microsoft.com/office/drawing/2014/main" id="{12B50BD6-5139-B625-7061-D149C46EED4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892675" y="5284788"/>
            <a:ext cx="576263" cy="2968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4" name="Picture 14">
            <a:extLst>
              <a:ext uri="{FF2B5EF4-FFF2-40B4-BE49-F238E27FC236}">
                <a16:creationId xmlns:a16="http://schemas.microsoft.com/office/drawing/2014/main" id="{95C8F529-3EDE-5ED8-F063-7F55EC9009B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47000" y="5341938"/>
            <a:ext cx="450850" cy="28892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5" name="Picture 15">
            <a:extLst>
              <a:ext uri="{FF2B5EF4-FFF2-40B4-BE49-F238E27FC236}">
                <a16:creationId xmlns:a16="http://schemas.microsoft.com/office/drawing/2014/main" id="{1F640256-4100-87CD-E2CD-8C81260552C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321800" y="5302250"/>
            <a:ext cx="382588" cy="3222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6" name="Picture 16">
            <a:extLst>
              <a:ext uri="{FF2B5EF4-FFF2-40B4-BE49-F238E27FC236}">
                <a16:creationId xmlns:a16="http://schemas.microsoft.com/office/drawing/2014/main" id="{6ACC0D21-9093-BE9E-2F04-13C0FC4AAAA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l="14891" r="15428"/>
          <a:stretch>
            <a:fillRect/>
          </a:stretch>
        </p:blipFill>
        <p:spPr bwMode="auto">
          <a:xfrm>
            <a:off x="9686925" y="5238750"/>
            <a:ext cx="381000" cy="431800"/>
          </a:xfrm>
          <a:prstGeom prst="rect">
            <a:avLst/>
          </a:prstGeom>
          <a:noFill/>
          <a:ln>
            <a:noFill/>
          </a:ln>
          <a:effectLst/>
          <a:extLst>
            <a:ext uri="{909E8E84-426E-40DD-AFC4-6F175D3DCCD1}">
              <a14:hiddenFill xmlns:a14="http://schemas.microsoft.com/office/drawing/2010/main">
                <a:blipFill dpi="0" rotWithShape="0">
                  <a:blip/>
                  <a:srcRect l="14891" r="15428"/>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7" name="Picture 17">
            <a:extLst>
              <a:ext uri="{FF2B5EF4-FFF2-40B4-BE49-F238E27FC236}">
                <a16:creationId xmlns:a16="http://schemas.microsoft.com/office/drawing/2014/main" id="{1180FA43-3CCB-A48C-1CC6-BC3F0CC6B36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19750" y="5326063"/>
            <a:ext cx="525463" cy="26828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8" name="Picture 18">
            <a:extLst>
              <a:ext uri="{FF2B5EF4-FFF2-40B4-BE49-F238E27FC236}">
                <a16:creationId xmlns:a16="http://schemas.microsoft.com/office/drawing/2014/main" id="{BBC5A7EF-EB17-FA4E-9604-747D0490D141}"/>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l="6863" t="5002" r="5563"/>
          <a:stretch>
            <a:fillRect/>
          </a:stretch>
        </p:blipFill>
        <p:spPr bwMode="auto">
          <a:xfrm>
            <a:off x="2573338" y="5376863"/>
            <a:ext cx="774700" cy="293687"/>
          </a:xfrm>
          <a:prstGeom prst="rect">
            <a:avLst/>
          </a:prstGeom>
          <a:noFill/>
          <a:ln>
            <a:noFill/>
          </a:ln>
          <a:effectLst/>
          <a:extLst>
            <a:ext uri="{909E8E84-426E-40DD-AFC4-6F175D3DCCD1}">
              <a14:hiddenFill xmlns:a14="http://schemas.microsoft.com/office/drawing/2010/main">
                <a:blipFill dpi="0" rotWithShape="0">
                  <a:blip/>
                  <a:srcRect l="6863" t="5002" r="5563"/>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9" name="Picture 19">
            <a:extLst>
              <a:ext uri="{FF2B5EF4-FFF2-40B4-BE49-F238E27FC236}">
                <a16:creationId xmlns:a16="http://schemas.microsoft.com/office/drawing/2014/main" id="{35C94FDE-2301-94CE-82A6-883D557CBBD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288088" y="5368925"/>
            <a:ext cx="588962" cy="2143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0" name="Picture 20">
            <a:extLst>
              <a:ext uri="{FF2B5EF4-FFF2-40B4-BE49-F238E27FC236}">
                <a16:creationId xmlns:a16="http://schemas.microsoft.com/office/drawing/2014/main" id="{D000E717-6A24-1C11-B8B1-5515E85AAD56}"/>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0" y="5348288"/>
            <a:ext cx="687388" cy="32226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1" name="Picture 21">
            <a:extLst>
              <a:ext uri="{FF2B5EF4-FFF2-40B4-BE49-F238E27FC236}">
                <a16:creationId xmlns:a16="http://schemas.microsoft.com/office/drawing/2014/main" id="{D1852A5F-4CC8-1D25-6A05-43B1BA24D05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16425" y="5275263"/>
            <a:ext cx="298450" cy="2873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2" name="Picture 22">
            <a:extLst>
              <a:ext uri="{FF2B5EF4-FFF2-40B4-BE49-F238E27FC236}">
                <a16:creationId xmlns:a16="http://schemas.microsoft.com/office/drawing/2014/main" id="{B30A0DD9-DE22-DDD2-7507-8B0209F06DC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851025" y="5397500"/>
            <a:ext cx="757238" cy="2714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33" name="Rectangle 23">
            <a:extLst>
              <a:ext uri="{FF2B5EF4-FFF2-40B4-BE49-F238E27FC236}">
                <a16:creationId xmlns:a16="http://schemas.microsoft.com/office/drawing/2014/main" id="{6C34DA1B-5E3E-A027-5438-520CEB8AB17F}"/>
              </a:ext>
            </a:extLst>
          </p:cNvPr>
          <p:cNvSpPr>
            <a:spLocks noChangeArrowheads="1"/>
          </p:cNvSpPr>
          <p:nvPr/>
        </p:nvSpPr>
        <p:spPr bwMode="auto">
          <a:xfrm>
            <a:off x="407988" y="433388"/>
            <a:ext cx="2555875" cy="2133600"/>
          </a:xfrm>
          <a:prstGeom prst="rect">
            <a:avLst/>
          </a:prstGeom>
          <a:solidFill>
            <a:srgbClr val="FFFFFF"/>
          </a:solidFill>
          <a:ln w="36000" cap="flat">
            <a:solidFill>
              <a:srgbClr val="C00000"/>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103320" tIns="58320" rIns="103320" bIns="58320">
            <a:spAutoFit/>
          </a:bodyPr>
          <a:lstStyle>
            <a:lvl1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1pPr>
            <a:lvl2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5pPr>
            <a:lvl6pPr marL="25146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6pPr>
            <a:lvl7pPr marL="29718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7pPr>
            <a:lvl8pPr marL="34290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8pPr>
            <a:lvl9pPr marL="38862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9pPr>
          </a:lstStyle>
          <a:p>
            <a:pPr algn="ctr">
              <a:lnSpc>
                <a:spcPct val="100000"/>
              </a:lnSpc>
              <a:spcBef>
                <a:spcPts val="50"/>
              </a:spcBef>
              <a:spcAft>
                <a:spcPts val="50"/>
              </a:spcAft>
              <a:buClrTx/>
              <a:buFontTx/>
              <a:buNone/>
            </a:pPr>
            <a:r>
              <a:rPr lang="fr-FR" altLang="fr-FR" sz="1600" b="1">
                <a:solidFill>
                  <a:srgbClr val="C00000"/>
                </a:solidFill>
                <a:latin typeface="Calibri" panose="020F0502020204030204" pitchFamily="34" charset="0"/>
                <a:cs typeface="DejaVu Sans" charset="0"/>
              </a:rPr>
              <a:t>Le groupe bioinformatique</a:t>
            </a:r>
          </a:p>
          <a:p>
            <a:pPr algn="ctr">
              <a:lnSpc>
                <a:spcPct val="100000"/>
              </a:lnSpc>
              <a:spcBef>
                <a:spcPts val="50"/>
              </a:spcBef>
              <a:spcAft>
                <a:spcPts val="50"/>
              </a:spcAft>
              <a:buClrTx/>
              <a:buFontTx/>
              <a:buNone/>
            </a:pPr>
            <a:endParaRPr lang="fr-FR" altLang="fr-FR" sz="1000">
              <a:latin typeface="Calibri" panose="020F0502020204030204" pitchFamily="34" charset="0"/>
              <a:cs typeface="DejaVu Sans" charset="0"/>
            </a:endParaRPr>
          </a:p>
          <a:p>
            <a:pPr algn="ctr">
              <a:lnSpc>
                <a:spcPct val="100000"/>
              </a:lnSpc>
              <a:spcBef>
                <a:spcPts val="50"/>
              </a:spcBef>
              <a:spcAft>
                <a:spcPts val="50"/>
              </a:spcAft>
              <a:buClrTx/>
              <a:buFontTx/>
              <a:buNone/>
            </a:pPr>
            <a:r>
              <a:rPr lang="fr-FR" altLang="fr-FR" sz="1000">
                <a:latin typeface="Calibri" panose="020F0502020204030204" pitchFamily="34" charset="0"/>
                <a:cs typeface="DejaVu Sans" charset="0"/>
              </a:rPr>
              <a:t>Yannis Duffourd</a:t>
            </a:r>
          </a:p>
          <a:p>
            <a:pPr algn="ctr">
              <a:lnSpc>
                <a:spcPct val="100000"/>
              </a:lnSpc>
              <a:spcBef>
                <a:spcPts val="50"/>
              </a:spcBef>
              <a:spcAft>
                <a:spcPts val="50"/>
              </a:spcAft>
              <a:buClrTx/>
              <a:buFontTx/>
              <a:buNone/>
            </a:pPr>
            <a:r>
              <a:rPr lang="fr-FR" altLang="fr-FR" sz="1000">
                <a:latin typeface="Calibri" panose="020F0502020204030204" pitchFamily="34" charset="0"/>
                <a:cs typeface="DejaVu Sans" charset="0"/>
              </a:rPr>
              <a:t>Anthony Auclair </a:t>
            </a:r>
          </a:p>
          <a:p>
            <a:pPr algn="ctr">
              <a:lnSpc>
                <a:spcPct val="100000"/>
              </a:lnSpc>
              <a:spcBef>
                <a:spcPts val="50"/>
              </a:spcBef>
              <a:spcAft>
                <a:spcPts val="50"/>
              </a:spcAft>
              <a:buClrTx/>
              <a:buFontTx/>
              <a:buNone/>
            </a:pPr>
            <a:r>
              <a:rPr lang="fr-FR" altLang="fr-FR" sz="1000">
                <a:latin typeface="Calibri" panose="020F0502020204030204" pitchFamily="34" charset="0"/>
                <a:cs typeface="DejaVu Sans" charset="0"/>
              </a:rPr>
              <a:t>Valentin Vautrot</a:t>
            </a:r>
          </a:p>
          <a:p>
            <a:pPr algn="ctr">
              <a:lnSpc>
                <a:spcPct val="100000"/>
              </a:lnSpc>
              <a:spcBef>
                <a:spcPts val="50"/>
              </a:spcBef>
              <a:spcAft>
                <a:spcPts val="50"/>
              </a:spcAft>
              <a:buClrTx/>
              <a:buFontTx/>
              <a:buNone/>
            </a:pPr>
            <a:r>
              <a:rPr lang="fr-FR" altLang="fr-FR" sz="1000">
                <a:latin typeface="Calibri" panose="020F0502020204030204" pitchFamily="34" charset="0"/>
                <a:cs typeface="DejaVu Sans" charset="0"/>
              </a:rPr>
              <a:t>Emilie Tisserant</a:t>
            </a:r>
          </a:p>
          <a:p>
            <a:pPr algn="ctr">
              <a:lnSpc>
                <a:spcPct val="100000"/>
              </a:lnSpc>
              <a:spcBef>
                <a:spcPts val="50"/>
              </a:spcBef>
              <a:spcAft>
                <a:spcPts val="50"/>
              </a:spcAft>
              <a:buClrTx/>
              <a:buFontTx/>
              <a:buNone/>
            </a:pPr>
            <a:r>
              <a:rPr lang="fr-FR" altLang="fr-FR" sz="1000">
                <a:latin typeface="Calibri" panose="020F0502020204030204" pitchFamily="34" charset="0"/>
                <a:cs typeface="DejaVu Sans" charset="0"/>
              </a:rPr>
              <a:t>Anne-Sophie Briffaut </a:t>
            </a:r>
          </a:p>
          <a:p>
            <a:pPr algn="ctr">
              <a:lnSpc>
                <a:spcPct val="100000"/>
              </a:lnSpc>
              <a:spcBef>
                <a:spcPts val="50"/>
              </a:spcBef>
              <a:spcAft>
                <a:spcPts val="50"/>
              </a:spcAft>
              <a:buClrTx/>
              <a:buFontTx/>
              <a:buNone/>
            </a:pPr>
            <a:r>
              <a:rPr lang="fr-FR" altLang="fr-FR" sz="1000">
                <a:latin typeface="Calibri" panose="020F0502020204030204" pitchFamily="34" charset="0"/>
                <a:cs typeface="DejaVu Sans" charset="0"/>
              </a:rPr>
              <a:t>Cyril Fournier </a:t>
            </a:r>
          </a:p>
          <a:p>
            <a:pPr algn="ctr">
              <a:lnSpc>
                <a:spcPct val="100000"/>
              </a:lnSpc>
              <a:spcBef>
                <a:spcPts val="50"/>
              </a:spcBef>
              <a:spcAft>
                <a:spcPts val="50"/>
              </a:spcAft>
              <a:buClrTx/>
              <a:buFontTx/>
              <a:buNone/>
            </a:pPr>
            <a:r>
              <a:rPr lang="fr-FR" altLang="fr-FR" sz="1000">
                <a:latin typeface="Calibri" panose="020F0502020204030204" pitchFamily="34" charset="0"/>
                <a:cs typeface="DejaVu Sans" charset="0"/>
              </a:rPr>
              <a:t>Bastien Ducreux</a:t>
            </a:r>
          </a:p>
          <a:p>
            <a:pPr algn="ctr">
              <a:lnSpc>
                <a:spcPct val="100000"/>
              </a:lnSpc>
              <a:spcBef>
                <a:spcPts val="50"/>
              </a:spcBef>
              <a:spcAft>
                <a:spcPts val="50"/>
              </a:spcAft>
              <a:buClrTx/>
              <a:buFontTx/>
              <a:buNone/>
            </a:pPr>
            <a:r>
              <a:rPr lang="fr-FR" altLang="fr-FR" sz="1000">
                <a:latin typeface="Calibri" panose="020F0502020204030204" pitchFamily="34" charset="0"/>
                <a:cs typeface="DejaVu Sans" charset="0"/>
              </a:rPr>
              <a:t>Théo Serralta</a:t>
            </a:r>
          </a:p>
          <a:p>
            <a:pPr algn="ctr">
              <a:lnSpc>
                <a:spcPct val="100000"/>
              </a:lnSpc>
              <a:spcBef>
                <a:spcPts val="50"/>
              </a:spcBef>
              <a:spcAft>
                <a:spcPts val="50"/>
              </a:spcAft>
              <a:buClrTx/>
              <a:buFontTx/>
              <a:buNone/>
            </a:pPr>
            <a:endParaRPr lang="fr-FR" altLang="fr-FR" sz="1000">
              <a:latin typeface="Calibri" panose="020F0502020204030204" pitchFamily="34" charset="0"/>
              <a:cs typeface="DejaVu Sans" charset="0"/>
            </a:endParaRPr>
          </a:p>
          <a:p>
            <a:pPr algn="ctr">
              <a:lnSpc>
                <a:spcPct val="100000"/>
              </a:lnSpc>
              <a:spcBef>
                <a:spcPts val="50"/>
              </a:spcBef>
              <a:spcAft>
                <a:spcPts val="50"/>
              </a:spcAft>
              <a:buClrTx/>
              <a:buFontTx/>
              <a:buNone/>
            </a:pPr>
            <a:endParaRPr lang="fr-FR" altLang="fr-FR" sz="1000">
              <a:latin typeface="Calibri" panose="020F0502020204030204" pitchFamily="34" charset="0"/>
              <a:cs typeface="DejaVu Sans" charset="0"/>
            </a:endParaRPr>
          </a:p>
        </p:txBody>
      </p:sp>
      <p:grpSp>
        <p:nvGrpSpPr>
          <p:cNvPr id="34" name="Group 24">
            <a:extLst>
              <a:ext uri="{FF2B5EF4-FFF2-40B4-BE49-F238E27FC236}">
                <a16:creationId xmlns:a16="http://schemas.microsoft.com/office/drawing/2014/main" id="{F4C9A8A4-73F9-D854-47D2-2BF77F6DE21C}"/>
              </a:ext>
            </a:extLst>
          </p:cNvPr>
          <p:cNvGrpSpPr>
            <a:grpSpLocks/>
          </p:cNvGrpSpPr>
          <p:nvPr/>
        </p:nvGrpSpPr>
        <p:grpSpPr bwMode="auto">
          <a:xfrm>
            <a:off x="4878388" y="3656013"/>
            <a:ext cx="3000375" cy="1441450"/>
            <a:chOff x="3073" y="2303"/>
            <a:chExt cx="1890" cy="908"/>
          </a:xfrm>
        </p:grpSpPr>
        <p:sp>
          <p:nvSpPr>
            <p:cNvPr id="35" name="AutoShape 25">
              <a:extLst>
                <a:ext uri="{FF2B5EF4-FFF2-40B4-BE49-F238E27FC236}">
                  <a16:creationId xmlns:a16="http://schemas.microsoft.com/office/drawing/2014/main" id="{2EAC1E1E-AD71-76C5-E84D-5F5188FF5A8C}"/>
                </a:ext>
              </a:extLst>
            </p:cNvPr>
            <p:cNvSpPr>
              <a:spLocks noChangeArrowheads="1"/>
            </p:cNvSpPr>
            <p:nvPr/>
          </p:nvSpPr>
          <p:spPr bwMode="auto">
            <a:xfrm flipV="1">
              <a:off x="3073" y="2303"/>
              <a:ext cx="1754" cy="869"/>
            </a:xfrm>
            <a:prstGeom prst="wedgeRoundRectCallout">
              <a:avLst>
                <a:gd name="adj1" fmla="val -13356"/>
                <a:gd name="adj2" fmla="val 113819"/>
                <a:gd name="adj3" fmla="val 16667"/>
              </a:avLst>
            </a:prstGeom>
            <a:solidFill>
              <a:srgbClr val="DCDCDC">
                <a:alpha val="50000"/>
              </a:srgbClr>
            </a:solidFill>
            <a:ln w="36000" cap="flat">
              <a:solidFill>
                <a:srgbClr val="B0C4DE"/>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fr-FR"/>
            </a:p>
          </p:txBody>
        </p:sp>
        <p:sp>
          <p:nvSpPr>
            <p:cNvPr id="36" name="Rectangle 26">
              <a:extLst>
                <a:ext uri="{FF2B5EF4-FFF2-40B4-BE49-F238E27FC236}">
                  <a16:creationId xmlns:a16="http://schemas.microsoft.com/office/drawing/2014/main" id="{C6AB90DC-6489-C63D-B7C7-F42B6587BD31}"/>
                </a:ext>
              </a:extLst>
            </p:cNvPr>
            <p:cNvSpPr>
              <a:spLocks noChangeArrowheads="1"/>
            </p:cNvSpPr>
            <p:nvPr/>
          </p:nvSpPr>
          <p:spPr bwMode="auto">
            <a:xfrm>
              <a:off x="3367" y="2389"/>
              <a:ext cx="1128"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5000" rIns="90000" bIns="45000">
              <a:spAutoFit/>
            </a:bodyPr>
            <a:lstStyle>
              <a:lvl1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1pPr>
              <a:lvl2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5pPr>
              <a:lvl6pPr marL="25146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6pPr>
              <a:lvl7pPr marL="29718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7pPr>
              <a:lvl8pPr marL="34290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8pPr>
              <a:lvl9pPr marL="38862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9pPr>
            </a:lstStyle>
            <a:p>
              <a:pPr>
                <a:lnSpc>
                  <a:spcPct val="100000"/>
                </a:lnSpc>
                <a:spcBef>
                  <a:spcPts val="50"/>
                </a:spcBef>
                <a:spcAft>
                  <a:spcPts val="50"/>
                </a:spcAft>
                <a:buClrTx/>
                <a:buFontTx/>
                <a:buNone/>
              </a:pPr>
              <a:r>
                <a:rPr lang="fr-FR" altLang="fr-FR" sz="1200" b="1" i="1">
                  <a:solidFill>
                    <a:srgbClr val="A40304"/>
                  </a:solidFill>
                  <a:latin typeface="Calibri" panose="020F0502020204030204" pitchFamily="34" charset="0"/>
                  <a:cs typeface="DejaVu Sans" charset="0"/>
                </a:rPr>
                <a:t>https://www.gad-bfc.org</a:t>
              </a:r>
            </a:p>
          </p:txBody>
        </p:sp>
        <p:sp>
          <p:nvSpPr>
            <p:cNvPr id="37" name="Rectangle 27">
              <a:extLst>
                <a:ext uri="{FF2B5EF4-FFF2-40B4-BE49-F238E27FC236}">
                  <a16:creationId xmlns:a16="http://schemas.microsoft.com/office/drawing/2014/main" id="{F4A6EB56-867E-CF84-0BB9-9311BF65E1D2}"/>
                </a:ext>
              </a:extLst>
            </p:cNvPr>
            <p:cNvSpPr>
              <a:spLocks noChangeArrowheads="1"/>
            </p:cNvSpPr>
            <p:nvPr/>
          </p:nvSpPr>
          <p:spPr bwMode="auto">
            <a:xfrm>
              <a:off x="3336" y="2979"/>
              <a:ext cx="1603" cy="2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1pPr>
              <a:lvl2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5pPr>
              <a:lvl6pPr marL="25146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6pPr>
              <a:lvl7pPr marL="29718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7pPr>
              <a:lvl8pPr marL="34290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8pPr>
              <a:lvl9pPr marL="38862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9pPr>
            </a:lstStyle>
            <a:p>
              <a:pPr>
                <a:lnSpc>
                  <a:spcPct val="100000"/>
                </a:lnSpc>
                <a:buClrTx/>
                <a:buFontTx/>
                <a:buNone/>
              </a:pPr>
              <a:r>
                <a:rPr lang="fr-FR" altLang="fr-FR" sz="1000">
                  <a:cs typeface="DejaVu Sans" charset="0"/>
                </a:rPr>
                <a:t>Mail : gad-bioinfo@u-bourgogne.fr</a:t>
              </a:r>
            </a:p>
          </p:txBody>
        </p:sp>
        <p:sp>
          <p:nvSpPr>
            <p:cNvPr id="38" name="Rectangle 28">
              <a:extLst>
                <a:ext uri="{FF2B5EF4-FFF2-40B4-BE49-F238E27FC236}">
                  <a16:creationId xmlns:a16="http://schemas.microsoft.com/office/drawing/2014/main" id="{DEC099BE-8680-4E08-FBED-987AD6CF50C3}"/>
                </a:ext>
              </a:extLst>
            </p:cNvPr>
            <p:cNvSpPr>
              <a:spLocks noChangeArrowheads="1"/>
            </p:cNvSpPr>
            <p:nvPr/>
          </p:nvSpPr>
          <p:spPr bwMode="auto">
            <a:xfrm>
              <a:off x="3263" y="2584"/>
              <a:ext cx="1305" cy="1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0000" tIns="45000" rIns="90000" bIns="45000">
              <a:spAutoFit/>
            </a:bodyPr>
            <a:lstStyle>
              <a:lvl1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1pPr>
              <a:lvl2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5pPr>
              <a:lvl6pPr marL="25146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6pPr>
              <a:lvl7pPr marL="29718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7pPr>
              <a:lvl8pPr marL="34290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8pPr>
              <a:lvl9pPr marL="38862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9pPr>
            </a:lstStyle>
            <a:p>
              <a:pPr>
                <a:lnSpc>
                  <a:spcPct val="100000"/>
                </a:lnSpc>
                <a:spcBef>
                  <a:spcPts val="50"/>
                </a:spcBef>
                <a:spcAft>
                  <a:spcPts val="50"/>
                </a:spcAft>
                <a:buClrTx/>
                <a:buFontTx/>
                <a:buNone/>
              </a:pPr>
              <a:r>
                <a:rPr lang="fr-FR" altLang="fr-FR" sz="1200" b="1" i="1">
                  <a:solidFill>
                    <a:srgbClr val="4169E1"/>
                  </a:solidFill>
                  <a:latin typeface="Calibri" panose="020F0502020204030204" pitchFamily="34" charset="0"/>
                  <a:cs typeface="DejaVu Sans" charset="0"/>
                </a:rPr>
                <a:t>https://gitlab.gad-bioinfo.org</a:t>
              </a:r>
            </a:p>
          </p:txBody>
        </p:sp>
        <p:sp>
          <p:nvSpPr>
            <p:cNvPr id="39" name="Rectangle 29">
              <a:extLst>
                <a:ext uri="{FF2B5EF4-FFF2-40B4-BE49-F238E27FC236}">
                  <a16:creationId xmlns:a16="http://schemas.microsoft.com/office/drawing/2014/main" id="{78252E18-5DB8-67FE-2D09-254755937AC6}"/>
                </a:ext>
              </a:extLst>
            </p:cNvPr>
            <p:cNvSpPr>
              <a:spLocks noChangeArrowheads="1"/>
            </p:cNvSpPr>
            <p:nvPr/>
          </p:nvSpPr>
          <p:spPr bwMode="auto">
            <a:xfrm>
              <a:off x="3191" y="2781"/>
              <a:ext cx="1772"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1pPr>
              <a:lvl2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5pPr>
              <a:lvl6pPr marL="25146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6pPr>
              <a:lvl7pPr marL="29718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7pPr>
              <a:lvl8pPr marL="34290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8pPr>
              <a:lvl9pPr marL="38862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9pPr>
            </a:lstStyle>
            <a:p>
              <a:pPr>
                <a:lnSpc>
                  <a:spcPct val="100000"/>
                </a:lnSpc>
                <a:buClrTx/>
                <a:buFontTx/>
                <a:buNone/>
              </a:pPr>
              <a:r>
                <a:rPr lang="fr-FR" altLang="fr-FR" sz="1200" b="1" i="1">
                  <a:solidFill>
                    <a:srgbClr val="228B22"/>
                  </a:solidFill>
                  <a:latin typeface="Calibri" panose="020F0502020204030204" pitchFamily="34" charset="0"/>
                  <a:cs typeface="DejaVu Sans" charset="0"/>
                </a:rPr>
                <a:t>https://github.com/Gad-Bioinfo-Lab</a:t>
              </a:r>
            </a:p>
          </p:txBody>
        </p:sp>
      </p:grpSp>
      <p:pic>
        <p:nvPicPr>
          <p:cNvPr id="40" name="Picture 30">
            <a:extLst>
              <a:ext uri="{FF2B5EF4-FFF2-40B4-BE49-F238E27FC236}">
                <a16:creationId xmlns:a16="http://schemas.microsoft.com/office/drawing/2014/main" id="{F9D994FD-56A7-472C-041A-874606E5F0B6}"/>
              </a:ext>
            </a:extLst>
          </p:cNvPr>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203700" y="1500188"/>
            <a:ext cx="1974850" cy="10064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1" name="Text Box 31">
            <a:extLst>
              <a:ext uri="{FF2B5EF4-FFF2-40B4-BE49-F238E27FC236}">
                <a16:creationId xmlns:a16="http://schemas.microsoft.com/office/drawing/2014/main" id="{3121D9FE-8A46-8F59-9743-87F9B2FE5056}"/>
              </a:ext>
            </a:extLst>
          </p:cNvPr>
          <p:cNvSpPr txBox="1">
            <a:spLocks noChangeArrowheads="1"/>
          </p:cNvSpPr>
          <p:nvPr/>
        </p:nvSpPr>
        <p:spPr bwMode="auto">
          <a:xfrm>
            <a:off x="5114925" y="2465388"/>
            <a:ext cx="1943100" cy="650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1pPr>
            <a:lvl2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5pPr>
            <a:lvl6pPr marL="25146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6pPr>
            <a:lvl7pPr marL="29718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7pPr>
            <a:lvl8pPr marL="34290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8pPr>
            <a:lvl9pPr marL="38862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9pPr>
          </a:lstStyle>
          <a:p>
            <a:pPr>
              <a:lnSpc>
                <a:spcPct val="100000"/>
              </a:lnSpc>
              <a:buClrTx/>
              <a:buFontTx/>
              <a:buNone/>
            </a:pPr>
            <a:r>
              <a:rPr lang="fr-FR" altLang="fr-FR" sz="1400" i="1">
                <a:latin typeface="Bitstream Charter" pitchFamily="16" charset="0"/>
              </a:rPr>
              <a:t>Contactez nous</a:t>
            </a:r>
          </a:p>
        </p:txBody>
      </p:sp>
      <p:sp>
        <p:nvSpPr>
          <p:cNvPr id="42" name="AutoShape 32">
            <a:extLst>
              <a:ext uri="{FF2B5EF4-FFF2-40B4-BE49-F238E27FC236}">
                <a16:creationId xmlns:a16="http://schemas.microsoft.com/office/drawing/2014/main" id="{16F8962E-CEC8-ED2A-C34C-A7B3AA1013BE}"/>
              </a:ext>
            </a:extLst>
          </p:cNvPr>
          <p:cNvSpPr>
            <a:spLocks noChangeArrowheads="1"/>
          </p:cNvSpPr>
          <p:nvPr/>
        </p:nvSpPr>
        <p:spPr bwMode="auto">
          <a:xfrm flipV="1">
            <a:off x="247650" y="2765425"/>
            <a:ext cx="4522788" cy="2319338"/>
          </a:xfrm>
          <a:prstGeom prst="wedgeRoundRectCallout">
            <a:avLst>
              <a:gd name="adj1" fmla="val 28255"/>
              <a:gd name="adj2" fmla="val 101310"/>
              <a:gd name="adj3" fmla="val 16667"/>
            </a:avLst>
          </a:prstGeom>
          <a:solidFill>
            <a:srgbClr val="DCDCDC"/>
          </a:solidFill>
          <a:ln w="36000" cap="flat">
            <a:solidFill>
              <a:srgbClr val="B22222"/>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fr-FR"/>
          </a:p>
        </p:txBody>
      </p:sp>
      <p:pic>
        <p:nvPicPr>
          <p:cNvPr id="43" name="Picture 33">
            <a:extLst>
              <a:ext uri="{FF2B5EF4-FFF2-40B4-BE49-F238E27FC236}">
                <a16:creationId xmlns:a16="http://schemas.microsoft.com/office/drawing/2014/main" id="{D3F63D3A-967B-AB5E-4E58-1B7AA58DE4A3}"/>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3017838" y="3506788"/>
            <a:ext cx="1382712" cy="642937"/>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4" name="Picture 34">
            <a:extLst>
              <a:ext uri="{FF2B5EF4-FFF2-40B4-BE49-F238E27FC236}">
                <a16:creationId xmlns:a16="http://schemas.microsoft.com/office/drawing/2014/main" id="{7F97ABCC-65A9-F165-0286-B095E5A741C6}"/>
              </a:ext>
            </a:extLst>
          </p:cNvPr>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7467600" y="1504950"/>
            <a:ext cx="1223963" cy="81756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45" name="Picture 35">
            <a:extLst>
              <a:ext uri="{FF2B5EF4-FFF2-40B4-BE49-F238E27FC236}">
                <a16:creationId xmlns:a16="http://schemas.microsoft.com/office/drawing/2014/main" id="{767195D4-9129-31AE-86FB-D588D8F1A135}"/>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t="35095"/>
          <a:stretch>
            <a:fillRect/>
          </a:stretch>
        </p:blipFill>
        <p:spPr bwMode="auto">
          <a:xfrm>
            <a:off x="557213" y="2997200"/>
            <a:ext cx="3975100" cy="1935163"/>
          </a:xfrm>
          <a:prstGeom prst="rect">
            <a:avLst/>
          </a:prstGeom>
          <a:noFill/>
          <a:ln>
            <a:noFill/>
          </a:ln>
          <a:effectLst/>
          <a:extLst>
            <a:ext uri="{909E8E84-426E-40DD-AFC4-6F175D3DCCD1}">
              <a14:hiddenFill xmlns:a14="http://schemas.microsoft.com/office/drawing/2010/main">
                <a:blipFill dpi="0" rotWithShape="0">
                  <a:blip/>
                  <a:srcRect t="35095"/>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6" name="Text Box 36">
            <a:extLst>
              <a:ext uri="{FF2B5EF4-FFF2-40B4-BE49-F238E27FC236}">
                <a16:creationId xmlns:a16="http://schemas.microsoft.com/office/drawing/2014/main" id="{5E6E98A6-F75B-CA10-18E9-80121AAB89AB}"/>
              </a:ext>
            </a:extLst>
          </p:cNvPr>
          <p:cNvSpPr txBox="1">
            <a:spLocks noChangeArrowheads="1"/>
          </p:cNvSpPr>
          <p:nvPr/>
        </p:nvSpPr>
        <p:spPr bwMode="auto">
          <a:xfrm>
            <a:off x="3201988" y="1225550"/>
            <a:ext cx="1943100" cy="650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1pPr>
            <a:lvl2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5pPr>
            <a:lvl6pPr marL="25146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6pPr>
            <a:lvl7pPr marL="29718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7pPr>
            <a:lvl8pPr marL="34290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8pPr>
            <a:lvl9pPr marL="38862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9pPr>
          </a:lstStyle>
          <a:p>
            <a:pPr>
              <a:lnSpc>
                <a:spcPct val="100000"/>
              </a:lnSpc>
              <a:buClrTx/>
              <a:buFontTx/>
              <a:buNone/>
            </a:pPr>
            <a:r>
              <a:rPr lang="fr-FR" altLang="fr-FR" sz="1400" i="1">
                <a:latin typeface="Bitstream Charter" pitchFamily="16" charset="0"/>
              </a:rPr>
              <a:t>Les humains</a:t>
            </a:r>
          </a:p>
        </p:txBody>
      </p:sp>
      <p:pic>
        <p:nvPicPr>
          <p:cNvPr id="47" name="Picture 37">
            <a:extLst>
              <a:ext uri="{FF2B5EF4-FFF2-40B4-BE49-F238E27FC236}">
                <a16:creationId xmlns:a16="http://schemas.microsoft.com/office/drawing/2014/main" id="{900E2A57-800C-B1CF-3868-3112F5B59138}"/>
              </a:ext>
            </a:extLst>
          </p:cNvPr>
          <p:cNvPicPr>
            <a:picLocks noChangeAspect="1" noChangeArrowheads="1"/>
          </p:cNvPicPr>
          <p:nvPr/>
        </p:nvPicPr>
        <p:blipFill>
          <a:blip r:embed="rId26" cstate="print">
            <a:extLst>
              <a:ext uri="{28A0092B-C50C-407E-A947-70E740481C1C}">
                <a14:useLocalDpi xmlns:a14="http://schemas.microsoft.com/office/drawing/2010/main" val="0"/>
              </a:ext>
            </a:extLst>
          </a:blip>
          <a:srcRect/>
          <a:stretch>
            <a:fillRect/>
          </a:stretch>
        </p:blipFill>
        <p:spPr bwMode="auto">
          <a:xfrm>
            <a:off x="7265988" y="2239963"/>
            <a:ext cx="1360487" cy="685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48" name="Text Box 38">
            <a:extLst>
              <a:ext uri="{FF2B5EF4-FFF2-40B4-BE49-F238E27FC236}">
                <a16:creationId xmlns:a16="http://schemas.microsoft.com/office/drawing/2014/main" id="{D0A2C01F-E842-EFF7-5E22-04E637FEF2FE}"/>
              </a:ext>
            </a:extLst>
          </p:cNvPr>
          <p:cNvSpPr txBox="1">
            <a:spLocks noChangeArrowheads="1"/>
          </p:cNvSpPr>
          <p:nvPr/>
        </p:nvSpPr>
        <p:spPr bwMode="auto">
          <a:xfrm>
            <a:off x="5791200" y="1211263"/>
            <a:ext cx="1943100" cy="650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5000" rIns="90000" bIns="45000"/>
          <a:lstStyle>
            <a:lvl1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1pPr>
            <a:lvl2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2pPr>
            <a:lvl3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3pPr>
            <a:lvl4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4pPr>
            <a:lvl5pPr>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5pPr>
            <a:lvl6pPr marL="25146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6pPr>
            <a:lvl7pPr marL="29718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7pPr>
            <a:lvl8pPr marL="34290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8pPr>
            <a:lvl9pPr marL="3886200" indent="-228600" defTabSz="449263" fontAlgn="base" hangingPunct="0">
              <a:lnSpc>
                <a:spcPct val="93000"/>
              </a:lnSpc>
              <a:spcBef>
                <a:spcPts val="25"/>
              </a:spcBef>
              <a:spcAft>
                <a:spcPts val="25"/>
              </a:spcAft>
              <a:buClr>
                <a:srgbClr val="000000"/>
              </a:buClr>
              <a:buSzPct val="100000"/>
              <a:buFont typeface="Times New Roman" panose="02020603050405020304" pitchFamily="18" charset="0"/>
              <a:tabLst>
                <a:tab pos="0" algn="l"/>
                <a:tab pos="449263" algn="l"/>
                <a:tab pos="898525" algn="l"/>
                <a:tab pos="1347788" algn="l"/>
                <a:tab pos="1797050" algn="l"/>
                <a:tab pos="2246313" algn="l"/>
                <a:tab pos="2695575" algn="l"/>
                <a:tab pos="3144838" algn="l"/>
                <a:tab pos="3594100" algn="l"/>
                <a:tab pos="4043363" algn="l"/>
                <a:tab pos="4492625" algn="l"/>
                <a:tab pos="4941888" algn="l"/>
                <a:tab pos="5391150" algn="l"/>
                <a:tab pos="5840413" algn="l"/>
                <a:tab pos="6289675" algn="l"/>
                <a:tab pos="6738938" algn="l"/>
                <a:tab pos="7188200" algn="l"/>
                <a:tab pos="7637463" algn="l"/>
                <a:tab pos="8086725" algn="l"/>
                <a:tab pos="8535988" algn="l"/>
                <a:tab pos="8985250" algn="l"/>
                <a:tab pos="9434513" algn="l"/>
                <a:tab pos="9883775" algn="l"/>
                <a:tab pos="10333038" algn="l"/>
                <a:tab pos="10782300" algn="l"/>
              </a:tabLst>
              <a:defRPr>
                <a:solidFill>
                  <a:srgbClr val="000000"/>
                </a:solidFill>
                <a:latin typeface="Arial" panose="020B0604020202020204" pitchFamily="34" charset="0"/>
                <a:cs typeface="Noto Sans" panose="020B0502040204020203" pitchFamily="34" charset="0"/>
              </a:defRPr>
            </a:lvl9pPr>
          </a:lstStyle>
          <a:p>
            <a:pPr>
              <a:lnSpc>
                <a:spcPct val="100000"/>
              </a:lnSpc>
              <a:buClrTx/>
              <a:buFontTx/>
              <a:buNone/>
            </a:pPr>
            <a:r>
              <a:rPr lang="fr-FR" altLang="fr-FR" sz="1400" i="1">
                <a:latin typeface="Bitstream Charter" pitchFamily="16" charset="0"/>
              </a:rPr>
              <a:t>Les non-humains</a:t>
            </a:r>
          </a:p>
        </p:txBody>
      </p:sp>
      <p:pic>
        <p:nvPicPr>
          <p:cNvPr id="49" name="Picture 39">
            <a:extLst>
              <a:ext uri="{FF2B5EF4-FFF2-40B4-BE49-F238E27FC236}">
                <a16:creationId xmlns:a16="http://schemas.microsoft.com/office/drawing/2014/main" id="{33CB66B4-0683-F8BF-1B97-574DF38BE7B6}"/>
              </a:ext>
            </a:extLst>
          </p:cNvPr>
          <p:cNvPicPr>
            <a:picLocks noChangeAspect="1" noChangeArrowheads="1"/>
          </p:cNvPicPr>
          <p:nvPr/>
        </p:nvPicPr>
        <p:blipFill>
          <a:blip r:embed="rId27" cstate="print">
            <a:extLst>
              <a:ext uri="{28A0092B-C50C-407E-A947-70E740481C1C}">
                <a14:useLocalDpi xmlns:a14="http://schemas.microsoft.com/office/drawing/2010/main" val="0"/>
              </a:ext>
            </a:extLst>
          </a:blip>
          <a:srcRect/>
          <a:stretch>
            <a:fillRect/>
          </a:stretch>
        </p:blipFill>
        <p:spPr bwMode="auto">
          <a:xfrm>
            <a:off x="7466013" y="2857500"/>
            <a:ext cx="811212" cy="544513"/>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0" name="Picture 40">
            <a:extLst>
              <a:ext uri="{FF2B5EF4-FFF2-40B4-BE49-F238E27FC236}">
                <a16:creationId xmlns:a16="http://schemas.microsoft.com/office/drawing/2014/main" id="{A18CD118-C21E-3DC2-AE11-CE06D5AD64AA}"/>
              </a:ext>
            </a:extLst>
          </p:cNvPr>
          <p:cNvPicPr>
            <a:picLocks noChangeAspect="1" noChangeArrowheads="1"/>
          </p:cNvPicPr>
          <p:nvPr/>
        </p:nvPicPr>
        <p:blipFill>
          <a:blip r:embed="rId28" cstate="print">
            <a:extLst>
              <a:ext uri="{28A0092B-C50C-407E-A947-70E740481C1C}">
                <a14:useLocalDpi xmlns:a14="http://schemas.microsoft.com/office/drawing/2010/main" val="0"/>
              </a:ext>
            </a:extLst>
          </a:blip>
          <a:srcRect/>
          <a:stretch>
            <a:fillRect/>
          </a:stretch>
        </p:blipFill>
        <p:spPr bwMode="auto">
          <a:xfrm>
            <a:off x="8621713" y="4456113"/>
            <a:ext cx="1270000" cy="7143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1" name="Picture 41">
            <a:extLst>
              <a:ext uri="{FF2B5EF4-FFF2-40B4-BE49-F238E27FC236}">
                <a16:creationId xmlns:a16="http://schemas.microsoft.com/office/drawing/2014/main" id="{BF3C7DFB-C847-EAE3-3B86-C24E8427B2D3}"/>
              </a:ext>
            </a:extLst>
          </p:cNvPr>
          <p:cNvPicPr>
            <a:picLocks noChangeAspect="1" noChangeArrowheads="1"/>
          </p:cNvPicPr>
          <p:nvPr/>
        </p:nvPicPr>
        <p:blipFill>
          <a:blip r:embed="rId29" cstate="print">
            <a:extLst>
              <a:ext uri="{28A0092B-C50C-407E-A947-70E740481C1C}">
                <a14:useLocalDpi xmlns:a14="http://schemas.microsoft.com/office/drawing/2010/main" val="0"/>
              </a:ext>
            </a:extLst>
          </a:blip>
          <a:srcRect/>
          <a:stretch>
            <a:fillRect/>
          </a:stretch>
        </p:blipFill>
        <p:spPr bwMode="auto">
          <a:xfrm>
            <a:off x="7872413" y="4176713"/>
            <a:ext cx="803275" cy="86201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2" name="Graphique 51">
            <a:extLst>
              <a:ext uri="{FF2B5EF4-FFF2-40B4-BE49-F238E27FC236}">
                <a16:creationId xmlns:a16="http://schemas.microsoft.com/office/drawing/2014/main" id="{332A2715-7E76-BB1D-33EC-34206E42653D}"/>
              </a:ext>
            </a:extLst>
          </p:cNvPr>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3964466" y="3468692"/>
            <a:ext cx="457940" cy="647691"/>
          </a:xfrm>
          <a:prstGeom prst="rect">
            <a:avLst/>
          </a:prstGeom>
        </p:spPr>
      </p:pic>
    </p:spTree>
    <p:extLst>
      <p:ext uri="{BB962C8B-B14F-4D97-AF65-F5344CB8AC3E}">
        <p14:creationId xmlns:p14="http://schemas.microsoft.com/office/powerpoint/2010/main" val="10764524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GAD">
      <a:dk1>
        <a:srgbClr val="004970"/>
      </a:dk1>
      <a:lt1>
        <a:srgbClr val="F8F8F8"/>
      </a:lt1>
      <a:dk2>
        <a:srgbClr val="2C3E50"/>
      </a:dk2>
      <a:lt2>
        <a:srgbClr val="F8F9FA"/>
      </a:lt2>
      <a:accent1>
        <a:srgbClr val="AEC923"/>
      </a:accent1>
      <a:accent2>
        <a:srgbClr val="DB0026"/>
      </a:accent2>
      <a:accent3>
        <a:srgbClr val="7FB3D3"/>
      </a:accent3>
      <a:accent4>
        <a:srgbClr val="D4E157"/>
      </a:accent4>
      <a:accent5>
        <a:srgbClr val="FF6B6B"/>
      </a:accent5>
      <a:accent6>
        <a:srgbClr val="95A5A6"/>
      </a:accent6>
      <a:hlink>
        <a:srgbClr val="AEC923"/>
      </a:hlink>
      <a:folHlink>
        <a:srgbClr val="7A9F1A"/>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6350" cap="flat" cmpd="sng" algn="ctr">
          <a:prstDash val="solid"/>
          <a:miter/>
        </a:ln>
        <a:ln w="12700" cap="flat" cmpd="sng" algn="ctr">
          <a:prstDash val="solid"/>
          <a:miter/>
        </a:ln>
        <a:ln w="1905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GAD">
      <a:dk1>
        <a:srgbClr val="004970"/>
      </a:dk1>
      <a:lt1>
        <a:srgbClr val="F8F8F8"/>
      </a:lt1>
      <a:dk2>
        <a:srgbClr val="2C3E50"/>
      </a:dk2>
      <a:lt2>
        <a:srgbClr val="F8F9FA"/>
      </a:lt2>
      <a:accent1>
        <a:srgbClr val="AEC923"/>
      </a:accent1>
      <a:accent2>
        <a:srgbClr val="DB0026"/>
      </a:accent2>
      <a:accent3>
        <a:srgbClr val="7FB3D3"/>
      </a:accent3>
      <a:accent4>
        <a:srgbClr val="D4E157"/>
      </a:accent4>
      <a:accent5>
        <a:srgbClr val="FF6B6B"/>
      </a:accent5>
      <a:accent6>
        <a:srgbClr val="95A5A6"/>
      </a:accent6>
      <a:hlink>
        <a:srgbClr val="AEC923"/>
      </a:hlink>
      <a:folHlink>
        <a:srgbClr val="7A9F1A"/>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6350" cap="flat" cmpd="sng" algn="ctr">
          <a:prstDash val="solid"/>
          <a:miter/>
        </a:ln>
        <a:ln w="12700" cap="flat" cmpd="sng" algn="ctr">
          <a:prstDash val="solid"/>
          <a:miter/>
        </a:ln>
        <a:ln w="1905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6350" cap="flat" cmpd="sng" algn="ctr">
          <a:prstDash val="solid"/>
          <a:miter/>
        </a:ln>
        <a:ln w="12700" cap="flat" cmpd="sng" algn="ctr">
          <a:prstDash val="solid"/>
          <a:miter/>
        </a:ln>
        <a:ln w="1905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3759</TotalTime>
  <Words>2011</Words>
  <Application>Microsoft Office PowerPoint</Application>
  <PresentationFormat>Personnalisé</PresentationFormat>
  <Paragraphs>407</Paragraphs>
  <Slides>22</Slides>
  <Notes>21</Notes>
  <HiddenSlides>0</HiddenSlides>
  <MMClips>0</MMClips>
  <ScaleCrop>false</ScaleCrop>
  <HeadingPairs>
    <vt:vector size="6" baseType="variant">
      <vt:variant>
        <vt:lpstr>Polices utilisées</vt:lpstr>
      </vt:variant>
      <vt:variant>
        <vt:i4>10</vt:i4>
      </vt:variant>
      <vt:variant>
        <vt:lpstr>Thème</vt:lpstr>
      </vt:variant>
      <vt:variant>
        <vt:i4>3</vt:i4>
      </vt:variant>
      <vt:variant>
        <vt:lpstr>Titres des diapositives</vt:lpstr>
      </vt:variant>
      <vt:variant>
        <vt:i4>22</vt:i4>
      </vt:variant>
    </vt:vector>
  </HeadingPairs>
  <TitlesOfParts>
    <vt:vector size="35" baseType="lpstr">
      <vt:lpstr>Arial</vt:lpstr>
      <vt:lpstr>Bitstream Charter</vt:lpstr>
      <vt:lpstr>Calibri</vt:lpstr>
      <vt:lpstr>DejaVu Sans</vt:lpstr>
      <vt:lpstr>Poppins Light</vt:lpstr>
      <vt:lpstr>Poppins SemiBold</vt:lpstr>
      <vt:lpstr>Segoe UI Web (West European)</vt:lpstr>
      <vt:lpstr>Symbol</vt:lpstr>
      <vt:lpstr>Times New Roman</vt:lpstr>
      <vt:lpstr>Wingdings</vt:lpstr>
      <vt:lpstr>Office Theme</vt:lpstr>
      <vt:lpstr>Office Theme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Yannis Duffourd</dc:creator>
  <dc:description/>
  <cp:lastModifiedBy>DAMIEN Matthieu</cp:lastModifiedBy>
  <cp:revision>140</cp:revision>
  <dcterms:created xsi:type="dcterms:W3CDTF">2019-09-16T11:03:07Z</dcterms:created>
  <dcterms:modified xsi:type="dcterms:W3CDTF">2025-09-23T07:52:06Z</dcterms:modified>
  <dc:language>fr-FR</dc:language>
</cp:coreProperties>
</file>